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715" r:id="rId3"/>
    <p:sldId id="642" r:id="rId4"/>
    <p:sldId id="643" r:id="rId5"/>
    <p:sldId id="318" r:id="rId6"/>
    <p:sldId id="257" r:id="rId7"/>
    <p:sldId id="258" r:id="rId8"/>
    <p:sldId id="259" r:id="rId9"/>
    <p:sldId id="670" r:id="rId10"/>
    <p:sldId id="290" r:id="rId11"/>
    <p:sldId id="295" r:id="rId12"/>
    <p:sldId id="296" r:id="rId13"/>
    <p:sldId id="306" r:id="rId14"/>
    <p:sldId id="324" r:id="rId15"/>
    <p:sldId id="325" r:id="rId16"/>
    <p:sldId id="674" r:id="rId17"/>
    <p:sldId id="675" r:id="rId18"/>
    <p:sldId id="676" r:id="rId19"/>
    <p:sldId id="677" r:id="rId20"/>
    <p:sldId id="678" r:id="rId21"/>
    <p:sldId id="679" r:id="rId22"/>
    <p:sldId id="672" r:id="rId23"/>
    <p:sldId id="680" r:id="rId24"/>
    <p:sldId id="673" r:id="rId25"/>
    <p:sldId id="671" r:id="rId26"/>
    <p:sldId id="684" r:id="rId27"/>
    <p:sldId id="685" r:id="rId28"/>
    <p:sldId id="681" r:id="rId29"/>
    <p:sldId id="321" r:id="rId30"/>
    <p:sldId id="299" r:id="rId31"/>
    <p:sldId id="298" r:id="rId32"/>
    <p:sldId id="319" r:id="rId33"/>
    <p:sldId id="300" r:id="rId34"/>
    <p:sldId id="297" r:id="rId35"/>
    <p:sldId id="305" r:id="rId36"/>
    <p:sldId id="682" r:id="rId37"/>
    <p:sldId id="302" r:id="rId38"/>
    <p:sldId id="308" r:id="rId39"/>
    <p:sldId id="309" r:id="rId40"/>
    <p:sldId id="303" r:id="rId41"/>
    <p:sldId id="304" r:id="rId42"/>
    <p:sldId id="683" r:id="rId43"/>
    <p:sldId id="310" r:id="rId44"/>
    <p:sldId id="315" r:id="rId45"/>
    <p:sldId id="316" r:id="rId46"/>
    <p:sldId id="311" r:id="rId47"/>
    <p:sldId id="312" r:id="rId48"/>
    <p:sldId id="313" r:id="rId49"/>
    <p:sldId id="317" r:id="rId50"/>
    <p:sldId id="279" r:id="rId51"/>
    <p:sldId id="289" r:id="rId52"/>
    <p:sldId id="291" r:id="rId53"/>
    <p:sldId id="292" r:id="rId54"/>
    <p:sldId id="293" r:id="rId55"/>
    <p:sldId id="294" r:id="rId56"/>
    <p:sldId id="307" r:id="rId57"/>
    <p:sldId id="314" r:id="rId58"/>
    <p:sldId id="320" r:id="rId59"/>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60"/>
  </p:normalViewPr>
  <p:slideViewPr>
    <p:cSldViewPr snapToGrid="0" showGuides="1">
      <p:cViewPr varScale="1">
        <p:scale>
          <a:sx n="52" d="100"/>
          <a:sy n="52" d="100"/>
        </p:scale>
        <p:origin x="751" y="41"/>
      </p:cViewPr>
      <p:guideLst>
        <p:guide orient="horz" pos="2160"/>
        <p:guide pos="3840"/>
      </p:guideLst>
    </p:cSldViewPr>
  </p:slideViewPr>
  <p:notesTextViewPr>
    <p:cViewPr>
      <p:scale>
        <a:sx n="1" d="1"/>
        <a:sy n="1" d="1"/>
      </p:scale>
      <p:origin x="0" y="0"/>
    </p:cViewPr>
  </p:notesTextViewPr>
  <p:sorterViewPr>
    <p:cViewPr>
      <p:scale>
        <a:sx n="42" d="100"/>
        <a:sy n="42"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BC031577-5721-4099-A8DD-A5FBA8B6DDB0}" type="datetimeFigureOut">
              <a:rPr lang="en-US" smtClean="0"/>
              <a:t>4/8/2025</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09054BB-462B-4B97-BD91-75B19DEDED3E}" type="slidenum">
              <a:rPr lang="en-US" smtClean="0"/>
              <a:t>‹#›</a:t>
            </a:fld>
            <a:endParaRPr lang="en-US"/>
          </a:p>
        </p:txBody>
      </p:sp>
    </p:spTree>
    <p:extLst>
      <p:ext uri="{BB962C8B-B14F-4D97-AF65-F5344CB8AC3E}">
        <p14:creationId xmlns:p14="http://schemas.microsoft.com/office/powerpoint/2010/main" val="404617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24be3cb2ee_0_1: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24be3cb2ee_0_1: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4be3cb2ee_0_8: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24be3cb2ee_0_8: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24be3cb2ee_0_14:notes"/>
          <p:cNvSpPr>
            <a:spLocks noGrp="1" noRot="1" noChangeAspect="1"/>
          </p:cNvSpPr>
          <p:nvPr>
            <p:ph type="sldImg" idx="2"/>
          </p:nvPr>
        </p:nvSpPr>
        <p:spPr>
          <a:xfrm>
            <a:off x="407988" y="698500"/>
            <a:ext cx="6207125" cy="34909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24be3cb2ee_0_14:notes"/>
          <p:cNvSpPr txBox="1">
            <a:spLocks noGrp="1"/>
          </p:cNvSpPr>
          <p:nvPr>
            <p:ph type="body" idx="1"/>
          </p:nvPr>
        </p:nvSpPr>
        <p:spPr>
          <a:xfrm>
            <a:off x="702310" y="4421823"/>
            <a:ext cx="5618480" cy="4189095"/>
          </a:xfrm>
          <a:prstGeom prst="rect">
            <a:avLst/>
          </a:prstGeom>
        </p:spPr>
        <p:txBody>
          <a:bodyPr spcFirstLastPara="1" wrap="square" lIns="93308" tIns="93308" rIns="93308" bIns="93308" anchor="t" anchorCtr="0">
            <a:noAutofit/>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B00-7547-4792-A81C-25F15AE8A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BED56E-61C4-45EE-9C06-0C24E410FC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B5DD01-1CBE-48E7-9ED9-50BDD8781D75}"/>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BC72D369-EAC0-4F21-9FF0-654FB290C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DB676-CE33-4593-9FFC-8C07CF9A817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215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DF018-18F0-48EA-AD1A-97675E4767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587D3B-E804-47ED-88BB-092661E2F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B4206B-8C25-4360-8A85-7540149DAE75}"/>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AA159549-6165-46A4-8E57-CD47DB442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36106-2642-429E-9D2A-C3084F17328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13159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2011-7EE7-43E0-ABB6-BD75CAD002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D1CF69-B52A-47E0-B418-1DC767AE6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A99CEC-3358-4B09-AFA6-B7DFD07E7FE9}"/>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259970E1-C59E-4CB0-8B28-D0DBB3837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4582-5D85-40DD-B001-F892B2BF4C62}"/>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480315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79FF-74E4-416A-872F-E479E90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4CBD2A-4848-464F-BAB4-FDD9092023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F47ED0-4868-477A-AEC6-293E4B2BA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2858BD-EF64-469E-BD4F-C0CA14FA5151}"/>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6" name="Footer Placeholder 5">
            <a:extLst>
              <a:ext uri="{FF2B5EF4-FFF2-40B4-BE49-F238E27FC236}">
                <a16:creationId xmlns:a16="http://schemas.microsoft.com/office/drawing/2014/main" id="{7E31C73C-EF22-413E-AB01-D74CF168C2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0ED99F-E47E-43D8-8136-36E1F88C8C0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185182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F88D-25DE-4861-8269-BC1AA80804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23F79-4F45-4657-8C11-9C841F08DD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E313-2E2B-4B13-AE00-70A44D169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A1DCF9-02E0-4506-B296-E20DE9D6F3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309B03-61FC-4A65-AA23-8066A570B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01659-2AA1-46ED-BF70-B6F166B133B5}"/>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8" name="Footer Placeholder 7">
            <a:extLst>
              <a:ext uri="{FF2B5EF4-FFF2-40B4-BE49-F238E27FC236}">
                <a16:creationId xmlns:a16="http://schemas.microsoft.com/office/drawing/2014/main" id="{FA688C36-85B9-4ABF-95C4-7DA05DF25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F7281D-E3E3-4A4E-933B-B61F23B6BDAF}"/>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2752455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DA1F-C216-4059-B3F5-50BFC440F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27C02-2773-4132-9354-607C7B922DAC}"/>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4" name="Footer Placeholder 3">
            <a:extLst>
              <a:ext uri="{FF2B5EF4-FFF2-40B4-BE49-F238E27FC236}">
                <a16:creationId xmlns:a16="http://schemas.microsoft.com/office/drawing/2014/main" id="{EB6DC3A1-EC46-4AF5-BC4C-41FEF999F5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A68303-C715-4516-8C17-A64C9A98C61C}"/>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186893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2E674-63DB-4A81-AAC5-A599E8FD2254}"/>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3" name="Footer Placeholder 2">
            <a:extLst>
              <a:ext uri="{FF2B5EF4-FFF2-40B4-BE49-F238E27FC236}">
                <a16:creationId xmlns:a16="http://schemas.microsoft.com/office/drawing/2014/main" id="{BF477E99-16A7-4C07-9B2D-FE6D34DC4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8D8D10-8314-418A-8654-0834BE0B3B3B}"/>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4000548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5FDA-C129-4C48-B32E-0A930D3BB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BC12DC-3A64-4397-8711-82DC608FC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B0F6B9-AB76-4798-BB69-969F32DC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2B619-25C2-471E-983A-7BC75C73A601}"/>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6" name="Footer Placeholder 5">
            <a:extLst>
              <a:ext uri="{FF2B5EF4-FFF2-40B4-BE49-F238E27FC236}">
                <a16:creationId xmlns:a16="http://schemas.microsoft.com/office/drawing/2014/main" id="{B65F96EF-5716-42F8-956A-C69EFEB1F3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E34605-7495-44D4-9DE9-1F2DE3D15449}"/>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90150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345C-3AC3-446F-9A05-71EB8F7B1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59C4F2-8ABE-48F8-BE4C-5C3ECF069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02AB2E-C870-49AB-B857-D8B585EBD2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0B84E9-12A2-4186-8BBC-6E3B5ACD4DE0}"/>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6" name="Footer Placeholder 5">
            <a:extLst>
              <a:ext uri="{FF2B5EF4-FFF2-40B4-BE49-F238E27FC236}">
                <a16:creationId xmlns:a16="http://schemas.microsoft.com/office/drawing/2014/main" id="{7D6CF9BC-B01F-4ACC-B3A1-D543FBE7E6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DE915-3C30-4FE0-9B71-A8B16AA9F3A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37334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B3538-2230-4441-AAE3-B9FA1613D7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644754-BFAA-4BDA-B7FE-0329951EDC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4D930-A630-4BD1-8758-69063986E595}"/>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A7A3E5D0-E650-4BCC-8DA6-FC652DE3B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56A9B5-7809-4F98-AD87-C04741281926}"/>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887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51487-EADC-441E-BE71-59BF59E57A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626D7-10FE-4F5A-9DB5-975D15AFE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B926DC-5B8F-4DD1-AB13-A86948C2E114}"/>
              </a:ext>
            </a:extLst>
          </p:cNvPr>
          <p:cNvSpPr>
            <a:spLocks noGrp="1"/>
          </p:cNvSpPr>
          <p:nvPr>
            <p:ph type="dt" sz="half" idx="10"/>
          </p:nvPr>
        </p:nvSpPr>
        <p:spPr/>
        <p:txBody>
          <a:body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5C3FFB2A-C15B-4027-9424-502EE2E51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C29A2-F86C-4BAC-8D3B-436F2ED60987}"/>
              </a:ext>
            </a:extLst>
          </p:cNvPr>
          <p:cNvSpPr>
            <a:spLocks noGrp="1"/>
          </p:cNvSpPr>
          <p:nvPr>
            <p:ph type="sldNum" sz="quarter" idx="12"/>
          </p:nvPr>
        </p:nvSpPr>
        <p:spPr/>
        <p:txBody>
          <a:bodyPr/>
          <a:lstStyle/>
          <a:p>
            <a:fld id="{DBE49F46-903B-4DEA-A244-FFDEE93D2D96}" type="slidenum">
              <a:rPr lang="en-US" smtClean="0"/>
              <a:t>‹#›</a:t>
            </a:fld>
            <a:endParaRPr lang="en-US"/>
          </a:p>
        </p:txBody>
      </p:sp>
    </p:spTree>
    <p:extLst>
      <p:ext uri="{BB962C8B-B14F-4D97-AF65-F5344CB8AC3E}">
        <p14:creationId xmlns:p14="http://schemas.microsoft.com/office/powerpoint/2010/main" val="63760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4802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26195D-2D55-4550-B834-EA3BAEEE9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5B45E7-9B25-4B24-ADEC-430D33F9D5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1B3896-4739-49B7-9E75-53DF501F6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D5645-23AA-4DCF-893C-4CB75AE73D5B}" type="datetimeFigureOut">
              <a:rPr lang="en-US" smtClean="0"/>
              <a:t>4/8/2025</a:t>
            </a:fld>
            <a:endParaRPr lang="en-US"/>
          </a:p>
        </p:txBody>
      </p:sp>
      <p:sp>
        <p:nvSpPr>
          <p:cNvPr id="5" name="Footer Placeholder 4">
            <a:extLst>
              <a:ext uri="{FF2B5EF4-FFF2-40B4-BE49-F238E27FC236}">
                <a16:creationId xmlns:a16="http://schemas.microsoft.com/office/drawing/2014/main" id="{4FB0AA0A-F9D4-42B4-8028-46DB159B9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E7C39B-6132-4232-B090-D331833644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E49F46-903B-4DEA-A244-FFDEE93D2D96}" type="slidenum">
              <a:rPr lang="en-US" smtClean="0"/>
              <a:t>‹#›</a:t>
            </a:fld>
            <a:endParaRPr lang="en-US"/>
          </a:p>
        </p:txBody>
      </p:sp>
    </p:spTree>
    <p:extLst>
      <p:ext uri="{BB962C8B-B14F-4D97-AF65-F5344CB8AC3E}">
        <p14:creationId xmlns:p14="http://schemas.microsoft.com/office/powerpoint/2010/main" val="52117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n.Brodziak@NOAA.GOV"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IFSCstockassessments/2024-WCNPO-MLS-Rebuilding" TargetMode="External"/><Relationship Id="rId2" Type="http://schemas.openxmlformats.org/officeDocument/2006/relationships/hyperlink" Target="https://drive.google.com/drive/folders/1vNBZWGnTDX9_wl-RByhKqA40jsHUOJC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7337B-71E6-4DDF-B454-86FB8D0BC88B}"/>
              </a:ext>
            </a:extLst>
          </p:cNvPr>
          <p:cNvSpPr>
            <a:spLocks noGrp="1"/>
          </p:cNvSpPr>
          <p:nvPr>
            <p:ph type="ctrTitle"/>
          </p:nvPr>
        </p:nvSpPr>
        <p:spPr/>
        <p:txBody>
          <a:bodyPr>
            <a:normAutofit/>
          </a:bodyPr>
          <a:lstStyle/>
          <a:p>
            <a:r>
              <a:rPr lang="en-US" dirty="0"/>
              <a:t>WCNPO Striped Marlin Rebuilding Scenarios</a:t>
            </a:r>
            <a:br>
              <a:rPr lang="en-US" dirty="0"/>
            </a:br>
            <a:r>
              <a:rPr lang="en-US" sz="4000" dirty="0"/>
              <a:t>Revised Projections for CMM 24-06</a:t>
            </a:r>
            <a:endParaRPr lang="en-US" dirty="0"/>
          </a:p>
        </p:txBody>
      </p:sp>
      <p:sp>
        <p:nvSpPr>
          <p:cNvPr id="6" name="Subtitle 2">
            <a:extLst>
              <a:ext uri="{FF2B5EF4-FFF2-40B4-BE49-F238E27FC236}">
                <a16:creationId xmlns:a16="http://schemas.microsoft.com/office/drawing/2014/main" id="{75D1B080-4A7C-4AB2-8C92-5A61115EE6DC}"/>
              </a:ext>
            </a:extLst>
          </p:cNvPr>
          <p:cNvSpPr txBox="1">
            <a:spLocks/>
          </p:cNvSpPr>
          <p:nvPr/>
        </p:nvSpPr>
        <p:spPr>
          <a:xfrm>
            <a:off x="1697421" y="4421654"/>
            <a:ext cx="9144000" cy="16557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ISC Billfish Working Group</a:t>
            </a:r>
          </a:p>
          <a:p>
            <a:r>
              <a:rPr lang="en-US" dirty="0"/>
              <a:t>Jon Brodziak</a:t>
            </a:r>
          </a:p>
          <a:p>
            <a:r>
              <a:rPr lang="en-US" dirty="0">
                <a:hlinkClick r:id="rId2"/>
              </a:rPr>
              <a:t>Jon.Brodziak@NOAA.GOV</a:t>
            </a:r>
            <a:r>
              <a:rPr lang="en-US" dirty="0"/>
              <a:t> </a:t>
            </a:r>
          </a:p>
          <a:p>
            <a:r>
              <a:rPr lang="en-US" dirty="0"/>
              <a:t>22-April-2025</a:t>
            </a:r>
          </a:p>
        </p:txBody>
      </p:sp>
    </p:spTree>
    <p:extLst>
      <p:ext uri="{BB962C8B-B14F-4D97-AF65-F5344CB8AC3E}">
        <p14:creationId xmlns:p14="http://schemas.microsoft.com/office/powerpoint/2010/main" val="10344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37F0-185D-434E-9081-C2F3E94FF607}"/>
              </a:ext>
            </a:extLst>
          </p:cNvPr>
          <p:cNvSpPr>
            <a:spLocks noGrp="1"/>
          </p:cNvSpPr>
          <p:nvPr>
            <p:ph type="title"/>
          </p:nvPr>
        </p:nvSpPr>
        <p:spPr>
          <a:xfrm>
            <a:off x="762786" y="84841"/>
            <a:ext cx="10515600" cy="879983"/>
          </a:xfrm>
        </p:spPr>
        <p:txBody>
          <a:bodyPr/>
          <a:lstStyle/>
          <a:p>
            <a:r>
              <a:rPr lang="en-US" dirty="0"/>
              <a:t>Open Science for BILLWG</a:t>
            </a:r>
          </a:p>
        </p:txBody>
      </p:sp>
      <p:sp>
        <p:nvSpPr>
          <p:cNvPr id="3" name="Content Placeholder 2">
            <a:extLst>
              <a:ext uri="{FF2B5EF4-FFF2-40B4-BE49-F238E27FC236}">
                <a16:creationId xmlns:a16="http://schemas.microsoft.com/office/drawing/2014/main" id="{E723D5FF-3CCA-41F4-9642-B867467454DA}"/>
              </a:ext>
            </a:extLst>
          </p:cNvPr>
          <p:cNvSpPr>
            <a:spLocks noGrp="1"/>
          </p:cNvSpPr>
          <p:nvPr>
            <p:ph idx="1"/>
          </p:nvPr>
        </p:nvSpPr>
        <p:spPr>
          <a:xfrm>
            <a:off x="0" y="1059366"/>
            <a:ext cx="12192000" cy="5798633"/>
          </a:xfrm>
        </p:spPr>
        <p:txBody>
          <a:bodyPr>
            <a:normAutofit/>
          </a:bodyPr>
          <a:lstStyle/>
          <a:p>
            <a:r>
              <a:rPr lang="en-US" dirty="0"/>
              <a:t>This presentation is on BILLWG google drive at: </a:t>
            </a:r>
            <a:r>
              <a:rPr lang="en-US" dirty="0">
                <a:hlinkClick r:id="rId2"/>
              </a:rPr>
              <a:t>https://drive.google.com/drive/folders/1vNBZWGnTDX9_wl-RByhKqA40jsHUOJCy</a:t>
            </a:r>
            <a:r>
              <a:rPr lang="en-US" dirty="0"/>
              <a:t> </a:t>
            </a:r>
          </a:p>
          <a:p>
            <a:r>
              <a:rPr lang="en-US" dirty="0"/>
              <a:t>To access results, download GitHub repository</a:t>
            </a:r>
          </a:p>
          <a:p>
            <a:pPr marL="0" indent="0">
              <a:buNone/>
            </a:pPr>
            <a:r>
              <a:rPr lang="en-US" dirty="0">
                <a:hlinkClick r:id="rId3"/>
              </a:rPr>
              <a:t>https://github.com/PIFSCstockassessments/2024-WCNPO-MLS-Rebuilding</a:t>
            </a:r>
            <a:endParaRPr lang="en-US" dirty="0"/>
          </a:p>
          <a:p>
            <a:r>
              <a:rPr lang="en-US" dirty="0"/>
              <a:t>Base case projection input files (3-recruitment models with 2-year out-of-sample weights) are in ~/2024 Results/base-runs</a:t>
            </a:r>
          </a:p>
          <a:p>
            <a:r>
              <a:rPr lang="en-US" dirty="0"/>
              <a:t>Medium-term recruitment model results are in ~/2024 Results/medium-term-runs</a:t>
            </a:r>
          </a:p>
          <a:p>
            <a:r>
              <a:rPr lang="en-US" dirty="0"/>
              <a:t>Short-term recruitment model results are in ~/2024 Results/short-term-runs</a:t>
            </a:r>
          </a:p>
          <a:p>
            <a:r>
              <a:rPr lang="en-US" dirty="0"/>
              <a:t>Long-term recruitment model results are in ~/2024 Results/long-term-runs</a:t>
            </a:r>
          </a:p>
          <a:p>
            <a:endParaRPr lang="en-US" dirty="0"/>
          </a:p>
          <a:p>
            <a:endParaRPr lang="en-US" dirty="0"/>
          </a:p>
        </p:txBody>
      </p:sp>
    </p:spTree>
    <p:extLst>
      <p:ext uri="{BB962C8B-B14F-4D97-AF65-F5344CB8AC3E}">
        <p14:creationId xmlns:p14="http://schemas.microsoft.com/office/powerpoint/2010/main" val="359719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Introduction</a:t>
            </a:r>
          </a:p>
        </p:txBody>
      </p:sp>
      <p:pic>
        <p:nvPicPr>
          <p:cNvPr id="3" name="Picture 2">
            <a:extLst>
              <a:ext uri="{FF2B5EF4-FFF2-40B4-BE49-F238E27FC236}">
                <a16:creationId xmlns:a16="http://schemas.microsoft.com/office/drawing/2014/main" id="{B05742FB-AD50-4F0F-ABC1-5B662F67C35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2602" y="933254"/>
            <a:ext cx="7946796" cy="5924746"/>
          </a:xfrm>
          <a:prstGeom prst="rect">
            <a:avLst/>
          </a:prstGeom>
          <a:noFill/>
          <a:ln>
            <a:noFill/>
          </a:ln>
        </p:spPr>
      </p:pic>
    </p:spTree>
    <p:extLst>
      <p:ext uri="{BB962C8B-B14F-4D97-AF65-F5344CB8AC3E}">
        <p14:creationId xmlns:p14="http://schemas.microsoft.com/office/powerpoint/2010/main" val="28247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67B4-5D24-43F0-9DD6-752925AAA6C1}"/>
              </a:ext>
            </a:extLst>
          </p:cNvPr>
          <p:cNvSpPr>
            <a:spLocks noGrp="1"/>
          </p:cNvSpPr>
          <p:nvPr>
            <p:ph type="title"/>
          </p:nvPr>
        </p:nvSpPr>
        <p:spPr>
          <a:xfrm>
            <a:off x="838200" y="0"/>
            <a:ext cx="10515600" cy="737811"/>
          </a:xfrm>
        </p:spPr>
        <p:txBody>
          <a:bodyPr>
            <a:normAutofit/>
          </a:bodyPr>
          <a:lstStyle/>
          <a:p>
            <a:pPr algn="ctr"/>
            <a:r>
              <a:rPr lang="en-US" sz="4000" dirty="0"/>
              <a:t>Rebuilding Target</a:t>
            </a:r>
          </a:p>
        </p:txBody>
      </p:sp>
      <p:pic>
        <p:nvPicPr>
          <p:cNvPr id="3" name="Picture 2">
            <a:extLst>
              <a:ext uri="{FF2B5EF4-FFF2-40B4-BE49-F238E27FC236}">
                <a16:creationId xmlns:a16="http://schemas.microsoft.com/office/drawing/2014/main" id="{CA7487DF-7D1F-46DA-A425-22024D7D1A8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93130" y="1055802"/>
            <a:ext cx="8785782" cy="5802198"/>
          </a:xfrm>
          <a:prstGeom prst="rect">
            <a:avLst/>
          </a:prstGeom>
          <a:noFill/>
          <a:ln>
            <a:noFill/>
          </a:ln>
        </p:spPr>
      </p:pic>
    </p:spTree>
    <p:extLst>
      <p:ext uri="{BB962C8B-B14F-4D97-AF65-F5344CB8AC3E}">
        <p14:creationId xmlns:p14="http://schemas.microsoft.com/office/powerpoint/2010/main" val="377354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415600" y="162442"/>
            <a:ext cx="11360800" cy="763600"/>
          </a:xfrm>
          <a:prstGeom prst="rect">
            <a:avLst/>
          </a:prstGeom>
        </p:spPr>
        <p:txBody>
          <a:bodyPr spcFirstLastPara="1" vert="horz" wrap="square" lIns="121900" tIns="121900" rIns="121900" bIns="121900" rtlCol="0" anchor="t" anchorCtr="0">
            <a:normAutofit/>
          </a:bodyPr>
          <a:lstStyle/>
          <a:p>
            <a:pPr algn="ctr"/>
            <a:r>
              <a:rPr lang="en" sz="3200" dirty="0"/>
              <a:t>CMM 2024-06 Revision to CMM 2010-01 for NP MLS</a:t>
            </a:r>
            <a:endParaRPr sz="3200" dirty="0"/>
          </a:p>
        </p:txBody>
      </p:sp>
      <p:sp>
        <p:nvSpPr>
          <p:cNvPr id="55" name="Google Shape;55;p13"/>
          <p:cNvSpPr txBox="1">
            <a:spLocks noGrp="1"/>
          </p:cNvSpPr>
          <p:nvPr>
            <p:ph type="body" idx="1"/>
          </p:nvPr>
        </p:nvSpPr>
        <p:spPr>
          <a:xfrm>
            <a:off x="0" y="1536632"/>
            <a:ext cx="7837715" cy="5321368"/>
          </a:xfrm>
          <a:prstGeom prst="rect">
            <a:avLst/>
          </a:prstGeom>
        </p:spPr>
        <p:txBody>
          <a:bodyPr spcFirstLastPara="1" vert="horz" wrap="square" lIns="121900" tIns="121900" rIns="121900" bIns="121900" rtlCol="0" anchor="t" anchorCtr="0">
            <a:normAutofit fontScale="92500" lnSpcReduction="10000"/>
          </a:bodyPr>
          <a:lstStyle/>
          <a:p>
            <a:pPr indent="-445758">
              <a:buSzPct val="100000"/>
            </a:pPr>
            <a:r>
              <a:rPr lang="en" dirty="0"/>
              <a:t>Maximum catch limit of 2400 mt</a:t>
            </a:r>
            <a:endParaRPr dirty="0"/>
          </a:p>
          <a:p>
            <a:pPr indent="-445758">
              <a:buSzPct val="100000"/>
            </a:pPr>
            <a:r>
              <a:rPr lang="en" dirty="0"/>
              <a:t>In 2025-2027, each country can take up to 165 mt additional to their individual limit if the catch limit in 2023-2025 is not reached</a:t>
            </a:r>
            <a:endParaRPr dirty="0"/>
          </a:p>
          <a:p>
            <a:pPr lvl="1" indent="-414432">
              <a:buSzPct val="100000"/>
            </a:pPr>
            <a:r>
              <a:rPr lang="en" dirty="0"/>
              <a:t>In 2023 there was an underage of 826mt therefore countries are allowed to increase their limit by 165mt in 2025.</a:t>
            </a:r>
            <a:endParaRPr dirty="0"/>
          </a:p>
          <a:p>
            <a:pPr lvl="1" indent="-414432">
              <a:buSzPct val="100000"/>
            </a:pPr>
            <a:r>
              <a:rPr lang="en" dirty="0"/>
              <a:t>Any underage in 2024 can be applied to 2026, and 2025 to 2027.</a:t>
            </a:r>
            <a:endParaRPr dirty="0"/>
          </a:p>
          <a:p>
            <a:pPr indent="-445758">
              <a:buSzPct val="100000"/>
            </a:pPr>
            <a:r>
              <a:rPr lang="en" dirty="0"/>
              <a:t>No country is allowed to increase their catch by more than 165 mt.</a:t>
            </a:r>
            <a:endParaRPr dirty="0"/>
          </a:p>
          <a:p>
            <a:pPr indent="-445758">
              <a:buSzPct val="100000"/>
            </a:pPr>
            <a:r>
              <a:rPr lang="en" dirty="0"/>
              <a:t>If underage is less than 826 mt, then there will be decisions made about who gets that extra catch (not our problem)</a:t>
            </a:r>
            <a:endParaRPr dirty="0"/>
          </a:p>
          <a:p>
            <a:pPr indent="-445758">
              <a:buSzPct val="100000"/>
            </a:pPr>
            <a:r>
              <a:rPr lang="en" dirty="0"/>
              <a:t>Overage for each country is subtracted from their next year’s individual limit</a:t>
            </a:r>
            <a:endParaRPr dirty="0"/>
          </a:p>
        </p:txBody>
      </p:sp>
      <p:graphicFrame>
        <p:nvGraphicFramePr>
          <p:cNvPr id="56" name="Google Shape;56;p13"/>
          <p:cNvGraphicFramePr/>
          <p:nvPr>
            <p:extLst>
              <p:ext uri="{D42A27DB-BD31-4B8C-83A1-F6EECF244321}">
                <p14:modId xmlns:p14="http://schemas.microsoft.com/office/powerpoint/2010/main" val="2579184875"/>
              </p:ext>
            </p:extLst>
          </p:nvPr>
        </p:nvGraphicFramePr>
        <p:xfrm>
          <a:off x="8098400" y="1168771"/>
          <a:ext cx="3678000" cy="5608000"/>
        </p:xfrm>
        <a:graphic>
          <a:graphicData uri="http://schemas.openxmlformats.org/drawingml/2006/table">
            <a:tbl>
              <a:tblPr>
                <a:noFill/>
              </a:tblPr>
              <a:tblGrid>
                <a:gridCol w="1839000">
                  <a:extLst>
                    <a:ext uri="{9D8B030D-6E8A-4147-A177-3AD203B41FA5}">
                      <a16:colId xmlns:a16="http://schemas.microsoft.com/office/drawing/2014/main" val="20000"/>
                    </a:ext>
                  </a:extLst>
                </a:gridCol>
                <a:gridCol w="1839000">
                  <a:extLst>
                    <a:ext uri="{9D8B030D-6E8A-4147-A177-3AD203B41FA5}">
                      <a16:colId xmlns:a16="http://schemas.microsoft.com/office/drawing/2014/main" val="20001"/>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Catch Limit</a:t>
                      </a:r>
                      <a:endParaRPr sz="2400" b="1"/>
                    </a:p>
                  </a:txBody>
                  <a:tcPr marL="121900" marR="121900" marT="121900" marB="121900"/>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a:t>1454.4mt</a:t>
                      </a:r>
                      <a:endParaRPr sz="2400"/>
                    </a:p>
                  </a:txBody>
                  <a:tcPr marL="121900" marR="121900" marT="121900" marB="121900"/>
                </a:tc>
                <a:extLst>
                  <a:ext uri="{0D108BD9-81ED-4DB2-BD59-A6C34878D82A}">
                    <a16:rowId xmlns:a16="http://schemas.microsoft.com/office/drawing/2014/main" val="10001"/>
                  </a:ext>
                </a:extLst>
              </a:tr>
              <a:tr h="97532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a:t>
                      </a:r>
                      <a:endParaRPr sz="2400"/>
                    </a:p>
                  </a:txBody>
                  <a:tcPr marL="121900" marR="121900" marT="121900" marB="121900"/>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a:t>
                      </a:r>
                      <a:endParaRPr sz="2400"/>
                    </a:p>
                  </a:txBody>
                  <a:tcPr marL="121900" marR="121900" marT="121900" marB="121900"/>
                </a:tc>
                <a:extLst>
                  <a:ext uri="{0D108BD9-81ED-4DB2-BD59-A6C34878D82A}">
                    <a16:rowId xmlns:a16="http://schemas.microsoft.com/office/drawing/2014/main" val="10003"/>
                  </a:ext>
                </a:extLst>
              </a:tr>
              <a:tr h="97532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a:t>
                      </a:r>
                      <a:endParaRPr sz="2400"/>
                    </a:p>
                  </a:txBody>
                  <a:tcPr marL="121900" marR="121900" marT="121900" marB="121900"/>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415600" y="0"/>
            <a:ext cx="11360800" cy="763600"/>
          </a:xfrm>
          <a:prstGeom prst="rect">
            <a:avLst/>
          </a:prstGeom>
        </p:spPr>
        <p:txBody>
          <a:bodyPr spcFirstLastPara="1" vert="horz" wrap="square" lIns="121900" tIns="121900" rIns="121900" bIns="121900" rtlCol="0" anchor="t" anchorCtr="0">
            <a:normAutofit/>
          </a:bodyPr>
          <a:lstStyle/>
          <a:p>
            <a:pPr algn="ctr"/>
            <a:r>
              <a:rPr lang="en" sz="3200" dirty="0"/>
              <a:t>Scenario 1. Set CMM 2024-06 Catch Limits at 2,400 mt</a:t>
            </a:r>
            <a:endParaRPr sz="3200" dirty="0"/>
          </a:p>
        </p:txBody>
      </p:sp>
      <p:graphicFrame>
        <p:nvGraphicFramePr>
          <p:cNvPr id="62" name="Google Shape;62;p14"/>
          <p:cNvGraphicFramePr/>
          <p:nvPr>
            <p:extLst>
              <p:ext uri="{D42A27DB-BD31-4B8C-83A1-F6EECF244321}">
                <p14:modId xmlns:p14="http://schemas.microsoft.com/office/powerpoint/2010/main" val="1750460927"/>
              </p:ext>
            </p:extLst>
          </p:nvPr>
        </p:nvGraphicFramePr>
        <p:xfrm>
          <a:off x="1665534" y="763600"/>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215233">
                  <a:extLst>
                    <a:ext uri="{9D8B030D-6E8A-4147-A177-3AD203B41FA5}">
                      <a16:colId xmlns:a16="http://schemas.microsoft.com/office/drawing/2014/main" val="20001"/>
                    </a:ext>
                  </a:extLst>
                </a:gridCol>
                <a:gridCol w="2215233">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dirty="0"/>
                        <a:t>2025</a:t>
                      </a:r>
                      <a:endParaRPr sz="2400" b="1" dirty="0"/>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609560">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609560">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09560">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9560">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0956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2400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2400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63" name="Google Shape;63;p14"/>
          <p:cNvSpPr txBox="1"/>
          <p:nvPr/>
        </p:nvSpPr>
        <p:spPr>
          <a:xfrm>
            <a:off x="108401" y="5640080"/>
            <a:ext cx="10418065" cy="1217920"/>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92400" y="0"/>
            <a:ext cx="12284400" cy="763600"/>
          </a:xfrm>
          <a:prstGeom prst="rect">
            <a:avLst/>
          </a:prstGeom>
        </p:spPr>
        <p:txBody>
          <a:bodyPr spcFirstLastPara="1" vert="horz" wrap="square" lIns="121900" tIns="121900" rIns="121900" bIns="121900" rtlCol="0" anchor="t" anchorCtr="0">
            <a:normAutofit/>
          </a:bodyPr>
          <a:lstStyle/>
          <a:p>
            <a:pPr algn="ctr"/>
            <a:r>
              <a:rPr lang="en" sz="3200" dirty="0"/>
              <a:t>Scenario 2. Set CMM 2024-06 Catch Limits with 2025 Carryover</a:t>
            </a:r>
            <a:endParaRPr sz="3200" dirty="0"/>
          </a:p>
        </p:txBody>
      </p:sp>
      <p:graphicFrame>
        <p:nvGraphicFramePr>
          <p:cNvPr id="69" name="Google Shape;69;p15"/>
          <p:cNvGraphicFramePr/>
          <p:nvPr>
            <p:extLst>
              <p:ext uri="{D42A27DB-BD31-4B8C-83A1-F6EECF244321}">
                <p14:modId xmlns:p14="http://schemas.microsoft.com/office/powerpoint/2010/main" val="1983984145"/>
              </p:ext>
            </p:extLst>
          </p:nvPr>
        </p:nvGraphicFramePr>
        <p:xfrm>
          <a:off x="1508976" y="646774"/>
          <a:ext cx="8860932" cy="4876480"/>
        </p:xfrm>
        <a:graphic>
          <a:graphicData uri="http://schemas.openxmlformats.org/drawingml/2006/table">
            <a:tbl>
              <a:tblPr>
                <a:noFill/>
              </a:tblPr>
              <a:tblGrid>
                <a:gridCol w="2215233">
                  <a:extLst>
                    <a:ext uri="{9D8B030D-6E8A-4147-A177-3AD203B41FA5}">
                      <a16:colId xmlns:a16="http://schemas.microsoft.com/office/drawing/2014/main" val="20000"/>
                    </a:ext>
                  </a:extLst>
                </a:gridCol>
                <a:gridCol w="2802715">
                  <a:extLst>
                    <a:ext uri="{9D8B030D-6E8A-4147-A177-3AD203B41FA5}">
                      <a16:colId xmlns:a16="http://schemas.microsoft.com/office/drawing/2014/main" val="20001"/>
                    </a:ext>
                  </a:extLst>
                </a:gridCol>
                <a:gridCol w="1627751">
                  <a:extLst>
                    <a:ext uri="{9D8B030D-6E8A-4147-A177-3AD203B41FA5}">
                      <a16:colId xmlns:a16="http://schemas.microsoft.com/office/drawing/2014/main" val="20002"/>
                    </a:ext>
                  </a:extLst>
                </a:gridCol>
                <a:gridCol w="2215233">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a:t>Country</a:t>
                      </a:r>
                      <a:endParaRPr sz="2400" b="1"/>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82976">
                <a:tc>
                  <a:txBody>
                    <a:bodyPr/>
                    <a:lstStyle/>
                    <a:p>
                      <a:pPr marL="0" lvl="0" indent="0" algn="l" rtl="0">
                        <a:spcBef>
                          <a:spcPts val="0"/>
                        </a:spcBef>
                        <a:spcAft>
                          <a:spcPts val="0"/>
                        </a:spcAft>
                        <a:buNone/>
                      </a:pPr>
                      <a:r>
                        <a:rPr lang="en" sz="2400" dirty="0"/>
                        <a:t>Japan</a:t>
                      </a:r>
                      <a:endParaRPr sz="2400" dirty="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72506">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a:t>358.4mt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93567">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a:t>214.8mt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04117">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a:t>228.4mt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83136">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a:t>3225 mt</a:t>
                      </a:r>
                      <a:endParaRPr sz="2400" b="1"/>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0" name="Google Shape;70;p15"/>
          <p:cNvSpPr txBox="1"/>
          <p:nvPr/>
        </p:nvSpPr>
        <p:spPr>
          <a:xfrm>
            <a:off x="-280869" y="5542035"/>
            <a:ext cx="11863600" cy="1255986"/>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a:p>
            <a:pPr marL="609585"/>
            <a:r>
              <a:rPr lang="en" sz="2400" dirty="0">
                <a:solidFill>
                  <a:schemeClr val="dk2"/>
                </a:solidFill>
              </a:rPr>
              <a:t>.</a:t>
            </a:r>
            <a:endParaRPr sz="2400" dirty="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0" y="147767"/>
            <a:ext cx="12192000" cy="763600"/>
          </a:xfrm>
          <a:prstGeom prst="rect">
            <a:avLst/>
          </a:prstGeom>
        </p:spPr>
        <p:txBody>
          <a:bodyPr spcFirstLastPara="1" vert="horz" wrap="square" lIns="121900" tIns="121900" rIns="121900" bIns="121900" rtlCol="0" anchor="t" anchorCtr="0">
            <a:noAutofit/>
          </a:bodyPr>
          <a:lstStyle/>
          <a:p>
            <a:pPr algn="ctr">
              <a:buSzPts val="990"/>
            </a:pPr>
            <a:r>
              <a:rPr lang="en" sz="3200" dirty="0"/>
              <a:t>Scenario 3. Set CMM 2024-06 Catch Limits and 2025-2026 Carryover</a:t>
            </a:r>
            <a:endParaRPr sz="3200" dirty="0"/>
          </a:p>
        </p:txBody>
      </p:sp>
      <p:graphicFrame>
        <p:nvGraphicFramePr>
          <p:cNvPr id="76" name="Google Shape;76;p16"/>
          <p:cNvGraphicFramePr/>
          <p:nvPr>
            <p:extLst>
              <p:ext uri="{D42A27DB-BD31-4B8C-83A1-F6EECF244321}">
                <p14:modId xmlns:p14="http://schemas.microsoft.com/office/powerpoint/2010/main" val="140272135"/>
              </p:ext>
            </p:extLst>
          </p:nvPr>
        </p:nvGraphicFramePr>
        <p:xfrm>
          <a:off x="1248473" y="846554"/>
          <a:ext cx="9695053" cy="4876480"/>
        </p:xfrm>
        <a:graphic>
          <a:graphicData uri="http://schemas.openxmlformats.org/drawingml/2006/table">
            <a:tbl>
              <a:tblPr>
                <a:noFill/>
              </a:tblPr>
              <a:tblGrid>
                <a:gridCol w="2423763">
                  <a:extLst>
                    <a:ext uri="{9D8B030D-6E8A-4147-A177-3AD203B41FA5}">
                      <a16:colId xmlns:a16="http://schemas.microsoft.com/office/drawing/2014/main" val="20000"/>
                    </a:ext>
                  </a:extLst>
                </a:gridCol>
                <a:gridCol w="2678270">
                  <a:extLst>
                    <a:ext uri="{9D8B030D-6E8A-4147-A177-3AD203B41FA5}">
                      <a16:colId xmlns:a16="http://schemas.microsoft.com/office/drawing/2014/main" val="20001"/>
                    </a:ext>
                  </a:extLst>
                </a:gridCol>
                <a:gridCol w="2911365">
                  <a:extLst>
                    <a:ext uri="{9D8B030D-6E8A-4147-A177-3AD203B41FA5}">
                      <a16:colId xmlns:a16="http://schemas.microsoft.com/office/drawing/2014/main" val="20002"/>
                    </a:ext>
                  </a:extLst>
                </a:gridCol>
                <a:gridCol w="1681655">
                  <a:extLst>
                    <a:ext uri="{9D8B030D-6E8A-4147-A177-3AD203B41FA5}">
                      <a16:colId xmlns:a16="http://schemas.microsoft.com/office/drawing/2014/main" val="20003"/>
                    </a:ext>
                  </a:extLst>
                </a:gridCol>
              </a:tblGrid>
              <a:tr h="609560">
                <a:tc>
                  <a:txBody>
                    <a:bodyPr/>
                    <a:lstStyle/>
                    <a:p>
                      <a:pPr marL="0" lvl="0" indent="0" algn="l" rtl="0">
                        <a:spcBef>
                          <a:spcPts val="0"/>
                        </a:spcBef>
                        <a:spcAft>
                          <a:spcPts val="0"/>
                        </a:spcAft>
                        <a:buNone/>
                      </a:pPr>
                      <a:r>
                        <a:rPr lang="en" sz="2400" b="1" dirty="0"/>
                        <a:t>Country</a:t>
                      </a:r>
                      <a:endParaRPr sz="2400" b="1" dirty="0"/>
                    </a:p>
                  </a:txBody>
                  <a:tcPr marL="121900" marR="121900" marT="121900" marB="121900"/>
                </a:tc>
                <a:tc>
                  <a:txBody>
                    <a:bodyPr/>
                    <a:lstStyle/>
                    <a:p>
                      <a:pPr marL="0" lvl="0" indent="0" algn="l" rtl="0">
                        <a:spcBef>
                          <a:spcPts val="0"/>
                        </a:spcBef>
                        <a:spcAft>
                          <a:spcPts val="0"/>
                        </a:spcAft>
                        <a:buNone/>
                      </a:pPr>
                      <a:r>
                        <a:rPr lang="en" sz="2400" b="1"/>
                        <a:t>2025</a:t>
                      </a:r>
                      <a:endParaRPr sz="2400" b="1"/>
                    </a:p>
                  </a:txBody>
                  <a:tcPr marL="121900" marR="121900" marT="121900" marB="121900"/>
                </a:tc>
                <a:tc>
                  <a:txBody>
                    <a:bodyPr/>
                    <a:lstStyle/>
                    <a:p>
                      <a:pPr marL="0" lvl="0" indent="0" algn="l" rtl="0">
                        <a:spcBef>
                          <a:spcPts val="0"/>
                        </a:spcBef>
                        <a:spcAft>
                          <a:spcPts val="0"/>
                        </a:spcAft>
                        <a:buNone/>
                      </a:pPr>
                      <a:r>
                        <a:rPr lang="en" sz="2400" b="1"/>
                        <a:t>2026</a:t>
                      </a:r>
                      <a:endParaRPr sz="2400" b="1"/>
                    </a:p>
                  </a:txBody>
                  <a:tcPr marL="121900" marR="121900" marT="121900" marB="121900">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a:t>2027</a:t>
                      </a:r>
                      <a:endParaRPr sz="2400" b="1"/>
                    </a:p>
                  </a:txBody>
                  <a:tcPr marL="121900" marR="121900" marT="121900" marB="121900">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591652">
                <a:tc>
                  <a:txBody>
                    <a:bodyPr/>
                    <a:lstStyle/>
                    <a:p>
                      <a:pPr marL="0" lvl="0" indent="0" algn="l" rtl="0">
                        <a:spcBef>
                          <a:spcPts val="0"/>
                        </a:spcBef>
                        <a:spcAft>
                          <a:spcPts val="0"/>
                        </a:spcAft>
                        <a:buNone/>
                      </a:pPr>
                      <a:r>
                        <a:rPr lang="en" sz="2400"/>
                        <a:t>Japan</a:t>
                      </a:r>
                      <a:endParaRPr sz="2400"/>
                    </a:p>
                  </a:txBody>
                  <a:tcPr marL="121900" marR="121900" marT="121900" marB="121900"/>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1454.4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1454.4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591692">
                <a:tc>
                  <a:txBody>
                    <a:bodyPr/>
                    <a:lstStyle/>
                    <a:p>
                      <a:pPr marL="0" lvl="0" indent="0" algn="l" rtl="0">
                        <a:spcBef>
                          <a:spcPts val="0"/>
                        </a:spcBef>
                        <a:spcAft>
                          <a:spcPts val="0"/>
                        </a:spcAft>
                        <a:buNone/>
                      </a:pPr>
                      <a:r>
                        <a:rPr lang="en" sz="2400"/>
                        <a:t>Chinese Taipei</a:t>
                      </a:r>
                      <a:endParaRPr sz="2400"/>
                    </a:p>
                  </a:txBody>
                  <a:tcPr marL="121900" marR="121900" marT="121900" marB="121900"/>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358.4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358.4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539181">
                <a:tc>
                  <a:txBody>
                    <a:bodyPr/>
                    <a:lstStyle/>
                    <a:p>
                      <a:pPr marL="0" lvl="0" indent="0" algn="l" rtl="0">
                        <a:spcBef>
                          <a:spcPts val="0"/>
                        </a:spcBef>
                        <a:spcAft>
                          <a:spcPts val="0"/>
                        </a:spcAft>
                        <a:buNone/>
                      </a:pPr>
                      <a:r>
                        <a:rPr lang="en" sz="2400"/>
                        <a:t>Korea</a:t>
                      </a:r>
                      <a:endParaRPr sz="2400"/>
                    </a:p>
                  </a:txBody>
                  <a:tcPr marL="121900" marR="121900" marT="121900" marB="121900"/>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214.8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214.8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39221">
                <a:tc>
                  <a:txBody>
                    <a:bodyPr/>
                    <a:lstStyle/>
                    <a:p>
                      <a:pPr marL="0" lvl="0" indent="0" algn="l" rtl="0">
                        <a:spcBef>
                          <a:spcPts val="0"/>
                        </a:spcBef>
                        <a:spcAft>
                          <a:spcPts val="0"/>
                        </a:spcAft>
                        <a:buNone/>
                      </a:pPr>
                      <a:r>
                        <a:rPr lang="en" sz="2400"/>
                        <a:t>United States</a:t>
                      </a:r>
                      <a:endParaRPr sz="2400"/>
                    </a:p>
                  </a:txBody>
                  <a:tcPr marL="121900" marR="121900" marT="121900" marB="121900"/>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dirty="0"/>
                        <a:t>228.4 mt + 165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dirty="0"/>
                        <a:t>228.4 mt</a:t>
                      </a:r>
                      <a:endParaRPr sz="2400"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28750">
                <a:tc>
                  <a:txBody>
                    <a:bodyPr/>
                    <a:lstStyle/>
                    <a:p>
                      <a:pPr marL="0" lvl="0" indent="0" algn="l" rtl="0">
                        <a:spcBef>
                          <a:spcPts val="0"/>
                        </a:spcBef>
                        <a:spcAft>
                          <a:spcPts val="0"/>
                        </a:spcAft>
                        <a:buNone/>
                      </a:pPr>
                      <a:r>
                        <a:rPr lang="en" sz="2400"/>
                        <a:t>China</a:t>
                      </a:r>
                      <a:endParaRPr sz="2400"/>
                    </a:p>
                  </a:txBody>
                  <a:tcPr marL="121900" marR="121900" marT="121900" marB="121900"/>
                </a:tc>
                <a:tc>
                  <a:txBody>
                    <a:bodyPr/>
                    <a:lstStyle/>
                    <a:p>
                      <a:pPr marL="0" lvl="0" indent="0" algn="l" rtl="0">
                        <a:spcBef>
                          <a:spcPts val="0"/>
                        </a:spcBef>
                        <a:spcAft>
                          <a:spcPts val="0"/>
                        </a:spcAft>
                        <a:buNone/>
                      </a:pPr>
                      <a:r>
                        <a:rPr lang="en" sz="2400"/>
                        <a:t>68.8 mt + 165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68.8 mt + 165mt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68.8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609560">
                <a:tc>
                  <a:txBody>
                    <a:bodyPr/>
                    <a:lstStyle/>
                    <a:p>
                      <a:pPr marL="0" lvl="0" indent="0" algn="l" rtl="0">
                        <a:spcBef>
                          <a:spcPts val="0"/>
                        </a:spcBef>
                        <a:spcAft>
                          <a:spcPts val="0"/>
                        </a:spcAft>
                        <a:buNone/>
                      </a:pPr>
                      <a:r>
                        <a:rPr lang="en" sz="2400"/>
                        <a:t>Other SIDS</a:t>
                      </a:r>
                      <a:endParaRPr sz="2400"/>
                    </a:p>
                  </a:txBody>
                  <a:tcPr marL="121900" marR="121900" marT="121900" marB="121900"/>
                </a:tc>
                <a:tc>
                  <a:txBody>
                    <a:bodyPr/>
                    <a:lstStyle/>
                    <a:p>
                      <a:pPr marL="0" lvl="0" indent="0" algn="l" rtl="0">
                        <a:spcBef>
                          <a:spcPts val="0"/>
                        </a:spcBef>
                        <a:spcAft>
                          <a:spcPts val="0"/>
                        </a:spcAft>
                        <a:buNone/>
                      </a:pPr>
                      <a:r>
                        <a:rPr lang="en" sz="2400"/>
                        <a:t>75.2 mt</a:t>
                      </a:r>
                      <a:endParaRPr sz="240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a:t>75.2 mt</a:t>
                      </a:r>
                      <a:endParaRPr sz="240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609560">
                <a:tc>
                  <a:txBody>
                    <a:bodyPr/>
                    <a:lstStyle/>
                    <a:p>
                      <a:pPr marL="0" lvl="0" indent="0" algn="l" rtl="0">
                        <a:spcBef>
                          <a:spcPts val="0"/>
                        </a:spcBef>
                        <a:spcAft>
                          <a:spcPts val="0"/>
                        </a:spcAft>
                        <a:buNone/>
                      </a:pPr>
                      <a:r>
                        <a:rPr lang="en" sz="2400" b="1"/>
                        <a:t>Total</a:t>
                      </a:r>
                      <a:endParaRPr sz="2400" b="1"/>
                    </a:p>
                  </a:txBody>
                  <a:tcPr marL="121900" marR="121900" marT="121900" marB="121900"/>
                </a:tc>
                <a:tc>
                  <a:txBody>
                    <a:bodyPr/>
                    <a:lstStyle/>
                    <a:p>
                      <a:pPr marL="0" lvl="0" indent="0" algn="l" rtl="0">
                        <a:spcBef>
                          <a:spcPts val="0"/>
                        </a:spcBef>
                        <a:spcAft>
                          <a:spcPts val="0"/>
                        </a:spcAft>
                        <a:buNone/>
                      </a:pPr>
                      <a:r>
                        <a:rPr lang="en" sz="2400" b="1" dirty="0"/>
                        <a:t>3225 mt</a:t>
                      </a:r>
                      <a:endParaRPr sz="2400" b="1" dirty="0"/>
                    </a:p>
                  </a:txBody>
                  <a:tcPr marL="121900" marR="121900" marT="121900" marB="121900">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 sz="2400" b="1"/>
                        <a:t>3225 mt</a:t>
                      </a:r>
                      <a:endParaRPr sz="2400" b="1"/>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2400" b="1" dirty="0"/>
                        <a:t>2400 mt</a:t>
                      </a:r>
                      <a:endParaRPr sz="2400" b="1" dirty="0"/>
                    </a:p>
                  </a:txBody>
                  <a:tcPr marL="121900" marR="121900" marT="121900" marB="121900">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7" name="Google Shape;77;p16"/>
          <p:cNvSpPr txBox="1"/>
          <p:nvPr/>
        </p:nvSpPr>
        <p:spPr>
          <a:xfrm>
            <a:off x="0" y="5658221"/>
            <a:ext cx="11863600" cy="1120951"/>
          </a:xfrm>
          <a:prstGeom prst="rect">
            <a:avLst/>
          </a:prstGeom>
          <a:noFill/>
          <a:ln>
            <a:noFill/>
          </a:ln>
        </p:spPr>
        <p:txBody>
          <a:bodyPr spcFirstLastPara="1" wrap="square" lIns="121900" tIns="121900" rIns="121900" bIns="121900" anchor="t" anchorCtr="0">
            <a:noAutofit/>
          </a:bodyPr>
          <a:lstStyle/>
          <a:p>
            <a:pPr marL="609585" indent="-423323">
              <a:buClr>
                <a:schemeClr val="dk2"/>
              </a:buClr>
              <a:buSzPts val="1400"/>
              <a:buChar char="●"/>
            </a:pPr>
            <a:r>
              <a:rPr lang="en" sz="1600" dirty="0">
                <a:solidFill>
                  <a:schemeClr val="dk2"/>
                </a:solidFill>
              </a:rPr>
              <a:t>For countries which are represented by more than one fleet in the rebuilding analysis, catch would be distributed between fleets based upon the proportion of catch for each fleet in 2020 (last year of the assessment)</a:t>
            </a:r>
            <a:endParaRPr sz="1600" dirty="0">
              <a:solidFill>
                <a:schemeClr val="dk2"/>
              </a:solidFill>
            </a:endParaRPr>
          </a:p>
          <a:p>
            <a:pPr marL="609585" indent="-423323">
              <a:buClr>
                <a:schemeClr val="dk2"/>
              </a:buClr>
              <a:buSzPts val="1400"/>
              <a:buChar char="●"/>
            </a:pPr>
            <a:r>
              <a:rPr lang="en" sz="1600" dirty="0">
                <a:solidFill>
                  <a:schemeClr val="dk2"/>
                </a:solidFill>
              </a:rPr>
              <a:t>For 2021-2022, catch would be updated to reported (yearbook catch) from WCPFC, and 2023-2024 would be carryover catch from 2022 if updated catch is not available.</a:t>
            </a:r>
            <a:endParaRPr sz="1600" dirty="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1FFC9E-595F-483D-875C-DCE4FB05879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72" y="1008993"/>
            <a:ext cx="11740055" cy="5596759"/>
          </a:xfrm>
          <a:prstGeom prst="rect">
            <a:avLst/>
          </a:prstGeom>
          <a:noFill/>
          <a:ln>
            <a:noFill/>
          </a:ln>
        </p:spPr>
      </p:pic>
      <p:sp>
        <p:nvSpPr>
          <p:cNvPr id="4" name="Title 1">
            <a:extLst>
              <a:ext uri="{FF2B5EF4-FFF2-40B4-BE49-F238E27FC236}">
                <a16:creationId xmlns:a16="http://schemas.microsoft.com/office/drawing/2014/main" id="{992E170D-8CFF-4E57-9FED-43ED07947793}"/>
              </a:ext>
            </a:extLst>
          </p:cNvPr>
          <p:cNvSpPr>
            <a:spLocks noGrp="1"/>
          </p:cNvSpPr>
          <p:nvPr>
            <p:ph type="title"/>
          </p:nvPr>
        </p:nvSpPr>
        <p:spPr>
          <a:xfrm>
            <a:off x="0" y="0"/>
            <a:ext cx="12192000" cy="738188"/>
          </a:xfrm>
        </p:spPr>
        <p:txBody>
          <a:bodyPr>
            <a:normAutofit fontScale="90000"/>
          </a:bodyPr>
          <a:lstStyle/>
          <a:p>
            <a:pPr algn="ctr"/>
            <a:r>
              <a:rPr lang="en-US" sz="4000" dirty="0"/>
              <a:t>Apportion MLS Catch to Fleet Groups from the 2023 Assessment</a:t>
            </a:r>
          </a:p>
        </p:txBody>
      </p:sp>
    </p:spTree>
    <p:extLst>
      <p:ext uri="{BB962C8B-B14F-4D97-AF65-F5344CB8AC3E}">
        <p14:creationId xmlns:p14="http://schemas.microsoft.com/office/powerpoint/2010/main" val="3687576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2958662" y="0"/>
            <a:ext cx="6274676" cy="1030014"/>
          </a:xfrm>
        </p:spPr>
        <p:txBody>
          <a:bodyPr>
            <a:normAutofit fontScale="90000"/>
          </a:bodyPr>
          <a:lstStyle/>
          <a:p>
            <a:pPr algn="ctr"/>
            <a:r>
              <a:rPr lang="en-US" sz="3600" b="1" dirty="0"/>
              <a:t>Japanese Longline Quarter 2 – Area 1 Fleet Group 3</a:t>
            </a:r>
          </a:p>
        </p:txBody>
      </p:sp>
      <p:pic>
        <p:nvPicPr>
          <p:cNvPr id="5" name="Picture 4">
            <a:extLst>
              <a:ext uri="{FF2B5EF4-FFF2-40B4-BE49-F238E27FC236}">
                <a16:creationId xmlns:a16="http://schemas.microsoft.com/office/drawing/2014/main" id="{2EE07C25-9C2C-4A0D-A69F-9598CA85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28" y="1030014"/>
            <a:ext cx="11827144" cy="5810105"/>
          </a:xfrm>
          <a:prstGeom prst="rect">
            <a:avLst/>
          </a:prstGeom>
        </p:spPr>
      </p:pic>
    </p:spTree>
    <p:extLst>
      <p:ext uri="{BB962C8B-B14F-4D97-AF65-F5344CB8AC3E}">
        <p14:creationId xmlns:p14="http://schemas.microsoft.com/office/powerpoint/2010/main" val="3372255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9F419-2265-4795-8318-1A6B03EFD4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3959" y="889521"/>
            <a:ext cx="6124082" cy="5968479"/>
          </a:xfrm>
          <a:prstGeom prst="rect">
            <a:avLst/>
          </a:prstGeom>
        </p:spPr>
      </p:pic>
      <p:sp>
        <p:nvSpPr>
          <p:cNvPr id="7" name="Title 1">
            <a:extLst>
              <a:ext uri="{FF2B5EF4-FFF2-40B4-BE49-F238E27FC236}">
                <a16:creationId xmlns:a16="http://schemas.microsoft.com/office/drawing/2014/main" id="{39A94E77-FEE6-4A09-8CD4-D5CD8749E4C1}"/>
              </a:ext>
            </a:extLst>
          </p:cNvPr>
          <p:cNvSpPr>
            <a:spLocks noGrp="1"/>
          </p:cNvSpPr>
          <p:nvPr>
            <p:ph type="title"/>
          </p:nvPr>
        </p:nvSpPr>
        <p:spPr>
          <a:xfrm>
            <a:off x="2958662" y="0"/>
            <a:ext cx="6274676" cy="1030014"/>
          </a:xfrm>
        </p:spPr>
        <p:txBody>
          <a:bodyPr>
            <a:normAutofit fontScale="90000"/>
          </a:bodyPr>
          <a:lstStyle/>
          <a:p>
            <a:pPr algn="ctr"/>
            <a:r>
              <a:rPr lang="en-US" sz="3600" b="1" dirty="0"/>
              <a:t>Hawaii Longline </a:t>
            </a:r>
            <a:br>
              <a:rPr lang="en-US" sz="3600" b="1" dirty="0"/>
            </a:br>
            <a:r>
              <a:rPr lang="en-US" sz="3600" b="1" dirty="0"/>
              <a:t>Fleet Group 8</a:t>
            </a:r>
          </a:p>
        </p:txBody>
      </p:sp>
    </p:spTree>
    <p:extLst>
      <p:ext uri="{BB962C8B-B14F-4D97-AF65-F5344CB8AC3E}">
        <p14:creationId xmlns:p14="http://schemas.microsoft.com/office/powerpoint/2010/main" val="32737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91EC88-149E-4628-AA5E-2A33A5CA1E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585" y="714702"/>
            <a:ext cx="7494830" cy="6115074"/>
          </a:xfrm>
          <a:prstGeom prst="rect">
            <a:avLst/>
          </a:prstGeom>
        </p:spPr>
      </p:pic>
      <p:sp>
        <p:nvSpPr>
          <p:cNvPr id="6" name="Title 1">
            <a:extLst>
              <a:ext uri="{FF2B5EF4-FFF2-40B4-BE49-F238E27FC236}">
                <a16:creationId xmlns:a16="http://schemas.microsoft.com/office/drawing/2014/main" id="{35C467B5-16ED-45F9-B401-82C457EE463B}"/>
              </a:ext>
            </a:extLst>
          </p:cNvPr>
          <p:cNvSpPr>
            <a:spLocks noGrp="1"/>
          </p:cNvSpPr>
          <p:nvPr>
            <p:ph type="title"/>
          </p:nvPr>
        </p:nvSpPr>
        <p:spPr>
          <a:xfrm>
            <a:off x="2958662" y="0"/>
            <a:ext cx="6274676" cy="1030014"/>
          </a:xfrm>
        </p:spPr>
        <p:txBody>
          <a:bodyPr>
            <a:normAutofit fontScale="90000"/>
          </a:bodyPr>
          <a:lstStyle/>
          <a:p>
            <a:pPr algn="ctr"/>
            <a:r>
              <a:rPr lang="en-US" sz="3600" b="1" dirty="0"/>
              <a:t>Taiwanese Longline </a:t>
            </a:r>
            <a:br>
              <a:rPr lang="en-US" sz="3600" b="1" dirty="0"/>
            </a:br>
            <a:r>
              <a:rPr lang="en-US" sz="3600" b="1" dirty="0"/>
              <a:t>Fleet Group 9</a:t>
            </a:r>
          </a:p>
        </p:txBody>
      </p:sp>
    </p:spTree>
    <p:extLst>
      <p:ext uri="{BB962C8B-B14F-4D97-AF65-F5344CB8AC3E}">
        <p14:creationId xmlns:p14="http://schemas.microsoft.com/office/powerpoint/2010/main" val="395581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2000" cy="1158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Gather 2021-2023 MLS Catches in the WCPFC Area North of the Equator from the WCPFC Yearbook</a:t>
            </a:r>
          </a:p>
        </p:txBody>
      </p:sp>
      <p:pic>
        <p:nvPicPr>
          <p:cNvPr id="3" name="Picture 2">
            <a:extLst>
              <a:ext uri="{FF2B5EF4-FFF2-40B4-BE49-F238E27FC236}">
                <a16:creationId xmlns:a16="http://schemas.microsoft.com/office/drawing/2014/main" id="{B591D272-E391-4A7D-B8E8-EDEC4CB7AB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7105" y="1405650"/>
            <a:ext cx="5639488" cy="5452350"/>
          </a:xfrm>
          <a:prstGeom prst="rect">
            <a:avLst/>
          </a:prstGeom>
        </p:spPr>
      </p:pic>
      <p:pic>
        <p:nvPicPr>
          <p:cNvPr id="8" name="Picture 7">
            <a:extLst>
              <a:ext uri="{FF2B5EF4-FFF2-40B4-BE49-F238E27FC236}">
                <a16:creationId xmlns:a16="http://schemas.microsoft.com/office/drawing/2014/main" id="{DF587AAE-180F-409A-B923-67B7F04C9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3438" y="2795751"/>
            <a:ext cx="2738564" cy="3547241"/>
          </a:xfrm>
          <a:prstGeom prst="rect">
            <a:avLst/>
          </a:prstGeom>
        </p:spPr>
      </p:pic>
    </p:spTree>
    <p:extLst>
      <p:ext uri="{BB962C8B-B14F-4D97-AF65-F5344CB8AC3E}">
        <p14:creationId xmlns:p14="http://schemas.microsoft.com/office/powerpoint/2010/main" val="703576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0" y="28795"/>
            <a:ext cx="12191999" cy="55978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Catches with Imputed 2024 Catch</a:t>
            </a:r>
          </a:p>
        </p:txBody>
      </p:sp>
      <p:sp>
        <p:nvSpPr>
          <p:cNvPr id="8" name="TextBox 7">
            <a:extLst>
              <a:ext uri="{FF2B5EF4-FFF2-40B4-BE49-F238E27FC236}">
                <a16:creationId xmlns:a16="http://schemas.microsoft.com/office/drawing/2014/main" id="{A7A22755-40DE-4FC2-A728-ADDF654554FE}"/>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3" name="Picture 2">
            <a:extLst>
              <a:ext uri="{FF2B5EF4-FFF2-40B4-BE49-F238E27FC236}">
                <a16:creationId xmlns:a16="http://schemas.microsoft.com/office/drawing/2014/main" id="{B890FA04-0058-43DE-B113-E36F8ABB3B00}"/>
              </a:ext>
            </a:extLst>
          </p:cNvPr>
          <p:cNvPicPr>
            <a:picLocks noChangeAspect="1"/>
          </p:cNvPicPr>
          <p:nvPr/>
        </p:nvPicPr>
        <p:blipFill>
          <a:blip r:embed="rId2"/>
          <a:stretch>
            <a:fillRect/>
          </a:stretch>
        </p:blipFill>
        <p:spPr>
          <a:xfrm>
            <a:off x="3026201" y="646015"/>
            <a:ext cx="6139596" cy="6211985"/>
          </a:xfrm>
          <a:prstGeom prst="rect">
            <a:avLst/>
          </a:prstGeom>
        </p:spPr>
      </p:pic>
    </p:spTree>
    <p:extLst>
      <p:ext uri="{BB962C8B-B14F-4D97-AF65-F5344CB8AC3E}">
        <p14:creationId xmlns:p14="http://schemas.microsoft.com/office/powerpoint/2010/main" val="3713511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462456" y="-23757"/>
            <a:ext cx="11729544"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WCPFC Yearbook Reported MLS Catch with Imputed 2024 Catch</a:t>
            </a:r>
          </a:p>
        </p:txBody>
      </p:sp>
      <p:sp>
        <p:nvSpPr>
          <p:cNvPr id="5" name="TextBox 4">
            <a:extLst>
              <a:ext uri="{FF2B5EF4-FFF2-40B4-BE49-F238E27FC236}">
                <a16:creationId xmlns:a16="http://schemas.microsoft.com/office/drawing/2014/main" id="{00C9A2B3-0ED7-4F23-956E-0F7A69D3FA55}"/>
              </a:ext>
            </a:extLst>
          </p:cNvPr>
          <p:cNvSpPr txBox="1"/>
          <p:nvPr/>
        </p:nvSpPr>
        <p:spPr>
          <a:xfrm>
            <a:off x="9480331" y="6550223"/>
            <a:ext cx="2711669" cy="307777"/>
          </a:xfrm>
          <a:prstGeom prst="rect">
            <a:avLst/>
          </a:prstGeom>
          <a:noFill/>
        </p:spPr>
        <p:txBody>
          <a:bodyPr wrap="square">
            <a:spAutoFit/>
          </a:bodyPr>
          <a:lstStyle/>
          <a:p>
            <a:pPr algn="r"/>
            <a:r>
              <a:rPr lang="en-US" sz="1400" dirty="0"/>
              <a:t>Data from XLS_NorthWCPFC.csv</a:t>
            </a:r>
          </a:p>
        </p:txBody>
      </p:sp>
      <p:pic>
        <p:nvPicPr>
          <p:cNvPr id="2" name="Picture 1">
            <a:extLst>
              <a:ext uri="{FF2B5EF4-FFF2-40B4-BE49-F238E27FC236}">
                <a16:creationId xmlns:a16="http://schemas.microsoft.com/office/drawing/2014/main" id="{2F8DA74F-4F99-4E6E-83E9-7B5602FDC266}"/>
              </a:ext>
            </a:extLst>
          </p:cNvPr>
          <p:cNvPicPr>
            <a:picLocks noChangeAspect="1"/>
          </p:cNvPicPr>
          <p:nvPr/>
        </p:nvPicPr>
        <p:blipFill>
          <a:blip r:embed="rId2"/>
          <a:stretch>
            <a:fillRect/>
          </a:stretch>
        </p:blipFill>
        <p:spPr>
          <a:xfrm>
            <a:off x="2432901" y="672662"/>
            <a:ext cx="7326198" cy="6185338"/>
          </a:xfrm>
          <a:prstGeom prst="rect">
            <a:avLst/>
          </a:prstGeom>
        </p:spPr>
      </p:pic>
    </p:spTree>
    <p:extLst>
      <p:ext uri="{BB962C8B-B14F-4D97-AF65-F5344CB8AC3E}">
        <p14:creationId xmlns:p14="http://schemas.microsoft.com/office/powerpoint/2010/main" val="10776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E2A9DDB9-F96C-4D78-8F31-D61A87EE6183}"/>
              </a:ext>
            </a:extLst>
          </p:cNvPr>
          <p:cNvPicPr>
            <a:picLocks noChangeAspect="1"/>
          </p:cNvPicPr>
          <p:nvPr/>
        </p:nvPicPr>
        <p:blipFill>
          <a:blip r:embed="rId2"/>
          <a:stretch>
            <a:fillRect/>
          </a:stretch>
        </p:blipFill>
        <p:spPr>
          <a:xfrm>
            <a:off x="3065525" y="621792"/>
            <a:ext cx="6060948" cy="6236208"/>
          </a:xfrm>
          <a:prstGeom prst="rect">
            <a:avLst/>
          </a:prstGeom>
        </p:spPr>
      </p:pic>
    </p:spTree>
    <p:extLst>
      <p:ext uri="{BB962C8B-B14F-4D97-AF65-F5344CB8AC3E}">
        <p14:creationId xmlns:p14="http://schemas.microsoft.com/office/powerpoint/2010/main" val="2681269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Japan</a:t>
            </a:r>
          </a:p>
        </p:txBody>
      </p:sp>
      <p:pic>
        <p:nvPicPr>
          <p:cNvPr id="3" name="Picture 2">
            <a:extLst>
              <a:ext uri="{FF2B5EF4-FFF2-40B4-BE49-F238E27FC236}">
                <a16:creationId xmlns:a16="http://schemas.microsoft.com/office/drawing/2014/main" id="{114C4E13-7F9C-4D9A-AECA-D44E17F833E7}"/>
              </a:ext>
            </a:extLst>
          </p:cNvPr>
          <p:cNvPicPr>
            <a:picLocks noChangeAspect="1"/>
          </p:cNvPicPr>
          <p:nvPr/>
        </p:nvPicPr>
        <p:blipFill>
          <a:blip r:embed="rId2"/>
          <a:stretch>
            <a:fillRect/>
          </a:stretch>
        </p:blipFill>
        <p:spPr>
          <a:xfrm>
            <a:off x="2938231" y="646499"/>
            <a:ext cx="6315538" cy="6211501"/>
          </a:xfrm>
          <a:prstGeom prst="rect">
            <a:avLst/>
          </a:prstGeom>
        </p:spPr>
      </p:pic>
    </p:spTree>
    <p:extLst>
      <p:ext uri="{BB962C8B-B14F-4D97-AF65-F5344CB8AC3E}">
        <p14:creationId xmlns:p14="http://schemas.microsoft.com/office/powerpoint/2010/main" val="1104233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sp>
        <p:nvSpPr>
          <p:cNvPr id="5" name="TextBox 4">
            <a:extLst>
              <a:ext uri="{FF2B5EF4-FFF2-40B4-BE49-F238E27FC236}">
                <a16:creationId xmlns:a16="http://schemas.microsoft.com/office/drawing/2014/main" id="{00C9A2B3-0ED7-4F23-956E-0F7A69D3FA55}"/>
              </a:ext>
            </a:extLst>
          </p:cNvPr>
          <p:cNvSpPr txBox="1"/>
          <p:nvPr/>
        </p:nvSpPr>
        <p:spPr>
          <a:xfrm>
            <a:off x="9290165" y="6550224"/>
            <a:ext cx="2901835" cy="307777"/>
          </a:xfrm>
          <a:prstGeom prst="rect">
            <a:avLst/>
          </a:prstGeom>
          <a:noFill/>
        </p:spPr>
        <p:txBody>
          <a:bodyPr wrap="square">
            <a:spAutoFit/>
          </a:bodyPr>
          <a:lstStyle/>
          <a:p>
            <a:pPr algn="r"/>
            <a:r>
              <a:rPr lang="en-US" sz="1400" dirty="0"/>
              <a:t>Data from ISC Billfish Working Group</a:t>
            </a:r>
          </a:p>
        </p:txBody>
      </p:sp>
      <p:pic>
        <p:nvPicPr>
          <p:cNvPr id="4" name="Picture 3">
            <a:extLst>
              <a:ext uri="{FF2B5EF4-FFF2-40B4-BE49-F238E27FC236}">
                <a16:creationId xmlns:a16="http://schemas.microsoft.com/office/drawing/2014/main" id="{650F91CB-649B-4697-B34A-AB69CC839C0A}"/>
              </a:ext>
            </a:extLst>
          </p:cNvPr>
          <p:cNvPicPr>
            <a:picLocks noChangeAspect="1"/>
          </p:cNvPicPr>
          <p:nvPr/>
        </p:nvPicPr>
        <p:blipFill>
          <a:blip r:embed="rId2"/>
          <a:stretch>
            <a:fillRect/>
          </a:stretch>
        </p:blipFill>
        <p:spPr>
          <a:xfrm>
            <a:off x="2973459" y="650909"/>
            <a:ext cx="6245079" cy="6178296"/>
          </a:xfrm>
          <a:prstGeom prst="rect">
            <a:avLst/>
          </a:prstGeom>
        </p:spPr>
      </p:pic>
    </p:spTree>
    <p:extLst>
      <p:ext uri="{BB962C8B-B14F-4D97-AF65-F5344CB8AC3E}">
        <p14:creationId xmlns:p14="http://schemas.microsoft.com/office/powerpoint/2010/main" val="3133967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Reported MLS Catch from the United States</a:t>
            </a:r>
          </a:p>
        </p:txBody>
      </p:sp>
      <p:pic>
        <p:nvPicPr>
          <p:cNvPr id="5" name="Picture 4">
            <a:extLst>
              <a:ext uri="{FF2B5EF4-FFF2-40B4-BE49-F238E27FC236}">
                <a16:creationId xmlns:a16="http://schemas.microsoft.com/office/drawing/2014/main" id="{6F0F6F5B-C7E6-49B2-B86F-771F24ABFC02}"/>
              </a:ext>
            </a:extLst>
          </p:cNvPr>
          <p:cNvPicPr>
            <a:picLocks noChangeAspect="1"/>
          </p:cNvPicPr>
          <p:nvPr/>
        </p:nvPicPr>
        <p:blipFill>
          <a:blip r:embed="rId2"/>
          <a:stretch>
            <a:fillRect/>
          </a:stretch>
        </p:blipFill>
        <p:spPr>
          <a:xfrm>
            <a:off x="2977540" y="617662"/>
            <a:ext cx="6236917" cy="6240338"/>
          </a:xfrm>
          <a:prstGeom prst="rect">
            <a:avLst/>
          </a:prstGeom>
        </p:spPr>
      </p:pic>
    </p:spTree>
    <p:extLst>
      <p:ext uri="{BB962C8B-B14F-4D97-AF65-F5344CB8AC3E}">
        <p14:creationId xmlns:p14="http://schemas.microsoft.com/office/powerpoint/2010/main" val="323270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Catches are Lower for the 2025 Projection Scenarios</a:t>
            </a:r>
          </a:p>
        </p:txBody>
      </p:sp>
      <p:pic>
        <p:nvPicPr>
          <p:cNvPr id="4" name="Picture 3">
            <a:extLst>
              <a:ext uri="{FF2B5EF4-FFF2-40B4-BE49-F238E27FC236}">
                <a16:creationId xmlns:a16="http://schemas.microsoft.com/office/drawing/2014/main" id="{939E5DC0-27B6-4F3A-BC2F-510817AB0B64}"/>
              </a:ext>
            </a:extLst>
          </p:cNvPr>
          <p:cNvPicPr>
            <a:picLocks noChangeAspect="1"/>
          </p:cNvPicPr>
          <p:nvPr/>
        </p:nvPicPr>
        <p:blipFill>
          <a:blip r:embed="rId2"/>
          <a:stretch>
            <a:fillRect/>
          </a:stretch>
        </p:blipFill>
        <p:spPr>
          <a:xfrm>
            <a:off x="2922582" y="684276"/>
            <a:ext cx="6346835" cy="6173724"/>
          </a:xfrm>
          <a:prstGeom prst="rect">
            <a:avLst/>
          </a:prstGeom>
        </p:spPr>
      </p:pic>
    </p:spTree>
    <p:extLst>
      <p:ext uri="{BB962C8B-B14F-4D97-AF65-F5344CB8AC3E}">
        <p14:creationId xmlns:p14="http://schemas.microsoft.com/office/powerpoint/2010/main" val="3217927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4083" y="28795"/>
            <a:ext cx="12107917"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Initial Fishing Mortalities are Lower for the 2025 Projection Scenarios</a:t>
            </a:r>
          </a:p>
        </p:txBody>
      </p:sp>
      <p:pic>
        <p:nvPicPr>
          <p:cNvPr id="2" name="Picture 1">
            <a:extLst>
              <a:ext uri="{FF2B5EF4-FFF2-40B4-BE49-F238E27FC236}">
                <a16:creationId xmlns:a16="http://schemas.microsoft.com/office/drawing/2014/main" id="{5AEF83B1-3775-43E1-87A0-2185BA686961}"/>
              </a:ext>
            </a:extLst>
          </p:cNvPr>
          <p:cNvPicPr>
            <a:picLocks noChangeAspect="1"/>
          </p:cNvPicPr>
          <p:nvPr/>
        </p:nvPicPr>
        <p:blipFill>
          <a:blip r:embed="rId2"/>
          <a:stretch>
            <a:fillRect/>
          </a:stretch>
        </p:blipFill>
        <p:spPr>
          <a:xfrm>
            <a:off x="2902129" y="692546"/>
            <a:ext cx="6387741" cy="6165454"/>
          </a:xfrm>
          <a:prstGeom prst="rect">
            <a:avLst/>
          </a:prstGeom>
        </p:spPr>
      </p:pic>
    </p:spTree>
    <p:extLst>
      <p:ext uri="{BB962C8B-B14F-4D97-AF65-F5344CB8AC3E}">
        <p14:creationId xmlns:p14="http://schemas.microsoft.com/office/powerpoint/2010/main" val="1362639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Year Classes in 2018-2020 Were Above Short-Term Average </a:t>
            </a:r>
          </a:p>
        </p:txBody>
      </p:sp>
      <p:pic>
        <p:nvPicPr>
          <p:cNvPr id="2" name="Picture 1">
            <a:extLst>
              <a:ext uri="{FF2B5EF4-FFF2-40B4-BE49-F238E27FC236}">
                <a16:creationId xmlns:a16="http://schemas.microsoft.com/office/drawing/2014/main" id="{DA71D41D-30A5-491D-AD6B-4EBEC3B94C1C}"/>
              </a:ext>
            </a:extLst>
          </p:cNvPr>
          <p:cNvPicPr>
            <a:picLocks noChangeAspect="1"/>
          </p:cNvPicPr>
          <p:nvPr/>
        </p:nvPicPr>
        <p:blipFill>
          <a:blip r:embed="rId2"/>
          <a:stretch>
            <a:fillRect/>
          </a:stretch>
        </p:blipFill>
        <p:spPr>
          <a:xfrm>
            <a:off x="1881351" y="732070"/>
            <a:ext cx="8429296" cy="6125930"/>
          </a:xfrm>
          <a:prstGeom prst="rect">
            <a:avLst/>
          </a:prstGeom>
        </p:spPr>
      </p:pic>
    </p:spTree>
    <p:extLst>
      <p:ext uri="{BB962C8B-B14F-4D97-AF65-F5344CB8AC3E}">
        <p14:creationId xmlns:p14="http://schemas.microsoft.com/office/powerpoint/2010/main" val="2987477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FF6910-B1B5-4D4E-B81B-1E7048974DA6}"/>
              </a:ext>
            </a:extLst>
          </p:cNvPr>
          <p:cNvPicPr>
            <a:picLocks noChangeAspect="1"/>
          </p:cNvPicPr>
          <p:nvPr/>
        </p:nvPicPr>
        <p:blipFill>
          <a:blip r:embed="rId2"/>
          <a:stretch>
            <a:fillRect/>
          </a:stretch>
        </p:blipFill>
        <p:spPr>
          <a:xfrm>
            <a:off x="1908695" y="869436"/>
            <a:ext cx="8374609" cy="5959769"/>
          </a:xfrm>
          <a:prstGeom prst="rect">
            <a:avLst/>
          </a:prstGeom>
        </p:spPr>
      </p:pic>
      <p:sp>
        <p:nvSpPr>
          <p:cNvPr id="5" name="Title 1">
            <a:extLst>
              <a:ext uri="{FF2B5EF4-FFF2-40B4-BE49-F238E27FC236}">
                <a16:creationId xmlns:a16="http://schemas.microsoft.com/office/drawing/2014/main" id="{05669D09-2F3D-4274-9902-F37BF03B6178}"/>
              </a:ext>
            </a:extLst>
          </p:cNvPr>
          <p:cNvSpPr txBox="1">
            <a:spLocks/>
          </p:cNvSpPr>
          <p:nvPr/>
        </p:nvSpPr>
        <p:spPr>
          <a:xfrm>
            <a:off x="560988" y="0"/>
            <a:ext cx="11070022"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MLS Catches in 2021-2023 Were the Lowest Observed Since 1977 </a:t>
            </a:r>
          </a:p>
        </p:txBody>
      </p:sp>
    </p:spTree>
    <p:extLst>
      <p:ext uri="{BB962C8B-B14F-4D97-AF65-F5344CB8AC3E}">
        <p14:creationId xmlns:p14="http://schemas.microsoft.com/office/powerpoint/2010/main" val="725670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B1F8D3-7DD6-4163-B4F1-FF04C2AA969D}"/>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pic>
        <p:nvPicPr>
          <p:cNvPr id="2" name="Picture 1">
            <a:extLst>
              <a:ext uri="{FF2B5EF4-FFF2-40B4-BE49-F238E27FC236}">
                <a16:creationId xmlns:a16="http://schemas.microsoft.com/office/drawing/2014/main" id="{4849D61F-9475-496F-AAEC-4CB3A0DC1D5C}"/>
              </a:ext>
            </a:extLst>
          </p:cNvPr>
          <p:cNvPicPr>
            <a:picLocks noChangeAspect="1"/>
          </p:cNvPicPr>
          <p:nvPr/>
        </p:nvPicPr>
        <p:blipFill>
          <a:blip r:embed="rId2"/>
          <a:stretch>
            <a:fillRect/>
          </a:stretch>
        </p:blipFill>
        <p:spPr>
          <a:xfrm>
            <a:off x="2617077" y="764305"/>
            <a:ext cx="7032730" cy="5943377"/>
          </a:xfrm>
          <a:prstGeom prst="rect">
            <a:avLst/>
          </a:prstGeom>
        </p:spPr>
      </p:pic>
    </p:spTree>
    <p:extLst>
      <p:ext uri="{BB962C8B-B14F-4D97-AF65-F5344CB8AC3E}">
        <p14:creationId xmlns:p14="http://schemas.microsoft.com/office/powerpoint/2010/main" val="803140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4FD8-F1E2-487E-8C89-4730F25731AE}"/>
              </a:ext>
            </a:extLst>
          </p:cNvPr>
          <p:cNvPicPr>
            <a:picLocks noChangeAspect="1"/>
          </p:cNvPicPr>
          <p:nvPr/>
        </p:nvPicPr>
        <p:blipFill>
          <a:blip r:embed="rId2"/>
          <a:stretch>
            <a:fillRect/>
          </a:stretch>
        </p:blipFill>
        <p:spPr>
          <a:xfrm>
            <a:off x="3358896" y="1110996"/>
            <a:ext cx="5474208" cy="4636008"/>
          </a:xfrm>
          <a:prstGeom prst="rect">
            <a:avLst/>
          </a:prstGeom>
        </p:spPr>
      </p:pic>
      <p:sp>
        <p:nvSpPr>
          <p:cNvPr id="5" name="Title 1">
            <a:extLst>
              <a:ext uri="{FF2B5EF4-FFF2-40B4-BE49-F238E27FC236}">
                <a16:creationId xmlns:a16="http://schemas.microsoft.com/office/drawing/2014/main" id="{1BDD3E14-CF22-4236-8246-47A1B960A8D4}"/>
              </a:ext>
            </a:extLst>
          </p:cNvPr>
          <p:cNvSpPr txBox="1">
            <a:spLocks/>
          </p:cNvSpPr>
          <p:nvPr/>
        </p:nvSpPr>
        <p:spPr>
          <a:xfrm>
            <a:off x="838199" y="28795"/>
            <a:ext cx="105156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What is the Abundance of the 2020 Year Class ?</a:t>
            </a:r>
          </a:p>
        </p:txBody>
      </p:sp>
    </p:spTree>
    <p:extLst>
      <p:ext uri="{BB962C8B-B14F-4D97-AF65-F5344CB8AC3E}">
        <p14:creationId xmlns:p14="http://schemas.microsoft.com/office/powerpoint/2010/main" val="1234524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Taiwanese Catch in 2025-2027 to Fleet Groups</a:t>
            </a:r>
          </a:p>
        </p:txBody>
      </p:sp>
      <p:pic>
        <p:nvPicPr>
          <p:cNvPr id="7" name="Picture 6">
            <a:extLst>
              <a:ext uri="{FF2B5EF4-FFF2-40B4-BE49-F238E27FC236}">
                <a16:creationId xmlns:a16="http://schemas.microsoft.com/office/drawing/2014/main" id="{027D59E2-669C-4329-8149-87239D72201D}"/>
              </a:ext>
            </a:extLst>
          </p:cNvPr>
          <p:cNvPicPr>
            <a:picLocks noChangeAspect="1"/>
          </p:cNvPicPr>
          <p:nvPr/>
        </p:nvPicPr>
        <p:blipFill>
          <a:blip r:embed="rId2"/>
          <a:stretch>
            <a:fillRect/>
          </a:stretch>
        </p:blipFill>
        <p:spPr>
          <a:xfrm>
            <a:off x="3376422" y="964853"/>
            <a:ext cx="5439156" cy="5864352"/>
          </a:xfrm>
          <a:prstGeom prst="rect">
            <a:avLst/>
          </a:prstGeom>
        </p:spPr>
      </p:pic>
    </p:spTree>
    <p:extLst>
      <p:ext uri="{BB962C8B-B14F-4D97-AF65-F5344CB8AC3E}">
        <p14:creationId xmlns:p14="http://schemas.microsoft.com/office/powerpoint/2010/main" val="382476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DD3E14-CF22-4236-8246-47A1B960A8D4}"/>
              </a:ext>
            </a:extLst>
          </p:cNvPr>
          <p:cNvSpPr txBox="1">
            <a:spLocks/>
          </p:cNvSpPr>
          <p:nvPr/>
        </p:nvSpPr>
        <p:spPr>
          <a:xfrm>
            <a:off x="0" y="28795"/>
            <a:ext cx="12192000" cy="51774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t>Apportion Projected Japanese Catch in 2025-2027 to Fleet Groups</a:t>
            </a:r>
          </a:p>
        </p:txBody>
      </p:sp>
      <p:pic>
        <p:nvPicPr>
          <p:cNvPr id="3" name="Picture 2">
            <a:extLst>
              <a:ext uri="{FF2B5EF4-FFF2-40B4-BE49-F238E27FC236}">
                <a16:creationId xmlns:a16="http://schemas.microsoft.com/office/drawing/2014/main" id="{457EF2D6-7C14-4428-BE50-58ED3C5230D5}"/>
              </a:ext>
            </a:extLst>
          </p:cNvPr>
          <p:cNvPicPr>
            <a:picLocks noChangeAspect="1"/>
          </p:cNvPicPr>
          <p:nvPr/>
        </p:nvPicPr>
        <p:blipFill>
          <a:blip r:embed="rId2"/>
          <a:stretch>
            <a:fillRect/>
          </a:stretch>
        </p:blipFill>
        <p:spPr>
          <a:xfrm>
            <a:off x="3134868" y="682752"/>
            <a:ext cx="5922264" cy="6175248"/>
          </a:xfrm>
          <a:prstGeom prst="rect">
            <a:avLst/>
          </a:prstGeom>
        </p:spPr>
      </p:pic>
    </p:spTree>
    <p:extLst>
      <p:ext uri="{BB962C8B-B14F-4D97-AF65-F5344CB8AC3E}">
        <p14:creationId xmlns:p14="http://schemas.microsoft.com/office/powerpoint/2010/main" val="4211500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A9BD18-74E2-466B-B059-FCF5305EFC4F}"/>
              </a:ext>
            </a:extLst>
          </p:cNvPr>
          <p:cNvPicPr>
            <a:picLocks noChangeAspect="1"/>
          </p:cNvPicPr>
          <p:nvPr/>
        </p:nvPicPr>
        <p:blipFill>
          <a:blip r:embed="rId2"/>
          <a:stretch>
            <a:fillRect/>
          </a:stretch>
        </p:blipFill>
        <p:spPr>
          <a:xfrm>
            <a:off x="6999890" y="1405257"/>
            <a:ext cx="5192109" cy="4569873"/>
          </a:xfrm>
          <a:prstGeom prst="rect">
            <a:avLst/>
          </a:prstGeom>
        </p:spPr>
      </p:pic>
      <p:pic>
        <p:nvPicPr>
          <p:cNvPr id="7" name="Picture 6">
            <a:extLst>
              <a:ext uri="{FF2B5EF4-FFF2-40B4-BE49-F238E27FC236}">
                <a16:creationId xmlns:a16="http://schemas.microsoft.com/office/drawing/2014/main" id="{FA211A78-C4F3-433E-AB20-00BEB1D279C1}"/>
              </a:ext>
            </a:extLst>
          </p:cNvPr>
          <p:cNvPicPr>
            <a:picLocks noChangeAspect="1"/>
          </p:cNvPicPr>
          <p:nvPr/>
        </p:nvPicPr>
        <p:blipFill>
          <a:blip r:embed="rId3"/>
          <a:stretch>
            <a:fillRect/>
          </a:stretch>
        </p:blipFill>
        <p:spPr>
          <a:xfrm>
            <a:off x="0" y="714704"/>
            <a:ext cx="6999890" cy="3974904"/>
          </a:xfrm>
          <a:prstGeom prst="rect">
            <a:avLst/>
          </a:prstGeom>
        </p:spPr>
      </p:pic>
    </p:spTree>
    <p:extLst>
      <p:ext uri="{BB962C8B-B14F-4D97-AF65-F5344CB8AC3E}">
        <p14:creationId xmlns:p14="http://schemas.microsoft.com/office/powerpoint/2010/main" val="1929823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6B2DB9-54ED-462C-A1B1-2BD7E3748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633043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33B37E-7AA2-4F63-892D-46C1E765F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2327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AF6C84-C43D-4F27-BB95-DB863F83D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8936257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5F1C88-2CFC-4CFF-9AE9-A74C9A4E9E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48592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BE467-6AB0-4D7E-AF0F-E46E4F3C3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7D72D1C0-92E5-48F7-A54B-6E1E9E11E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458542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5E1EA-8C2F-4FCF-8597-6CF2F5CCA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585162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61416-53D2-4435-81BF-414A383D7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61407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313C70-E9D8-4380-9DDC-9A0510FABF2F}"/>
              </a:ext>
            </a:extLst>
          </p:cNvPr>
          <p:cNvPicPr>
            <a:picLocks noChangeAspect="1"/>
          </p:cNvPicPr>
          <p:nvPr/>
        </p:nvPicPr>
        <p:blipFill>
          <a:blip r:embed="rId2"/>
          <a:stretch>
            <a:fillRect/>
          </a:stretch>
        </p:blipFill>
        <p:spPr>
          <a:xfrm>
            <a:off x="12634" y="672662"/>
            <a:ext cx="7033152" cy="4014951"/>
          </a:xfrm>
          <a:prstGeom prst="rect">
            <a:avLst/>
          </a:prstGeom>
        </p:spPr>
      </p:pic>
      <p:pic>
        <p:nvPicPr>
          <p:cNvPr id="3" name="Picture 2">
            <a:extLst>
              <a:ext uri="{FF2B5EF4-FFF2-40B4-BE49-F238E27FC236}">
                <a16:creationId xmlns:a16="http://schemas.microsoft.com/office/drawing/2014/main" id="{AB63EFB0-8B1E-4379-BECF-02D51699BBC6}"/>
              </a:ext>
            </a:extLst>
          </p:cNvPr>
          <p:cNvPicPr>
            <a:picLocks noChangeAspect="1"/>
          </p:cNvPicPr>
          <p:nvPr/>
        </p:nvPicPr>
        <p:blipFill>
          <a:blip r:embed="rId3"/>
          <a:stretch>
            <a:fillRect/>
          </a:stretch>
        </p:blipFill>
        <p:spPr>
          <a:xfrm>
            <a:off x="7033152" y="1398356"/>
            <a:ext cx="5146214" cy="4529477"/>
          </a:xfrm>
          <a:prstGeom prst="rect">
            <a:avLst/>
          </a:prstGeom>
        </p:spPr>
      </p:pic>
    </p:spTree>
    <p:extLst>
      <p:ext uri="{BB962C8B-B14F-4D97-AF65-F5344CB8AC3E}">
        <p14:creationId xmlns:p14="http://schemas.microsoft.com/office/powerpoint/2010/main" val="40729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5E24EF-27B8-4188-81E7-E6B8221A19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4191796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5E1F26-34AF-44D5-91DA-85F5C1B30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31947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DDF58E6-EE7C-42BC-AE1A-52657CAF9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223912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5EAE8A-BA13-473D-9DF5-51A8837E0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8496048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53F1BE-A9AF-4DDC-ABA9-161E46419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337347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4A2D3D-AA9B-478F-BF0A-1DB4807037F7}"/>
              </a:ext>
            </a:extLst>
          </p:cNvPr>
          <p:cNvPicPr>
            <a:picLocks noChangeAspect="1"/>
          </p:cNvPicPr>
          <p:nvPr/>
        </p:nvPicPr>
        <p:blipFill>
          <a:blip r:embed="rId2"/>
          <a:stretch>
            <a:fillRect/>
          </a:stretch>
        </p:blipFill>
        <p:spPr>
          <a:xfrm>
            <a:off x="12634" y="679512"/>
            <a:ext cx="7020917" cy="4018612"/>
          </a:xfrm>
          <a:prstGeom prst="rect">
            <a:avLst/>
          </a:prstGeom>
        </p:spPr>
      </p:pic>
      <p:pic>
        <p:nvPicPr>
          <p:cNvPr id="5" name="Picture 4">
            <a:extLst>
              <a:ext uri="{FF2B5EF4-FFF2-40B4-BE49-F238E27FC236}">
                <a16:creationId xmlns:a16="http://schemas.microsoft.com/office/drawing/2014/main" id="{D6ADEE82-6307-429E-B0DF-E48920E40773}"/>
              </a:ext>
            </a:extLst>
          </p:cNvPr>
          <p:cNvPicPr>
            <a:picLocks noChangeAspect="1"/>
          </p:cNvPicPr>
          <p:nvPr/>
        </p:nvPicPr>
        <p:blipFill>
          <a:blip r:embed="rId3"/>
          <a:stretch>
            <a:fillRect/>
          </a:stretch>
        </p:blipFill>
        <p:spPr>
          <a:xfrm>
            <a:off x="7033551" y="1406555"/>
            <a:ext cx="5160781" cy="4542299"/>
          </a:xfrm>
          <a:prstGeom prst="rect">
            <a:avLst/>
          </a:prstGeom>
        </p:spPr>
      </p:pic>
    </p:spTree>
    <p:extLst>
      <p:ext uri="{BB962C8B-B14F-4D97-AF65-F5344CB8AC3E}">
        <p14:creationId xmlns:p14="http://schemas.microsoft.com/office/powerpoint/2010/main" val="331025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84C8B-A0DC-4C16-B17A-A3F43E03DF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94476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DA1954-73AB-4E02-B1E8-DB8932361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201120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64529E-5EC9-4C06-8DA7-B6E3DAA7D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17623446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327EF-95B5-4D63-A7E4-A5C2894B3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9310932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A62858-0229-49E5-AB6C-DBEAE1EFA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525137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DF0F8-D838-4750-BA3E-ABF7D0A602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3148290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1745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272FD61-77D9-4A4B-8691-D3A889E04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473" y="712592"/>
            <a:ext cx="6325054" cy="6145407"/>
          </a:xfrm>
          <a:prstGeom prst="rect">
            <a:avLst/>
          </a:prstGeom>
        </p:spPr>
      </p:pic>
    </p:spTree>
    <p:extLst>
      <p:ext uri="{BB962C8B-B14F-4D97-AF65-F5344CB8AC3E}">
        <p14:creationId xmlns:p14="http://schemas.microsoft.com/office/powerpoint/2010/main" val="36385551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964F877C-5450-4B03-A382-DCF90E17D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0" y="714703"/>
            <a:ext cx="6758748" cy="6143296"/>
          </a:xfrm>
          <a:prstGeom prst="rect">
            <a:avLst/>
          </a:prstGeom>
        </p:spPr>
      </p:pic>
    </p:spTree>
    <p:extLst>
      <p:ext uri="{BB962C8B-B14F-4D97-AF65-F5344CB8AC3E}">
        <p14:creationId xmlns:p14="http://schemas.microsoft.com/office/powerpoint/2010/main" val="1281724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5" name="Picture 4">
            <a:extLst>
              <a:ext uri="{FF2B5EF4-FFF2-40B4-BE49-F238E27FC236}">
                <a16:creationId xmlns:a16="http://schemas.microsoft.com/office/drawing/2014/main" id="{CB327DC8-7700-40E5-A1F5-36A722B75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806" y="714705"/>
            <a:ext cx="8521153" cy="6143295"/>
          </a:xfrm>
          <a:prstGeom prst="rect">
            <a:avLst/>
          </a:prstGeom>
        </p:spPr>
      </p:pic>
    </p:spTree>
    <p:extLst>
      <p:ext uri="{BB962C8B-B14F-4D97-AF65-F5344CB8AC3E}">
        <p14:creationId xmlns:p14="http://schemas.microsoft.com/office/powerpoint/2010/main" val="1166851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2001740E-17D6-4970-8F96-554ECCB1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3865" y="714703"/>
            <a:ext cx="6303664" cy="6279189"/>
          </a:xfrm>
          <a:prstGeom prst="rect">
            <a:avLst/>
          </a:prstGeom>
        </p:spPr>
      </p:pic>
    </p:spTree>
    <p:extLst>
      <p:ext uri="{BB962C8B-B14F-4D97-AF65-F5344CB8AC3E}">
        <p14:creationId xmlns:p14="http://schemas.microsoft.com/office/powerpoint/2010/main" val="3078111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DFE642F4-A00F-488B-858F-C68E585A0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4693" y="851630"/>
            <a:ext cx="5100159" cy="6006369"/>
          </a:xfrm>
          <a:prstGeom prst="rect">
            <a:avLst/>
          </a:prstGeom>
        </p:spPr>
      </p:pic>
    </p:spTree>
    <p:extLst>
      <p:ext uri="{BB962C8B-B14F-4D97-AF65-F5344CB8AC3E}">
        <p14:creationId xmlns:p14="http://schemas.microsoft.com/office/powerpoint/2010/main" val="18256213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EAF34-7519-442F-8E23-1715A0C165F8}"/>
              </a:ext>
            </a:extLst>
          </p:cNvPr>
          <p:cNvSpPr>
            <a:spLocks noGrp="1"/>
          </p:cNvSpPr>
          <p:nvPr>
            <p:ph type="title"/>
          </p:nvPr>
        </p:nvSpPr>
        <p:spPr>
          <a:xfrm>
            <a:off x="630620" y="1"/>
            <a:ext cx="10909739" cy="714702"/>
          </a:xfrm>
        </p:spPr>
        <p:txBody>
          <a:bodyPr>
            <a:normAutofit fontScale="90000"/>
          </a:bodyPr>
          <a:lstStyle/>
          <a:p>
            <a:pPr algn="ctr"/>
            <a:r>
              <a:rPr lang="en-US" sz="3600" dirty="0"/>
              <a:t>Fleet Groups with Identical Fishery Selectivity for Striped Marlin</a:t>
            </a:r>
          </a:p>
        </p:txBody>
      </p:sp>
      <p:pic>
        <p:nvPicPr>
          <p:cNvPr id="4" name="Picture 3">
            <a:extLst>
              <a:ext uri="{FF2B5EF4-FFF2-40B4-BE49-F238E27FC236}">
                <a16:creationId xmlns:a16="http://schemas.microsoft.com/office/drawing/2014/main" id="{F4CF1743-6A4F-44AB-AA27-7F8FC70EA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158" y="631732"/>
            <a:ext cx="5071022" cy="6226268"/>
          </a:xfrm>
          <a:prstGeom prst="rect">
            <a:avLst/>
          </a:prstGeom>
        </p:spPr>
      </p:pic>
    </p:spTree>
    <p:extLst>
      <p:ext uri="{BB962C8B-B14F-4D97-AF65-F5344CB8AC3E}">
        <p14:creationId xmlns:p14="http://schemas.microsoft.com/office/powerpoint/2010/main" val="42278446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FBA505-0A1C-4571-887B-E2147BA11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pic>
        <p:nvPicPr>
          <p:cNvPr id="5" name="Picture 4">
            <a:extLst>
              <a:ext uri="{FF2B5EF4-FFF2-40B4-BE49-F238E27FC236}">
                <a16:creationId xmlns:a16="http://schemas.microsoft.com/office/drawing/2014/main" id="{4C1A08A5-0309-43EF-8BA8-7F6255B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0387720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C551A-32A5-4DD3-A153-EDFD9203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392" y="685794"/>
            <a:ext cx="7315215" cy="5486411"/>
          </a:xfrm>
          <a:prstGeom prst="rect">
            <a:avLst/>
          </a:prstGeom>
        </p:spPr>
      </p:pic>
    </p:spTree>
    <p:extLst>
      <p:ext uri="{BB962C8B-B14F-4D97-AF65-F5344CB8AC3E}">
        <p14:creationId xmlns:p14="http://schemas.microsoft.com/office/powerpoint/2010/main" val="21952108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AE2EC8-007F-4B1C-80FC-4574CD9CA437}"/>
              </a:ext>
            </a:extLst>
          </p:cNvPr>
          <p:cNvPicPr>
            <a:picLocks noChangeAspect="1"/>
          </p:cNvPicPr>
          <p:nvPr/>
        </p:nvPicPr>
        <p:blipFill>
          <a:blip r:embed="rId2"/>
          <a:stretch>
            <a:fillRect/>
          </a:stretch>
        </p:blipFill>
        <p:spPr>
          <a:xfrm>
            <a:off x="2764698" y="714702"/>
            <a:ext cx="6652570" cy="5465381"/>
          </a:xfrm>
          <a:prstGeom prst="rect">
            <a:avLst/>
          </a:prstGeom>
        </p:spPr>
      </p:pic>
    </p:spTree>
    <p:extLst>
      <p:ext uri="{BB962C8B-B14F-4D97-AF65-F5344CB8AC3E}">
        <p14:creationId xmlns:p14="http://schemas.microsoft.com/office/powerpoint/2010/main" val="1369271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1624</TotalTime>
  <Words>974</Words>
  <Application>Microsoft Office PowerPoint</Application>
  <PresentationFormat>Widescreen</PresentationFormat>
  <Paragraphs>174</Paragraphs>
  <Slides>58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WCNPO Striped Marlin Rebuilding Scenarios Revised Projections for CMM 24-06</vt:lpstr>
      <vt:lpstr>Open Science for BILLWG</vt:lpstr>
      <vt:lpstr>Introduction</vt:lpstr>
      <vt:lpstr>Rebuilding Target</vt:lpstr>
      <vt:lpstr>CMM 2024-06 Revision to CMM 2010-01 for NP MLS</vt:lpstr>
      <vt:lpstr>Scenario 1. Set CMM 2024-06 Catch Limits at 2,400 mt</vt:lpstr>
      <vt:lpstr>Scenario 2. Set CMM 2024-06 Catch Limits with 2025 Carryover</vt:lpstr>
      <vt:lpstr>Scenario 3. Set CMM 2024-06 Catch Limits and 2025-2026 Carryover</vt:lpstr>
      <vt:lpstr>Apportion MLS Catch to Fleet Groups from the 2023 Assessment</vt:lpstr>
      <vt:lpstr>Japanese Longline Quarter 2 – Area 1 Fleet Group 3</vt:lpstr>
      <vt:lpstr>Hawaii Longline  Fleet Group 8</vt:lpstr>
      <vt:lpstr>Taiwanese Longline  Fleet Group 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Fleet Groups with Identical Fishery Selectivity for Striped Marlin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Brodziak</dc:creator>
  <cp:lastModifiedBy>Jon Brodziak</cp:lastModifiedBy>
  <cp:revision>107</cp:revision>
  <cp:lastPrinted>2025-04-01T02:04:17Z</cp:lastPrinted>
  <dcterms:created xsi:type="dcterms:W3CDTF">2025-03-12T03:22:33Z</dcterms:created>
  <dcterms:modified xsi:type="dcterms:W3CDTF">2025-04-10T03:23:52Z</dcterms:modified>
</cp:coreProperties>
</file>