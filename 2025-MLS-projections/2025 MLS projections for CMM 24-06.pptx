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vml" ContentType="application/vnd.openxmlformats-officedocument.vmlDrawi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8"/>
  </p:notesMasterIdLst>
  <p:sldIdLst>
    <p:sldId id="716" r:id="rId2"/>
    <p:sldId id="715" r:id="rId3"/>
    <p:sldId id="643" r:id="rId4"/>
    <p:sldId id="644" r:id="rId5"/>
    <p:sldId id="647" r:id="rId6"/>
    <p:sldId id="718" r:id="rId7"/>
    <p:sldId id="318" r:id="rId8"/>
    <p:sldId id="257" r:id="rId9"/>
    <p:sldId id="258" r:id="rId10"/>
    <p:sldId id="259" r:id="rId11"/>
    <p:sldId id="717" r:id="rId12"/>
    <p:sldId id="646" r:id="rId13"/>
    <p:sldId id="720" r:id="rId14"/>
    <p:sldId id="648" r:id="rId15"/>
    <p:sldId id="722" r:id="rId16"/>
    <p:sldId id="290" r:id="rId17"/>
    <p:sldId id="296" r:id="rId18"/>
    <p:sldId id="295" r:id="rId19"/>
    <p:sldId id="719" r:id="rId20"/>
    <p:sldId id="684" r:id="rId21"/>
    <p:sldId id="685" r:id="rId22"/>
    <p:sldId id="306" r:id="rId23"/>
    <p:sldId id="324" r:id="rId24"/>
    <p:sldId id="325" r:id="rId25"/>
    <p:sldId id="674" r:id="rId26"/>
    <p:sldId id="676" r:id="rId27"/>
    <p:sldId id="678" r:id="rId28"/>
    <p:sldId id="679" r:id="rId29"/>
    <p:sldId id="682" r:id="rId30"/>
    <p:sldId id="321" r:id="rId31"/>
    <p:sldId id="299" r:id="rId32"/>
    <p:sldId id="298" r:id="rId33"/>
    <p:sldId id="319" r:id="rId34"/>
    <p:sldId id="300" r:id="rId35"/>
    <p:sldId id="297" r:id="rId36"/>
    <p:sldId id="305" r:id="rId37"/>
    <p:sldId id="302" r:id="rId38"/>
    <p:sldId id="308" r:id="rId39"/>
    <p:sldId id="309" r:id="rId40"/>
    <p:sldId id="303" r:id="rId41"/>
    <p:sldId id="304" r:id="rId42"/>
    <p:sldId id="683" r:id="rId43"/>
    <p:sldId id="310" r:id="rId44"/>
    <p:sldId id="315" r:id="rId45"/>
    <p:sldId id="316" r:id="rId46"/>
    <p:sldId id="311" r:id="rId47"/>
    <p:sldId id="312" r:id="rId48"/>
    <p:sldId id="313" r:id="rId49"/>
    <p:sldId id="721" r:id="rId50"/>
    <p:sldId id="672" r:id="rId51"/>
    <p:sldId id="680" r:id="rId52"/>
    <p:sldId id="673" r:id="rId53"/>
    <p:sldId id="671" r:id="rId54"/>
    <p:sldId id="279" r:id="rId55"/>
    <p:sldId id="289" r:id="rId56"/>
    <p:sldId id="291" r:id="rId57"/>
    <p:sldId id="292" r:id="rId58"/>
    <p:sldId id="293" r:id="rId59"/>
    <p:sldId id="294" r:id="rId60"/>
    <p:sldId id="681" r:id="rId61"/>
    <p:sldId id="307" r:id="rId62"/>
    <p:sldId id="314" r:id="rId63"/>
    <p:sldId id="320" r:id="rId64"/>
    <p:sldId id="670" r:id="rId65"/>
    <p:sldId id="675" r:id="rId66"/>
    <p:sldId id="677" r:id="rId67"/>
  </p:sldIdLst>
  <p:sldSz cx="12192000" cy="6858000"/>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4"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5" autoAdjust="0"/>
    <p:restoredTop sz="94660"/>
  </p:normalViewPr>
  <p:slideViewPr>
    <p:cSldViewPr snapToGrid="0" showGuides="1">
      <p:cViewPr varScale="1">
        <p:scale>
          <a:sx n="52" d="100"/>
          <a:sy n="52" d="100"/>
        </p:scale>
        <p:origin x="751" y="24"/>
      </p:cViewPr>
      <p:guideLst>
        <p:guide orient="horz" pos="2184"/>
        <p:guide pos="3840"/>
      </p:guideLst>
    </p:cSldViewPr>
  </p:slideViewPr>
  <p:notesTextViewPr>
    <p:cViewPr>
      <p:scale>
        <a:sx n="1" d="1"/>
        <a:sy n="1" d="1"/>
      </p:scale>
      <p:origin x="0" y="0"/>
    </p:cViewPr>
  </p:notesTextViewPr>
  <p:sorterViewPr>
    <p:cViewPr>
      <p:scale>
        <a:sx n="42" d="100"/>
        <a:sy n="42" d="100"/>
      </p:scale>
      <p:origin x="0" y="-3007"/>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5.e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43343" cy="467072"/>
          </a:xfrm>
          <a:prstGeom prst="rect">
            <a:avLst/>
          </a:prstGeom>
        </p:spPr>
        <p:txBody>
          <a:bodyPr vert="horz" lIns="93324" tIns="46662" rIns="93324" bIns="46662" rtlCol="0"/>
          <a:lstStyle>
            <a:lvl1pPr algn="l">
              <a:defRPr sz="1200"/>
            </a:lvl1pPr>
          </a:lstStyle>
          <a:p>
            <a:endParaRPr lang="en-US"/>
          </a:p>
        </p:txBody>
      </p:sp>
      <p:sp>
        <p:nvSpPr>
          <p:cNvPr id="3" name="Date Placeholder 2"/>
          <p:cNvSpPr>
            <a:spLocks noGrp="1"/>
          </p:cNvSpPr>
          <p:nvPr>
            <p:ph type="dt" idx="1"/>
          </p:nvPr>
        </p:nvSpPr>
        <p:spPr>
          <a:xfrm>
            <a:off x="3978132" y="0"/>
            <a:ext cx="3043343" cy="467072"/>
          </a:xfrm>
          <a:prstGeom prst="rect">
            <a:avLst/>
          </a:prstGeom>
        </p:spPr>
        <p:txBody>
          <a:bodyPr vert="horz" lIns="93324" tIns="46662" rIns="93324" bIns="46662" rtlCol="0"/>
          <a:lstStyle>
            <a:lvl1pPr algn="r">
              <a:defRPr sz="1200"/>
            </a:lvl1pPr>
          </a:lstStyle>
          <a:p>
            <a:fld id="{BC031577-5721-4099-A8DD-A5FBA8B6DDB0}" type="datetimeFigureOut">
              <a:rPr lang="en-US" smtClean="0"/>
              <a:t>5/8/2025</a:t>
            </a:fld>
            <a:endParaRPr lang="en-US"/>
          </a:p>
        </p:txBody>
      </p:sp>
      <p:sp>
        <p:nvSpPr>
          <p:cNvPr id="4" name="Slide Image Placeholder 3"/>
          <p:cNvSpPr>
            <a:spLocks noGrp="1" noRot="1" noChangeAspect="1"/>
          </p:cNvSpPr>
          <p:nvPr>
            <p:ph type="sldImg" idx="2"/>
          </p:nvPr>
        </p:nvSpPr>
        <p:spPr>
          <a:xfrm>
            <a:off x="719138" y="1163638"/>
            <a:ext cx="5584825" cy="3141662"/>
          </a:xfrm>
          <a:prstGeom prst="rect">
            <a:avLst/>
          </a:prstGeom>
          <a:noFill/>
          <a:ln w="12700">
            <a:solidFill>
              <a:prstClr val="black"/>
            </a:solidFill>
          </a:ln>
        </p:spPr>
        <p:txBody>
          <a:bodyPr vert="horz" lIns="93324" tIns="46662" rIns="93324" bIns="46662" rtlCol="0" anchor="ctr"/>
          <a:lstStyle/>
          <a:p>
            <a:endParaRPr lang="en-US"/>
          </a:p>
        </p:txBody>
      </p:sp>
      <p:sp>
        <p:nvSpPr>
          <p:cNvPr id="5" name="Notes Placeholder 4"/>
          <p:cNvSpPr>
            <a:spLocks noGrp="1"/>
          </p:cNvSpPr>
          <p:nvPr>
            <p:ph type="body" sz="quarter" idx="3"/>
          </p:nvPr>
        </p:nvSpPr>
        <p:spPr>
          <a:xfrm>
            <a:off x="702310" y="4480004"/>
            <a:ext cx="5618480" cy="3665458"/>
          </a:xfrm>
          <a:prstGeom prst="rect">
            <a:avLst/>
          </a:prstGeom>
        </p:spPr>
        <p:txBody>
          <a:bodyPr vert="horz" lIns="93324" tIns="46662" rIns="93324" bIns="46662"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42030"/>
            <a:ext cx="3043343" cy="467071"/>
          </a:xfrm>
          <a:prstGeom prst="rect">
            <a:avLst/>
          </a:prstGeom>
        </p:spPr>
        <p:txBody>
          <a:bodyPr vert="horz" lIns="93324" tIns="46662" rIns="93324" bIns="46662" rtlCol="0" anchor="b"/>
          <a:lstStyle>
            <a:lvl1pPr algn="l">
              <a:defRPr sz="1200"/>
            </a:lvl1pPr>
          </a:lstStyle>
          <a:p>
            <a:endParaRPr lang="en-US"/>
          </a:p>
        </p:txBody>
      </p:sp>
      <p:sp>
        <p:nvSpPr>
          <p:cNvPr id="7" name="Slide Number Placeholder 6"/>
          <p:cNvSpPr>
            <a:spLocks noGrp="1"/>
          </p:cNvSpPr>
          <p:nvPr>
            <p:ph type="sldNum" sz="quarter" idx="5"/>
          </p:nvPr>
        </p:nvSpPr>
        <p:spPr>
          <a:xfrm>
            <a:off x="3978132" y="8842030"/>
            <a:ext cx="3043343" cy="467071"/>
          </a:xfrm>
          <a:prstGeom prst="rect">
            <a:avLst/>
          </a:prstGeom>
        </p:spPr>
        <p:txBody>
          <a:bodyPr vert="horz" lIns="93324" tIns="46662" rIns="93324" bIns="46662" rtlCol="0" anchor="b"/>
          <a:lstStyle>
            <a:lvl1pPr algn="r">
              <a:defRPr sz="1200"/>
            </a:lvl1pPr>
          </a:lstStyle>
          <a:p>
            <a:fld id="{E09054BB-462B-4B97-BD91-75B19DEDED3E}" type="slidenum">
              <a:rPr lang="en-US" smtClean="0"/>
              <a:t>‹#›</a:t>
            </a:fld>
            <a:endParaRPr lang="en-US"/>
          </a:p>
        </p:txBody>
      </p:sp>
    </p:spTree>
    <p:extLst>
      <p:ext uri="{BB962C8B-B14F-4D97-AF65-F5344CB8AC3E}">
        <p14:creationId xmlns:p14="http://schemas.microsoft.com/office/powerpoint/2010/main" val="40461757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 on </a:t>
            </a:r>
          </a:p>
        </p:txBody>
      </p:sp>
      <p:sp>
        <p:nvSpPr>
          <p:cNvPr id="4" name="Slide Number Placeholder 3"/>
          <p:cNvSpPr>
            <a:spLocks noGrp="1"/>
          </p:cNvSpPr>
          <p:nvPr>
            <p:ph type="sldNum" sz="quarter" idx="5"/>
          </p:nvPr>
        </p:nvSpPr>
        <p:spPr/>
        <p:txBody>
          <a:bodyPr/>
          <a:lstStyle/>
          <a:p>
            <a:fld id="{C2314112-0B64-44ED-AA6C-403D967798B7}" type="slidenum">
              <a:rPr lang="en-US" smtClean="0"/>
              <a:t>1</a:t>
            </a:fld>
            <a:endParaRPr lang="en-US"/>
          </a:p>
        </p:txBody>
      </p:sp>
    </p:spTree>
    <p:extLst>
      <p:ext uri="{BB962C8B-B14F-4D97-AF65-F5344CB8AC3E}">
        <p14:creationId xmlns:p14="http://schemas.microsoft.com/office/powerpoint/2010/main" val="39681596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407988" y="698500"/>
            <a:ext cx="6207125" cy="3490913"/>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702310" y="4421823"/>
            <a:ext cx="5618480" cy="4189095"/>
          </a:xfrm>
          <a:prstGeom prst="rect">
            <a:avLst/>
          </a:prstGeom>
        </p:spPr>
        <p:txBody>
          <a:bodyPr spcFirstLastPara="1" wrap="square" lIns="93308" tIns="93308" rIns="93308" bIns="93308" anchor="t" anchorCtr="0">
            <a:noAutofit/>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324be3cb2ee_0_1:notes"/>
          <p:cNvSpPr>
            <a:spLocks noGrp="1" noRot="1" noChangeAspect="1"/>
          </p:cNvSpPr>
          <p:nvPr>
            <p:ph type="sldImg" idx="2"/>
          </p:nvPr>
        </p:nvSpPr>
        <p:spPr>
          <a:xfrm>
            <a:off x="407988" y="698500"/>
            <a:ext cx="6207125" cy="3490913"/>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 name="Google Shape;59;g324be3cb2ee_0_1:notes"/>
          <p:cNvSpPr txBox="1">
            <a:spLocks noGrp="1"/>
          </p:cNvSpPr>
          <p:nvPr>
            <p:ph type="body" idx="1"/>
          </p:nvPr>
        </p:nvSpPr>
        <p:spPr>
          <a:xfrm>
            <a:off x="702310" y="4421823"/>
            <a:ext cx="5618480" cy="4189095"/>
          </a:xfrm>
          <a:prstGeom prst="rect">
            <a:avLst/>
          </a:prstGeom>
        </p:spPr>
        <p:txBody>
          <a:bodyPr spcFirstLastPara="1" wrap="square" lIns="93308" tIns="93308" rIns="93308" bIns="93308" anchor="t" anchorCtr="0">
            <a:noAutofit/>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24be3cb2ee_0_8:notes"/>
          <p:cNvSpPr>
            <a:spLocks noGrp="1" noRot="1" noChangeAspect="1"/>
          </p:cNvSpPr>
          <p:nvPr>
            <p:ph type="sldImg" idx="2"/>
          </p:nvPr>
        </p:nvSpPr>
        <p:spPr>
          <a:xfrm>
            <a:off x="407988" y="698500"/>
            <a:ext cx="6207125" cy="3490913"/>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24be3cb2ee_0_8:notes"/>
          <p:cNvSpPr txBox="1">
            <a:spLocks noGrp="1"/>
          </p:cNvSpPr>
          <p:nvPr>
            <p:ph type="body" idx="1"/>
          </p:nvPr>
        </p:nvSpPr>
        <p:spPr>
          <a:xfrm>
            <a:off x="702310" y="4421823"/>
            <a:ext cx="5618480" cy="4189095"/>
          </a:xfrm>
          <a:prstGeom prst="rect">
            <a:avLst/>
          </a:prstGeom>
        </p:spPr>
        <p:txBody>
          <a:bodyPr spcFirstLastPara="1" wrap="square" lIns="93308" tIns="93308" rIns="93308" bIns="93308" anchor="t" anchorCtr="0">
            <a:noAutofit/>
          </a:bodyPr>
          <a:lstStyle/>
          <a:p>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g324be3cb2ee_0_14:notes"/>
          <p:cNvSpPr>
            <a:spLocks noGrp="1" noRot="1" noChangeAspect="1"/>
          </p:cNvSpPr>
          <p:nvPr>
            <p:ph type="sldImg" idx="2"/>
          </p:nvPr>
        </p:nvSpPr>
        <p:spPr>
          <a:xfrm>
            <a:off x="407988" y="698500"/>
            <a:ext cx="6207125" cy="3490913"/>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 name="Google Shape;73;g324be3cb2ee_0_14:notes"/>
          <p:cNvSpPr txBox="1">
            <a:spLocks noGrp="1"/>
          </p:cNvSpPr>
          <p:nvPr>
            <p:ph type="body" idx="1"/>
          </p:nvPr>
        </p:nvSpPr>
        <p:spPr>
          <a:xfrm>
            <a:off x="702310" y="4421823"/>
            <a:ext cx="5618480" cy="4189095"/>
          </a:xfrm>
          <a:prstGeom prst="rect">
            <a:avLst/>
          </a:prstGeom>
        </p:spPr>
        <p:txBody>
          <a:bodyPr spcFirstLastPara="1" wrap="square" lIns="93308" tIns="93308" rIns="93308" bIns="93308" anchor="t" anchorCtr="0">
            <a:noAutofit/>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99B00-7547-4792-A81C-25F15AE8A7D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3BED56E-61C4-45EE-9C06-0C24E410FC2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3B5DD01-1CBE-48E7-9ED9-50BDD8781D75}"/>
              </a:ext>
            </a:extLst>
          </p:cNvPr>
          <p:cNvSpPr>
            <a:spLocks noGrp="1"/>
          </p:cNvSpPr>
          <p:nvPr>
            <p:ph type="dt" sz="half" idx="10"/>
          </p:nvPr>
        </p:nvSpPr>
        <p:spPr/>
        <p:txBody>
          <a:bodyPr/>
          <a:lstStyle/>
          <a:p>
            <a:fld id="{2F4D5645-23AA-4DCF-893C-4CB75AE73D5B}" type="datetimeFigureOut">
              <a:rPr lang="en-US" smtClean="0"/>
              <a:t>5/8/2025</a:t>
            </a:fld>
            <a:endParaRPr lang="en-US"/>
          </a:p>
        </p:txBody>
      </p:sp>
      <p:sp>
        <p:nvSpPr>
          <p:cNvPr id="5" name="Footer Placeholder 4">
            <a:extLst>
              <a:ext uri="{FF2B5EF4-FFF2-40B4-BE49-F238E27FC236}">
                <a16:creationId xmlns:a16="http://schemas.microsoft.com/office/drawing/2014/main" id="{BC72D369-EAC0-4F21-9FF0-654FB290CB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DDB676-CE33-4593-9FFC-8C07CF9A8179}"/>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31862154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DF018-18F0-48EA-AD1A-97675E4767A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2587D3B-E804-47ED-88BB-092661E2F74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B4206B-8C25-4360-8A85-7540149DAE75}"/>
              </a:ext>
            </a:extLst>
          </p:cNvPr>
          <p:cNvSpPr>
            <a:spLocks noGrp="1"/>
          </p:cNvSpPr>
          <p:nvPr>
            <p:ph type="dt" sz="half" idx="10"/>
          </p:nvPr>
        </p:nvSpPr>
        <p:spPr/>
        <p:txBody>
          <a:bodyPr/>
          <a:lstStyle/>
          <a:p>
            <a:fld id="{2F4D5645-23AA-4DCF-893C-4CB75AE73D5B}" type="datetimeFigureOut">
              <a:rPr lang="en-US" smtClean="0"/>
              <a:t>5/8/2025</a:t>
            </a:fld>
            <a:endParaRPr lang="en-US"/>
          </a:p>
        </p:txBody>
      </p:sp>
      <p:sp>
        <p:nvSpPr>
          <p:cNvPr id="5" name="Footer Placeholder 4">
            <a:extLst>
              <a:ext uri="{FF2B5EF4-FFF2-40B4-BE49-F238E27FC236}">
                <a16:creationId xmlns:a16="http://schemas.microsoft.com/office/drawing/2014/main" id="{AA159549-6165-46A4-8E57-CD47DB442B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C36106-2642-429E-9D2A-C3084F173282}"/>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4013159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722011-7EE7-43E0-ABB6-BD75CAD002C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2D1CF69-B52A-47E0-B418-1DC767AE66E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7A99CEC-3358-4B09-AFA6-B7DFD07E7FE9}"/>
              </a:ext>
            </a:extLst>
          </p:cNvPr>
          <p:cNvSpPr>
            <a:spLocks noGrp="1"/>
          </p:cNvSpPr>
          <p:nvPr>
            <p:ph type="dt" sz="half" idx="10"/>
          </p:nvPr>
        </p:nvSpPr>
        <p:spPr/>
        <p:txBody>
          <a:bodyPr/>
          <a:lstStyle/>
          <a:p>
            <a:fld id="{2F4D5645-23AA-4DCF-893C-4CB75AE73D5B}" type="datetimeFigureOut">
              <a:rPr lang="en-US" smtClean="0"/>
              <a:t>5/8/2025</a:t>
            </a:fld>
            <a:endParaRPr lang="en-US"/>
          </a:p>
        </p:txBody>
      </p:sp>
      <p:sp>
        <p:nvSpPr>
          <p:cNvPr id="5" name="Footer Placeholder 4">
            <a:extLst>
              <a:ext uri="{FF2B5EF4-FFF2-40B4-BE49-F238E27FC236}">
                <a16:creationId xmlns:a16="http://schemas.microsoft.com/office/drawing/2014/main" id="{259970E1-C59E-4CB0-8B28-D0DBB38371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4B04582-5D85-40DD-B001-F892B2BF4C62}"/>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24803150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5E79FF-74E4-416A-872F-E479E90BB2A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14CBD2A-4848-464F-BAB4-FDD90920239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6F47ED0-4868-477A-AEC6-293E4B2BAAD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A2858BD-EF64-469E-BD4F-C0CA14FA5151}"/>
              </a:ext>
            </a:extLst>
          </p:cNvPr>
          <p:cNvSpPr>
            <a:spLocks noGrp="1"/>
          </p:cNvSpPr>
          <p:nvPr>
            <p:ph type="dt" sz="half" idx="10"/>
          </p:nvPr>
        </p:nvSpPr>
        <p:spPr/>
        <p:txBody>
          <a:bodyPr/>
          <a:lstStyle/>
          <a:p>
            <a:fld id="{2F4D5645-23AA-4DCF-893C-4CB75AE73D5B}" type="datetimeFigureOut">
              <a:rPr lang="en-US" smtClean="0"/>
              <a:t>5/8/2025</a:t>
            </a:fld>
            <a:endParaRPr lang="en-US"/>
          </a:p>
        </p:txBody>
      </p:sp>
      <p:sp>
        <p:nvSpPr>
          <p:cNvPr id="6" name="Footer Placeholder 5">
            <a:extLst>
              <a:ext uri="{FF2B5EF4-FFF2-40B4-BE49-F238E27FC236}">
                <a16:creationId xmlns:a16="http://schemas.microsoft.com/office/drawing/2014/main" id="{7E31C73C-EF22-413E-AB01-D74CF168C2C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90ED99F-E47E-43D8-8136-36E1F88C8C09}"/>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18518271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E2F88D-25DE-4861-8269-BC1AA80804E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2123F79-4F45-4657-8C11-9C841F08DDF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493E313-2E2B-4B13-AE00-70A44D1693B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EA1DCF9-02E0-4506-B296-E20DE9D6F3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1309B03-61FC-4A65-AA23-8066A570B49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8F01659-2AA1-46ED-BF70-B6F166B133B5}"/>
              </a:ext>
            </a:extLst>
          </p:cNvPr>
          <p:cNvSpPr>
            <a:spLocks noGrp="1"/>
          </p:cNvSpPr>
          <p:nvPr>
            <p:ph type="dt" sz="half" idx="10"/>
          </p:nvPr>
        </p:nvSpPr>
        <p:spPr/>
        <p:txBody>
          <a:bodyPr/>
          <a:lstStyle/>
          <a:p>
            <a:fld id="{2F4D5645-23AA-4DCF-893C-4CB75AE73D5B}" type="datetimeFigureOut">
              <a:rPr lang="en-US" smtClean="0"/>
              <a:t>5/8/2025</a:t>
            </a:fld>
            <a:endParaRPr lang="en-US"/>
          </a:p>
        </p:txBody>
      </p:sp>
      <p:sp>
        <p:nvSpPr>
          <p:cNvPr id="8" name="Footer Placeholder 7">
            <a:extLst>
              <a:ext uri="{FF2B5EF4-FFF2-40B4-BE49-F238E27FC236}">
                <a16:creationId xmlns:a16="http://schemas.microsoft.com/office/drawing/2014/main" id="{FA688C36-85B9-4ABF-95C4-7DA05DF25AE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F7281D-E3E3-4A4E-933B-B61F23B6BDAF}"/>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27524555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41DA1F-C216-4059-B3F5-50BFC440F2F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B527C02-2773-4132-9354-607C7B922DAC}"/>
              </a:ext>
            </a:extLst>
          </p:cNvPr>
          <p:cNvSpPr>
            <a:spLocks noGrp="1"/>
          </p:cNvSpPr>
          <p:nvPr>
            <p:ph type="dt" sz="half" idx="10"/>
          </p:nvPr>
        </p:nvSpPr>
        <p:spPr/>
        <p:txBody>
          <a:bodyPr/>
          <a:lstStyle/>
          <a:p>
            <a:fld id="{2F4D5645-23AA-4DCF-893C-4CB75AE73D5B}" type="datetimeFigureOut">
              <a:rPr lang="en-US" smtClean="0"/>
              <a:t>5/8/2025</a:t>
            </a:fld>
            <a:endParaRPr lang="en-US"/>
          </a:p>
        </p:txBody>
      </p:sp>
      <p:sp>
        <p:nvSpPr>
          <p:cNvPr id="4" name="Footer Placeholder 3">
            <a:extLst>
              <a:ext uri="{FF2B5EF4-FFF2-40B4-BE49-F238E27FC236}">
                <a16:creationId xmlns:a16="http://schemas.microsoft.com/office/drawing/2014/main" id="{EB6DC3A1-EC46-4AF5-BC4C-41FEF999F58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BA68303-C715-4516-8C17-A64C9A98C61C}"/>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31868936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9E2E674-63DB-4A81-AAC5-A599E8FD2254}"/>
              </a:ext>
            </a:extLst>
          </p:cNvPr>
          <p:cNvSpPr>
            <a:spLocks noGrp="1"/>
          </p:cNvSpPr>
          <p:nvPr>
            <p:ph type="dt" sz="half" idx="10"/>
          </p:nvPr>
        </p:nvSpPr>
        <p:spPr/>
        <p:txBody>
          <a:bodyPr/>
          <a:lstStyle/>
          <a:p>
            <a:fld id="{2F4D5645-23AA-4DCF-893C-4CB75AE73D5B}" type="datetimeFigureOut">
              <a:rPr lang="en-US" smtClean="0"/>
              <a:t>5/8/2025</a:t>
            </a:fld>
            <a:endParaRPr lang="en-US"/>
          </a:p>
        </p:txBody>
      </p:sp>
      <p:sp>
        <p:nvSpPr>
          <p:cNvPr id="3" name="Footer Placeholder 2">
            <a:extLst>
              <a:ext uri="{FF2B5EF4-FFF2-40B4-BE49-F238E27FC236}">
                <a16:creationId xmlns:a16="http://schemas.microsoft.com/office/drawing/2014/main" id="{BF477E99-16A7-4C07-9B2D-FE6D34DC4D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D8D8D10-8314-418A-8654-0834BE0B3B3B}"/>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40005486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F55FDA-C129-4C48-B32E-0A930D3BBD3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BBC12DC-3A64-4397-8711-82DC608FCFB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FB0F6B9-AB76-4798-BB69-969F32DCE1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A2B619-25C2-471E-983A-7BC75C73A601}"/>
              </a:ext>
            </a:extLst>
          </p:cNvPr>
          <p:cNvSpPr>
            <a:spLocks noGrp="1"/>
          </p:cNvSpPr>
          <p:nvPr>
            <p:ph type="dt" sz="half" idx="10"/>
          </p:nvPr>
        </p:nvSpPr>
        <p:spPr/>
        <p:txBody>
          <a:bodyPr/>
          <a:lstStyle/>
          <a:p>
            <a:fld id="{2F4D5645-23AA-4DCF-893C-4CB75AE73D5B}" type="datetimeFigureOut">
              <a:rPr lang="en-US" smtClean="0"/>
              <a:t>5/8/2025</a:t>
            </a:fld>
            <a:endParaRPr lang="en-US"/>
          </a:p>
        </p:txBody>
      </p:sp>
      <p:sp>
        <p:nvSpPr>
          <p:cNvPr id="6" name="Footer Placeholder 5">
            <a:extLst>
              <a:ext uri="{FF2B5EF4-FFF2-40B4-BE49-F238E27FC236}">
                <a16:creationId xmlns:a16="http://schemas.microsoft.com/office/drawing/2014/main" id="{B65F96EF-5716-42F8-956A-C69EFEB1F36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8E34605-7495-44D4-9DE9-1F2DE3D15449}"/>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9015071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C7345C-3AC3-446F-9A05-71EB8F7B199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D59C4F2-8ABE-48F8-BE4C-5C3ECF0691A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A02AB2E-C870-49AB-B857-D8B585EBD2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80B84E9-12A2-4186-8BBC-6E3B5ACD4DE0}"/>
              </a:ext>
            </a:extLst>
          </p:cNvPr>
          <p:cNvSpPr>
            <a:spLocks noGrp="1"/>
          </p:cNvSpPr>
          <p:nvPr>
            <p:ph type="dt" sz="half" idx="10"/>
          </p:nvPr>
        </p:nvSpPr>
        <p:spPr/>
        <p:txBody>
          <a:bodyPr/>
          <a:lstStyle/>
          <a:p>
            <a:fld id="{2F4D5645-23AA-4DCF-893C-4CB75AE73D5B}" type="datetimeFigureOut">
              <a:rPr lang="en-US" smtClean="0"/>
              <a:t>5/8/2025</a:t>
            </a:fld>
            <a:endParaRPr lang="en-US"/>
          </a:p>
        </p:txBody>
      </p:sp>
      <p:sp>
        <p:nvSpPr>
          <p:cNvPr id="6" name="Footer Placeholder 5">
            <a:extLst>
              <a:ext uri="{FF2B5EF4-FFF2-40B4-BE49-F238E27FC236}">
                <a16:creationId xmlns:a16="http://schemas.microsoft.com/office/drawing/2014/main" id="{7D6CF9BC-B01F-4ACC-B3A1-D543FBE7E61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3DE915-3C30-4FE0-9B71-A8B16AA9F3A7}"/>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3733434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B3538-2230-4441-AAE3-B9FA1613D78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D644754-BFAA-4BDA-B7FE-0329951EDCB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F04D930-A630-4BD1-8758-69063986E595}"/>
              </a:ext>
            </a:extLst>
          </p:cNvPr>
          <p:cNvSpPr>
            <a:spLocks noGrp="1"/>
          </p:cNvSpPr>
          <p:nvPr>
            <p:ph type="dt" sz="half" idx="10"/>
          </p:nvPr>
        </p:nvSpPr>
        <p:spPr/>
        <p:txBody>
          <a:bodyPr/>
          <a:lstStyle/>
          <a:p>
            <a:fld id="{2F4D5645-23AA-4DCF-893C-4CB75AE73D5B}" type="datetimeFigureOut">
              <a:rPr lang="en-US" smtClean="0"/>
              <a:t>5/8/2025</a:t>
            </a:fld>
            <a:endParaRPr lang="en-US"/>
          </a:p>
        </p:txBody>
      </p:sp>
      <p:sp>
        <p:nvSpPr>
          <p:cNvPr id="5" name="Footer Placeholder 4">
            <a:extLst>
              <a:ext uri="{FF2B5EF4-FFF2-40B4-BE49-F238E27FC236}">
                <a16:creationId xmlns:a16="http://schemas.microsoft.com/office/drawing/2014/main" id="{A7A3E5D0-E650-4BCC-8DA6-FC652DE3B4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C56A9B5-7809-4F98-AD87-C04741281926}"/>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638874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7A51487-EADC-441E-BE71-59BF59E57AE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0F626D7-10FE-4F5A-9DB5-975D15AFEA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926DC-5B8F-4DD1-AB13-A86948C2E114}"/>
              </a:ext>
            </a:extLst>
          </p:cNvPr>
          <p:cNvSpPr>
            <a:spLocks noGrp="1"/>
          </p:cNvSpPr>
          <p:nvPr>
            <p:ph type="dt" sz="half" idx="10"/>
          </p:nvPr>
        </p:nvSpPr>
        <p:spPr/>
        <p:txBody>
          <a:bodyPr/>
          <a:lstStyle/>
          <a:p>
            <a:fld id="{2F4D5645-23AA-4DCF-893C-4CB75AE73D5B}" type="datetimeFigureOut">
              <a:rPr lang="en-US" smtClean="0"/>
              <a:t>5/8/2025</a:t>
            </a:fld>
            <a:endParaRPr lang="en-US"/>
          </a:p>
        </p:txBody>
      </p:sp>
      <p:sp>
        <p:nvSpPr>
          <p:cNvPr id="5" name="Footer Placeholder 4">
            <a:extLst>
              <a:ext uri="{FF2B5EF4-FFF2-40B4-BE49-F238E27FC236}">
                <a16:creationId xmlns:a16="http://schemas.microsoft.com/office/drawing/2014/main" id="{5C3FFB2A-C15B-4027-9424-502EE2E5123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6FC29A2-F86C-4BAC-8D3B-436F2ED60987}"/>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6376069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3480291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426195D-2D55-4550-B834-EA3BAEEE93C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B5B45E7-9B25-4B24-ADEC-430D33F9D52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81B3896-4739-49B7-9E75-53DF501F6B3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F4D5645-23AA-4DCF-893C-4CB75AE73D5B}" type="datetimeFigureOut">
              <a:rPr lang="en-US" smtClean="0"/>
              <a:t>5/8/2025</a:t>
            </a:fld>
            <a:endParaRPr lang="en-US"/>
          </a:p>
        </p:txBody>
      </p:sp>
      <p:sp>
        <p:nvSpPr>
          <p:cNvPr id="5" name="Footer Placeholder 4">
            <a:extLst>
              <a:ext uri="{FF2B5EF4-FFF2-40B4-BE49-F238E27FC236}">
                <a16:creationId xmlns:a16="http://schemas.microsoft.com/office/drawing/2014/main" id="{4FB0AA0A-F9D4-42B4-8028-46DB159B986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1E7C39B-6132-4232-B090-D3318336447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BE49F46-903B-4DEA-A244-FFDEE93D2D96}" type="slidenum">
              <a:rPr lang="en-US" smtClean="0"/>
              <a:t>‹#›</a:t>
            </a:fld>
            <a:endParaRPr lang="en-US"/>
          </a:p>
        </p:txBody>
      </p:sp>
    </p:spTree>
    <p:extLst>
      <p:ext uri="{BB962C8B-B14F-4D97-AF65-F5344CB8AC3E}">
        <p14:creationId xmlns:p14="http://schemas.microsoft.com/office/powerpoint/2010/main" val="521172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Jon.Brodziak@NOAA.GOV"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PIFSCstockassessments/2024-WCNPO-MLS-Rebuilding" TargetMode="External"/><Relationship Id="rId2" Type="http://schemas.openxmlformats.org/officeDocument/2006/relationships/hyperlink" Target="https://drive.google.com/drive/folders/1vNBZWGnTDX9_wl-RByhKqA40jsHUOJCy" TargetMode="External"/><Relationship Id="rId1" Type="http://schemas.openxmlformats.org/officeDocument/2006/relationships/slideLayout" Target="../slideLayouts/slideLayout2.xml"/><Relationship Id="rId4" Type="http://schemas.openxmlformats.org/officeDocument/2006/relationships/hyperlink" Target="https://github.com/PIFSCstockassessments/2024-WCNPO-MLS-Rebuilding/tree/main/2025-MLS-projections/output/Base%20Runs" TargetMode="External"/></Relationships>
</file>

<file path=ppt/slides/_rels/slide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hyperlink" Target="https://cmm.wcpfc.int/measure/cmm-2024-06" TargetMode="External"/><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6.xml"/><Relationship Id="rId1" Type="http://schemas.openxmlformats.org/officeDocument/2006/relationships/vmlDrawing" Target="../drawings/vmlDrawing1.vml"/><Relationship Id="rId4" Type="http://schemas.openxmlformats.org/officeDocument/2006/relationships/image" Target="../media/image5.emf"/></Relationships>
</file>

<file path=ppt/slides/_rels/slide15.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21.emf"/><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36.emf"/><Relationship Id="rId2" Type="http://schemas.openxmlformats.org/officeDocument/2006/relationships/image" Target="../media/image35.emf"/><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image" Target="../media/image43.emf"/><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image" Target="../media/image44.emf"/><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45.emf"/><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46.emf"/><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3" Type="http://schemas.openxmlformats.org/officeDocument/2006/relationships/image" Target="../media/image54.emf"/><Relationship Id="rId2" Type="http://schemas.openxmlformats.org/officeDocument/2006/relationships/image" Target="../media/image53.emf"/><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58.emf"/><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59.emf"/><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image" Target="../media/image60.emf"/><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61.emf"/><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D05728-16B3-4EC5-A349-B7A27D1984B0}"/>
              </a:ext>
            </a:extLst>
          </p:cNvPr>
          <p:cNvSpPr>
            <a:spLocks noGrp="1"/>
          </p:cNvSpPr>
          <p:nvPr>
            <p:ph type="ctrTitle"/>
          </p:nvPr>
        </p:nvSpPr>
        <p:spPr>
          <a:xfrm>
            <a:off x="893052" y="73573"/>
            <a:ext cx="10405896" cy="2858814"/>
          </a:xfrm>
        </p:spPr>
        <p:txBody>
          <a:bodyPr>
            <a:normAutofit/>
          </a:bodyPr>
          <a:lstStyle/>
          <a:p>
            <a:r>
              <a:rPr lang="en-US" dirty="0"/>
              <a:t>Stock Projections to Rebuild </a:t>
            </a:r>
            <a:br>
              <a:rPr lang="en-US" dirty="0"/>
            </a:br>
            <a:r>
              <a:rPr lang="en-US" dirty="0"/>
              <a:t>WCNPO Striped Marlin </a:t>
            </a:r>
            <a:br>
              <a:rPr lang="en-US" dirty="0"/>
            </a:br>
            <a:r>
              <a:rPr lang="en-US" dirty="0"/>
              <a:t>Under WCPFC CMM 2024-06</a:t>
            </a:r>
          </a:p>
        </p:txBody>
      </p:sp>
      <p:sp>
        <p:nvSpPr>
          <p:cNvPr id="3" name="Subtitle 2">
            <a:extLst>
              <a:ext uri="{FF2B5EF4-FFF2-40B4-BE49-F238E27FC236}">
                <a16:creationId xmlns:a16="http://schemas.microsoft.com/office/drawing/2014/main" id="{233BD301-D1B6-4894-9ADA-28EDAC7853A8}"/>
              </a:ext>
            </a:extLst>
          </p:cNvPr>
          <p:cNvSpPr>
            <a:spLocks noGrp="1"/>
          </p:cNvSpPr>
          <p:nvPr>
            <p:ph type="subTitle" idx="1"/>
          </p:nvPr>
        </p:nvSpPr>
        <p:spPr/>
        <p:txBody>
          <a:bodyPr>
            <a:normAutofit lnSpcReduction="10000"/>
          </a:bodyPr>
          <a:lstStyle/>
          <a:p>
            <a:r>
              <a:rPr lang="en-US" dirty="0"/>
              <a:t>ISC Billfish Working Group</a:t>
            </a:r>
          </a:p>
          <a:p>
            <a:r>
              <a:rPr lang="en-US" dirty="0"/>
              <a:t>Jon </a:t>
            </a:r>
            <a:r>
              <a:rPr lang="en-US" dirty="0" err="1"/>
              <a:t>Brodziak</a:t>
            </a:r>
            <a:endParaRPr lang="en-US" dirty="0"/>
          </a:p>
          <a:p>
            <a:r>
              <a:rPr lang="en-US" dirty="0">
                <a:hlinkClick r:id="rId3"/>
              </a:rPr>
              <a:t>Jon.Brodziak@NOAA.GOV</a:t>
            </a:r>
            <a:r>
              <a:rPr lang="en-US" dirty="0"/>
              <a:t> </a:t>
            </a:r>
          </a:p>
          <a:p>
            <a:r>
              <a:rPr lang="en-US" dirty="0"/>
              <a:t>12-May-2025</a:t>
            </a:r>
          </a:p>
        </p:txBody>
      </p:sp>
    </p:spTree>
    <p:extLst>
      <p:ext uri="{BB962C8B-B14F-4D97-AF65-F5344CB8AC3E}">
        <p14:creationId xmlns:p14="http://schemas.microsoft.com/office/powerpoint/2010/main" val="2598347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F937F0-185D-434E-9081-C2F3E94FF607}"/>
              </a:ext>
            </a:extLst>
          </p:cNvPr>
          <p:cNvSpPr>
            <a:spLocks noGrp="1"/>
          </p:cNvSpPr>
          <p:nvPr>
            <p:ph type="title"/>
          </p:nvPr>
        </p:nvSpPr>
        <p:spPr>
          <a:xfrm>
            <a:off x="0" y="94542"/>
            <a:ext cx="12192000" cy="964824"/>
          </a:xfrm>
        </p:spPr>
        <p:txBody>
          <a:bodyPr>
            <a:normAutofit fontScale="90000"/>
          </a:bodyPr>
          <a:lstStyle/>
          <a:p>
            <a:pPr algn="ctr"/>
            <a:r>
              <a:rPr lang="en-US" dirty="0"/>
              <a:t>Open Science with Documentation and Reproducibility </a:t>
            </a:r>
            <a:br>
              <a:rPr lang="en-US" dirty="0"/>
            </a:br>
            <a:r>
              <a:rPr lang="en-US" dirty="0"/>
              <a:t>for the ISC Billfish Working Group</a:t>
            </a:r>
          </a:p>
        </p:txBody>
      </p:sp>
      <p:sp>
        <p:nvSpPr>
          <p:cNvPr id="3" name="Content Placeholder 2">
            <a:extLst>
              <a:ext uri="{FF2B5EF4-FFF2-40B4-BE49-F238E27FC236}">
                <a16:creationId xmlns:a16="http://schemas.microsoft.com/office/drawing/2014/main" id="{E723D5FF-3CCA-41F4-9642-B867467454DA}"/>
              </a:ext>
            </a:extLst>
          </p:cNvPr>
          <p:cNvSpPr>
            <a:spLocks noGrp="1"/>
          </p:cNvSpPr>
          <p:nvPr>
            <p:ph idx="1"/>
          </p:nvPr>
        </p:nvSpPr>
        <p:spPr>
          <a:xfrm>
            <a:off x="0" y="1460938"/>
            <a:ext cx="12192000" cy="5397061"/>
          </a:xfrm>
        </p:spPr>
        <p:txBody>
          <a:bodyPr>
            <a:normAutofit/>
          </a:bodyPr>
          <a:lstStyle/>
          <a:p>
            <a:r>
              <a:rPr lang="en-US" dirty="0"/>
              <a:t>This presentation (2025 MLS projections for CMM 24-06.pptx) is on the BILLWG google drive at: </a:t>
            </a:r>
            <a:r>
              <a:rPr lang="en-US" dirty="0">
                <a:hlinkClick r:id="rId2"/>
              </a:rPr>
              <a:t>https://drive.google.com/drive/folders/1vNBZWGnTDX9_wl-RByhKqA40jsHUOJCy</a:t>
            </a:r>
            <a:r>
              <a:rPr lang="en-US" dirty="0"/>
              <a:t> </a:t>
            </a:r>
          </a:p>
          <a:p>
            <a:pPr marL="0" indent="0">
              <a:buNone/>
            </a:pPr>
            <a:endParaRPr lang="en-US" dirty="0"/>
          </a:p>
          <a:p>
            <a:r>
              <a:rPr lang="en-US" dirty="0"/>
              <a:t>To access the projection analyses, clone or download the GitHub repository:</a:t>
            </a:r>
          </a:p>
          <a:p>
            <a:pPr marL="0" indent="0">
              <a:buNone/>
            </a:pPr>
            <a:r>
              <a:rPr lang="en-US" dirty="0">
                <a:hlinkClick r:id="rId3"/>
              </a:rPr>
              <a:t>https://github.com/PIFSCstockassessments/2024-WCNPO-MLS-Rebuilding</a:t>
            </a:r>
            <a:endParaRPr lang="en-US" dirty="0"/>
          </a:p>
          <a:p>
            <a:pPr marL="0" indent="0">
              <a:buNone/>
            </a:pPr>
            <a:endParaRPr lang="en-US" dirty="0"/>
          </a:p>
          <a:p>
            <a:r>
              <a:rPr lang="en-US" dirty="0"/>
              <a:t>Base case CMM 2024-06 projection results are in the folder:</a:t>
            </a:r>
          </a:p>
          <a:p>
            <a:pPr marL="0" indent="0">
              <a:buNone/>
            </a:pPr>
            <a:r>
              <a:rPr lang="en-US" dirty="0">
                <a:hlinkClick r:id="rId4"/>
              </a:rPr>
              <a:t>https://github.com/PIFSCstockassessments/2024-WCNPO-MLS-Rebuilding/tree/main/2025-MLS-projections/output/Base%20Runs</a:t>
            </a:r>
            <a:r>
              <a:rPr lang="en-US" dirty="0"/>
              <a:t> </a:t>
            </a:r>
          </a:p>
          <a:p>
            <a:endParaRPr lang="en-US" dirty="0"/>
          </a:p>
        </p:txBody>
      </p:sp>
    </p:spTree>
    <p:extLst>
      <p:ext uri="{BB962C8B-B14F-4D97-AF65-F5344CB8AC3E}">
        <p14:creationId xmlns:p14="http://schemas.microsoft.com/office/powerpoint/2010/main" val="35971970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667B4-5D24-43F0-9DD6-752925AAA6C1}"/>
              </a:ext>
            </a:extLst>
          </p:cNvPr>
          <p:cNvSpPr>
            <a:spLocks noGrp="1"/>
          </p:cNvSpPr>
          <p:nvPr>
            <p:ph type="title"/>
          </p:nvPr>
        </p:nvSpPr>
        <p:spPr>
          <a:xfrm>
            <a:off x="838200" y="0"/>
            <a:ext cx="10515600" cy="737811"/>
          </a:xfrm>
        </p:spPr>
        <p:txBody>
          <a:bodyPr>
            <a:normAutofit/>
          </a:bodyPr>
          <a:lstStyle/>
          <a:p>
            <a:pPr algn="ctr"/>
            <a:r>
              <a:rPr lang="en-US" sz="4000" dirty="0"/>
              <a:t>Rebuilding Target</a:t>
            </a:r>
          </a:p>
        </p:txBody>
      </p:sp>
      <p:pic>
        <p:nvPicPr>
          <p:cNvPr id="3" name="Picture 2">
            <a:extLst>
              <a:ext uri="{FF2B5EF4-FFF2-40B4-BE49-F238E27FC236}">
                <a16:creationId xmlns:a16="http://schemas.microsoft.com/office/drawing/2014/main" id="{CA7487DF-7D1F-46DA-A425-22024D7D1A82}"/>
              </a:ext>
            </a:extLst>
          </p:cNvPr>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23523" y="887637"/>
            <a:ext cx="8785782" cy="5802198"/>
          </a:xfrm>
          <a:prstGeom prst="rect">
            <a:avLst/>
          </a:prstGeom>
          <a:noFill/>
          <a:ln>
            <a:noFill/>
          </a:ln>
        </p:spPr>
      </p:pic>
    </p:spTree>
    <p:extLst>
      <p:ext uri="{BB962C8B-B14F-4D97-AF65-F5344CB8AC3E}">
        <p14:creationId xmlns:p14="http://schemas.microsoft.com/office/powerpoint/2010/main" val="3773540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667B4-5D24-43F0-9DD6-752925AAA6C1}"/>
              </a:ext>
            </a:extLst>
          </p:cNvPr>
          <p:cNvSpPr>
            <a:spLocks noGrp="1"/>
          </p:cNvSpPr>
          <p:nvPr>
            <p:ph type="title"/>
          </p:nvPr>
        </p:nvSpPr>
        <p:spPr>
          <a:xfrm>
            <a:off x="838200" y="0"/>
            <a:ext cx="10515600" cy="737811"/>
          </a:xfrm>
        </p:spPr>
        <p:txBody>
          <a:bodyPr>
            <a:normAutofit/>
          </a:bodyPr>
          <a:lstStyle/>
          <a:p>
            <a:pPr algn="ctr"/>
            <a:r>
              <a:rPr lang="en-US" sz="4000" dirty="0"/>
              <a:t>Fishing Mortality</a:t>
            </a:r>
          </a:p>
        </p:txBody>
      </p:sp>
      <p:pic>
        <p:nvPicPr>
          <p:cNvPr id="3" name="Picture 2">
            <a:extLst>
              <a:ext uri="{FF2B5EF4-FFF2-40B4-BE49-F238E27FC236}">
                <a16:creationId xmlns:a16="http://schemas.microsoft.com/office/drawing/2014/main" id="{96C81780-C6B2-4F8D-9BA2-CBD78411A722}"/>
              </a:ext>
            </a:extLst>
          </p:cNvPr>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30457" y="933254"/>
            <a:ext cx="8182465" cy="5924746"/>
          </a:xfrm>
          <a:prstGeom prst="rect">
            <a:avLst/>
          </a:prstGeom>
          <a:noFill/>
          <a:ln>
            <a:noFill/>
          </a:ln>
        </p:spPr>
      </p:pic>
    </p:spTree>
    <p:extLst>
      <p:ext uri="{BB962C8B-B14F-4D97-AF65-F5344CB8AC3E}">
        <p14:creationId xmlns:p14="http://schemas.microsoft.com/office/powerpoint/2010/main" val="21640888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667B4-5D24-43F0-9DD6-752925AAA6C1}"/>
              </a:ext>
            </a:extLst>
          </p:cNvPr>
          <p:cNvSpPr>
            <a:spLocks noGrp="1"/>
          </p:cNvSpPr>
          <p:nvPr>
            <p:ph type="title"/>
          </p:nvPr>
        </p:nvSpPr>
        <p:spPr>
          <a:xfrm>
            <a:off x="199697" y="0"/>
            <a:ext cx="11771586" cy="737811"/>
          </a:xfrm>
        </p:spPr>
        <p:txBody>
          <a:bodyPr>
            <a:normAutofit fontScale="90000"/>
          </a:bodyPr>
          <a:lstStyle/>
          <a:p>
            <a:pPr algn="ctr"/>
            <a:r>
              <a:rPr lang="en-US" sz="4000" dirty="0"/>
              <a:t>Long-Term Stock-Recruitment Curve from 2023 Assessment</a:t>
            </a:r>
          </a:p>
        </p:txBody>
      </p:sp>
      <p:pic>
        <p:nvPicPr>
          <p:cNvPr id="3" name="Picture 2">
            <a:extLst>
              <a:ext uri="{FF2B5EF4-FFF2-40B4-BE49-F238E27FC236}">
                <a16:creationId xmlns:a16="http://schemas.microsoft.com/office/drawing/2014/main" id="{AEC51A9B-63E9-4D5E-9498-324C646663C9}"/>
              </a:ext>
            </a:extLst>
          </p:cNvPr>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91093" y="923828"/>
            <a:ext cx="8210746" cy="5934172"/>
          </a:xfrm>
          <a:prstGeom prst="rect">
            <a:avLst/>
          </a:prstGeom>
          <a:noFill/>
          <a:ln>
            <a:noFill/>
          </a:ln>
        </p:spPr>
      </p:pic>
    </p:spTree>
    <p:extLst>
      <p:ext uri="{BB962C8B-B14F-4D97-AF65-F5344CB8AC3E}">
        <p14:creationId xmlns:p14="http://schemas.microsoft.com/office/powerpoint/2010/main" val="29619161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667B4-5D24-43F0-9DD6-752925AAA6C1}"/>
              </a:ext>
            </a:extLst>
          </p:cNvPr>
          <p:cNvSpPr>
            <a:spLocks noGrp="1"/>
          </p:cNvSpPr>
          <p:nvPr>
            <p:ph type="title"/>
          </p:nvPr>
        </p:nvSpPr>
        <p:spPr>
          <a:xfrm>
            <a:off x="838200" y="0"/>
            <a:ext cx="10515600" cy="737811"/>
          </a:xfrm>
        </p:spPr>
        <p:txBody>
          <a:bodyPr>
            <a:normAutofit fontScale="90000"/>
          </a:bodyPr>
          <a:lstStyle/>
          <a:p>
            <a:pPr algn="ctr"/>
            <a:r>
              <a:rPr lang="en-US" sz="4000" dirty="0"/>
              <a:t>Stock-Recruitment Relationship from 2023 Assessment</a:t>
            </a:r>
          </a:p>
        </p:txBody>
      </p:sp>
      <p:pic>
        <p:nvPicPr>
          <p:cNvPr id="3" name="Picture 2">
            <a:extLst>
              <a:ext uri="{FF2B5EF4-FFF2-40B4-BE49-F238E27FC236}">
                <a16:creationId xmlns:a16="http://schemas.microsoft.com/office/drawing/2014/main" id="{AEC51A9B-63E9-4D5E-9498-324C646663C9}"/>
              </a:ext>
            </a:extLst>
          </p:cNvPr>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91093" y="923828"/>
            <a:ext cx="8210746" cy="5934172"/>
          </a:xfrm>
          <a:prstGeom prst="rect">
            <a:avLst/>
          </a:prstGeom>
          <a:noFill/>
          <a:ln>
            <a:noFill/>
          </a:ln>
        </p:spPr>
      </p:pic>
    </p:spTree>
    <p:extLst>
      <p:ext uri="{BB962C8B-B14F-4D97-AF65-F5344CB8AC3E}">
        <p14:creationId xmlns:p14="http://schemas.microsoft.com/office/powerpoint/2010/main" val="9801481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title"/>
          </p:nvPr>
        </p:nvSpPr>
        <p:spPr>
          <a:xfrm>
            <a:off x="415600" y="162442"/>
            <a:ext cx="11360800" cy="763600"/>
          </a:xfrm>
          <a:prstGeom prst="rect">
            <a:avLst/>
          </a:prstGeom>
        </p:spPr>
        <p:txBody>
          <a:bodyPr spcFirstLastPara="1" vert="horz" wrap="square" lIns="121900" tIns="121900" rIns="121900" bIns="121900" rtlCol="0" anchor="t" anchorCtr="0">
            <a:normAutofit/>
          </a:bodyPr>
          <a:lstStyle/>
          <a:p>
            <a:pPr algn="ctr"/>
            <a:r>
              <a:rPr lang="en" sz="3200" dirty="0"/>
              <a:t>CMM 2024-06 Revision to CMM 2010-01 for WCNPO Striped Marlin</a:t>
            </a:r>
            <a:endParaRPr sz="3200" dirty="0"/>
          </a:p>
        </p:txBody>
      </p:sp>
      <p:sp>
        <p:nvSpPr>
          <p:cNvPr id="55" name="Google Shape;55;p13"/>
          <p:cNvSpPr txBox="1">
            <a:spLocks noGrp="1"/>
          </p:cNvSpPr>
          <p:nvPr>
            <p:ph type="body" idx="1"/>
          </p:nvPr>
        </p:nvSpPr>
        <p:spPr>
          <a:xfrm>
            <a:off x="0" y="926041"/>
            <a:ext cx="7837715" cy="5931959"/>
          </a:xfrm>
          <a:prstGeom prst="rect">
            <a:avLst/>
          </a:prstGeom>
        </p:spPr>
        <p:txBody>
          <a:bodyPr spcFirstLastPara="1" vert="horz" wrap="square" lIns="121900" tIns="121900" rIns="121900" bIns="121900" rtlCol="0" anchor="t" anchorCtr="0">
            <a:normAutofit fontScale="92500" lnSpcReduction="20000"/>
          </a:bodyPr>
          <a:lstStyle/>
          <a:p>
            <a:pPr indent="-445758">
              <a:buSzPct val="100000"/>
            </a:pPr>
            <a:r>
              <a:rPr lang="en" dirty="0"/>
              <a:t>Total catch limit of 2400 mt</a:t>
            </a:r>
          </a:p>
          <a:p>
            <a:pPr marL="163827" indent="0">
              <a:buSzPct val="100000"/>
              <a:buNone/>
            </a:pPr>
            <a:endParaRPr dirty="0"/>
          </a:p>
          <a:p>
            <a:pPr indent="-445758">
              <a:buSzPct val="100000"/>
            </a:pPr>
            <a:r>
              <a:rPr lang="en" dirty="0"/>
              <a:t>In 2025-2027, each country can take up to 165 mt of additional catch to their individual limit if the catch limit in 2023-2025 is not reached</a:t>
            </a:r>
            <a:endParaRPr dirty="0"/>
          </a:p>
          <a:p>
            <a:pPr lvl="1" indent="-414432">
              <a:buSzPct val="100000"/>
            </a:pPr>
            <a:r>
              <a:rPr lang="en" dirty="0"/>
              <a:t>In 2023 there was an underage of 826 mt therefore countries are allowed to increase their limit by 165 mt in 2025</a:t>
            </a:r>
            <a:endParaRPr dirty="0"/>
          </a:p>
          <a:p>
            <a:pPr lvl="1" indent="-414432">
              <a:buSzPct val="100000"/>
            </a:pPr>
            <a:r>
              <a:rPr lang="en" dirty="0"/>
              <a:t>Any underage in 2024 can be applied to 2026, and 2025 to 2027</a:t>
            </a:r>
          </a:p>
          <a:p>
            <a:pPr lvl="1" indent="-414432">
              <a:buSzPct val="100000"/>
            </a:pPr>
            <a:endParaRPr dirty="0"/>
          </a:p>
          <a:p>
            <a:pPr indent="-445758">
              <a:buSzPct val="100000"/>
            </a:pPr>
            <a:r>
              <a:rPr lang="en" dirty="0"/>
              <a:t>No country is allowed to increase their catch by more than 165 mt</a:t>
            </a:r>
          </a:p>
          <a:p>
            <a:pPr indent="-445758">
              <a:buSzPct val="100000"/>
            </a:pPr>
            <a:endParaRPr dirty="0"/>
          </a:p>
          <a:p>
            <a:pPr indent="-445758">
              <a:buSzPct val="100000"/>
            </a:pPr>
            <a:r>
              <a:rPr lang="en" dirty="0"/>
              <a:t>If underage is less </a:t>
            </a:r>
            <a:r>
              <a:rPr lang="en"/>
              <a:t>than 826 </a:t>
            </a:r>
            <a:r>
              <a:rPr lang="en" dirty="0"/>
              <a:t>mt, then there will be decisions made about who gets that extra catch </a:t>
            </a:r>
          </a:p>
          <a:p>
            <a:pPr indent="-445758">
              <a:buSzPct val="100000"/>
            </a:pPr>
            <a:endParaRPr lang="en" dirty="0"/>
          </a:p>
          <a:p>
            <a:pPr indent="-445758">
              <a:buSzPct val="100000"/>
            </a:pPr>
            <a:r>
              <a:rPr lang="en" dirty="0"/>
              <a:t>Overage for each country is subtracted from their next year’s individual limit</a:t>
            </a:r>
          </a:p>
          <a:p>
            <a:pPr indent="-445758">
              <a:buSzPct val="100000"/>
            </a:pPr>
            <a:endParaRPr lang="en" dirty="0"/>
          </a:p>
          <a:p>
            <a:pPr indent="-445758">
              <a:buSzPct val="100000"/>
            </a:pPr>
            <a:r>
              <a:rPr lang="en" dirty="0">
                <a:hlinkClick r:id="rId3"/>
              </a:rPr>
              <a:t>Link to CMM 2024-06</a:t>
            </a:r>
            <a:endParaRPr dirty="0"/>
          </a:p>
        </p:txBody>
      </p:sp>
      <p:graphicFrame>
        <p:nvGraphicFramePr>
          <p:cNvPr id="56" name="Google Shape;56;p13"/>
          <p:cNvGraphicFramePr/>
          <p:nvPr>
            <p:extLst>
              <p:ext uri="{D42A27DB-BD31-4B8C-83A1-F6EECF244321}">
                <p14:modId xmlns:p14="http://schemas.microsoft.com/office/powerpoint/2010/main" val="587331159"/>
              </p:ext>
            </p:extLst>
          </p:nvPr>
        </p:nvGraphicFramePr>
        <p:xfrm>
          <a:off x="8098400" y="931002"/>
          <a:ext cx="3678000" cy="5608000"/>
        </p:xfrm>
        <a:graphic>
          <a:graphicData uri="http://schemas.openxmlformats.org/drawingml/2006/table">
            <a:tbl>
              <a:tblPr>
                <a:noFill/>
              </a:tblPr>
              <a:tblGrid>
                <a:gridCol w="1839000">
                  <a:extLst>
                    <a:ext uri="{9D8B030D-6E8A-4147-A177-3AD203B41FA5}">
                      <a16:colId xmlns:a16="http://schemas.microsoft.com/office/drawing/2014/main" val="20000"/>
                    </a:ext>
                  </a:extLst>
                </a:gridCol>
                <a:gridCol w="1839000">
                  <a:extLst>
                    <a:ext uri="{9D8B030D-6E8A-4147-A177-3AD203B41FA5}">
                      <a16:colId xmlns:a16="http://schemas.microsoft.com/office/drawing/2014/main" val="20001"/>
                    </a:ext>
                  </a:extLst>
                </a:gridCol>
              </a:tblGrid>
              <a:tr h="609560">
                <a:tc>
                  <a:txBody>
                    <a:bodyPr/>
                    <a:lstStyle/>
                    <a:p>
                      <a:pPr marL="0" lvl="0" indent="0" algn="l" rtl="0">
                        <a:spcBef>
                          <a:spcPts val="0"/>
                        </a:spcBef>
                        <a:spcAft>
                          <a:spcPts val="0"/>
                        </a:spcAft>
                        <a:buNone/>
                      </a:pPr>
                      <a:r>
                        <a:rPr lang="en" sz="2400" b="1" dirty="0"/>
                        <a:t>Country</a:t>
                      </a:r>
                      <a:endParaRPr sz="2400" b="1" dirty="0"/>
                    </a:p>
                  </a:txBody>
                  <a:tcPr marL="121900" marR="121900" marT="121900" marB="121900"/>
                </a:tc>
                <a:tc>
                  <a:txBody>
                    <a:bodyPr/>
                    <a:lstStyle/>
                    <a:p>
                      <a:pPr marL="0" lvl="0" indent="0" algn="ctr" rtl="0">
                        <a:spcBef>
                          <a:spcPts val="0"/>
                        </a:spcBef>
                        <a:spcAft>
                          <a:spcPts val="0"/>
                        </a:spcAft>
                        <a:buNone/>
                      </a:pPr>
                      <a:r>
                        <a:rPr lang="en" sz="2400" b="1" dirty="0"/>
                        <a:t>Catch Limit</a:t>
                      </a:r>
                      <a:endParaRPr sz="2400" b="1" dirty="0"/>
                    </a:p>
                  </a:txBody>
                  <a:tcPr marL="121900" marR="121900" marT="121900" marB="121900"/>
                </a:tc>
                <a:extLst>
                  <a:ext uri="{0D108BD9-81ED-4DB2-BD59-A6C34878D82A}">
                    <a16:rowId xmlns:a16="http://schemas.microsoft.com/office/drawing/2014/main" val="10000"/>
                  </a:ext>
                </a:extLst>
              </a:tr>
              <a:tr h="609560">
                <a:tc>
                  <a:txBody>
                    <a:bodyPr/>
                    <a:lstStyle/>
                    <a:p>
                      <a:pPr marL="0" lvl="0" indent="0" algn="l" rtl="0">
                        <a:spcBef>
                          <a:spcPts val="0"/>
                        </a:spcBef>
                        <a:spcAft>
                          <a:spcPts val="0"/>
                        </a:spcAft>
                        <a:buNone/>
                      </a:pPr>
                      <a:r>
                        <a:rPr lang="en" sz="2400"/>
                        <a:t>Japan</a:t>
                      </a:r>
                      <a:endParaRPr sz="2400"/>
                    </a:p>
                  </a:txBody>
                  <a:tcPr marL="121900" marR="121900" marT="121900" marB="121900"/>
                </a:tc>
                <a:tc>
                  <a:txBody>
                    <a:bodyPr/>
                    <a:lstStyle/>
                    <a:p>
                      <a:pPr marL="0" lvl="0" indent="0" algn="r" rtl="0">
                        <a:spcBef>
                          <a:spcPts val="0"/>
                        </a:spcBef>
                        <a:spcAft>
                          <a:spcPts val="0"/>
                        </a:spcAft>
                        <a:buNone/>
                      </a:pPr>
                      <a:r>
                        <a:rPr lang="en" sz="2400"/>
                        <a:t>1454.4mt</a:t>
                      </a:r>
                      <a:endParaRPr sz="2400"/>
                    </a:p>
                  </a:txBody>
                  <a:tcPr marL="121900" marR="121900" marT="121900" marB="121900"/>
                </a:tc>
                <a:extLst>
                  <a:ext uri="{0D108BD9-81ED-4DB2-BD59-A6C34878D82A}">
                    <a16:rowId xmlns:a16="http://schemas.microsoft.com/office/drawing/2014/main" val="10001"/>
                  </a:ext>
                </a:extLst>
              </a:tr>
              <a:tr h="975320">
                <a:tc>
                  <a:txBody>
                    <a:bodyPr/>
                    <a:lstStyle/>
                    <a:p>
                      <a:pPr marL="0" lvl="0" indent="0" algn="l" rtl="0">
                        <a:spcBef>
                          <a:spcPts val="0"/>
                        </a:spcBef>
                        <a:spcAft>
                          <a:spcPts val="0"/>
                        </a:spcAft>
                        <a:buNone/>
                      </a:pPr>
                      <a:r>
                        <a:rPr lang="en" sz="2400"/>
                        <a:t>Chinese Taipei</a:t>
                      </a:r>
                      <a:endParaRPr sz="2400"/>
                    </a:p>
                  </a:txBody>
                  <a:tcPr marL="121900" marR="121900" marT="121900" marB="121900"/>
                </a:tc>
                <a:tc>
                  <a:txBody>
                    <a:bodyPr/>
                    <a:lstStyle/>
                    <a:p>
                      <a:pPr marL="0" lvl="0" indent="0" algn="r" rtl="0">
                        <a:spcBef>
                          <a:spcPts val="0"/>
                        </a:spcBef>
                        <a:spcAft>
                          <a:spcPts val="0"/>
                        </a:spcAft>
                        <a:buNone/>
                      </a:pPr>
                      <a:r>
                        <a:rPr lang="en" sz="2400"/>
                        <a:t>358.4mt</a:t>
                      </a:r>
                      <a:endParaRPr sz="2400"/>
                    </a:p>
                  </a:txBody>
                  <a:tcPr marL="121900" marR="121900" marT="121900" marB="121900"/>
                </a:tc>
                <a:extLst>
                  <a:ext uri="{0D108BD9-81ED-4DB2-BD59-A6C34878D82A}">
                    <a16:rowId xmlns:a16="http://schemas.microsoft.com/office/drawing/2014/main" val="10002"/>
                  </a:ext>
                </a:extLst>
              </a:tr>
              <a:tr h="609560">
                <a:tc>
                  <a:txBody>
                    <a:bodyPr/>
                    <a:lstStyle/>
                    <a:p>
                      <a:pPr marL="0" lvl="0" indent="0" algn="l" rtl="0">
                        <a:spcBef>
                          <a:spcPts val="0"/>
                        </a:spcBef>
                        <a:spcAft>
                          <a:spcPts val="0"/>
                        </a:spcAft>
                        <a:buNone/>
                      </a:pPr>
                      <a:r>
                        <a:rPr lang="en" sz="2400"/>
                        <a:t>Korea</a:t>
                      </a:r>
                      <a:endParaRPr sz="2400"/>
                    </a:p>
                  </a:txBody>
                  <a:tcPr marL="121900" marR="121900" marT="121900" marB="121900"/>
                </a:tc>
                <a:tc>
                  <a:txBody>
                    <a:bodyPr/>
                    <a:lstStyle/>
                    <a:p>
                      <a:pPr marL="0" lvl="0" indent="0" algn="r" rtl="0">
                        <a:spcBef>
                          <a:spcPts val="0"/>
                        </a:spcBef>
                        <a:spcAft>
                          <a:spcPts val="0"/>
                        </a:spcAft>
                        <a:buNone/>
                      </a:pPr>
                      <a:r>
                        <a:rPr lang="en" sz="2400"/>
                        <a:t>214.8mt</a:t>
                      </a:r>
                      <a:endParaRPr sz="2400"/>
                    </a:p>
                  </a:txBody>
                  <a:tcPr marL="121900" marR="121900" marT="121900" marB="121900"/>
                </a:tc>
                <a:extLst>
                  <a:ext uri="{0D108BD9-81ED-4DB2-BD59-A6C34878D82A}">
                    <a16:rowId xmlns:a16="http://schemas.microsoft.com/office/drawing/2014/main" val="10003"/>
                  </a:ext>
                </a:extLst>
              </a:tr>
              <a:tr h="975320">
                <a:tc>
                  <a:txBody>
                    <a:bodyPr/>
                    <a:lstStyle/>
                    <a:p>
                      <a:pPr marL="0" lvl="0" indent="0" algn="l" rtl="0">
                        <a:spcBef>
                          <a:spcPts val="0"/>
                        </a:spcBef>
                        <a:spcAft>
                          <a:spcPts val="0"/>
                        </a:spcAft>
                        <a:buNone/>
                      </a:pPr>
                      <a:r>
                        <a:rPr lang="en" sz="2400"/>
                        <a:t>United States</a:t>
                      </a:r>
                      <a:endParaRPr sz="2400"/>
                    </a:p>
                  </a:txBody>
                  <a:tcPr marL="121900" marR="121900" marT="121900" marB="121900"/>
                </a:tc>
                <a:tc>
                  <a:txBody>
                    <a:bodyPr/>
                    <a:lstStyle/>
                    <a:p>
                      <a:pPr marL="0" lvl="0" indent="0" algn="r" rtl="0">
                        <a:spcBef>
                          <a:spcPts val="0"/>
                        </a:spcBef>
                        <a:spcAft>
                          <a:spcPts val="0"/>
                        </a:spcAft>
                        <a:buNone/>
                      </a:pPr>
                      <a:r>
                        <a:rPr lang="en" sz="2400"/>
                        <a:t>228.4mt</a:t>
                      </a:r>
                      <a:endParaRPr sz="2400"/>
                    </a:p>
                  </a:txBody>
                  <a:tcPr marL="121900" marR="121900" marT="121900" marB="121900"/>
                </a:tc>
                <a:extLst>
                  <a:ext uri="{0D108BD9-81ED-4DB2-BD59-A6C34878D82A}">
                    <a16:rowId xmlns:a16="http://schemas.microsoft.com/office/drawing/2014/main" val="10004"/>
                  </a:ext>
                </a:extLst>
              </a:tr>
              <a:tr h="609560">
                <a:tc>
                  <a:txBody>
                    <a:bodyPr/>
                    <a:lstStyle/>
                    <a:p>
                      <a:pPr marL="0" lvl="0" indent="0" algn="l" rtl="0">
                        <a:spcBef>
                          <a:spcPts val="0"/>
                        </a:spcBef>
                        <a:spcAft>
                          <a:spcPts val="0"/>
                        </a:spcAft>
                        <a:buNone/>
                      </a:pPr>
                      <a:r>
                        <a:rPr lang="en" sz="2400"/>
                        <a:t>China</a:t>
                      </a:r>
                      <a:endParaRPr sz="2400"/>
                    </a:p>
                  </a:txBody>
                  <a:tcPr marL="121900" marR="121900" marT="121900" marB="121900"/>
                </a:tc>
                <a:tc>
                  <a:txBody>
                    <a:bodyPr/>
                    <a:lstStyle/>
                    <a:p>
                      <a:pPr marL="0" lvl="0" indent="0" algn="r" rtl="0">
                        <a:spcBef>
                          <a:spcPts val="0"/>
                        </a:spcBef>
                        <a:spcAft>
                          <a:spcPts val="0"/>
                        </a:spcAft>
                        <a:buNone/>
                      </a:pPr>
                      <a:r>
                        <a:rPr lang="en" sz="2400"/>
                        <a:t>68.8 mt</a:t>
                      </a:r>
                      <a:endParaRPr sz="2400"/>
                    </a:p>
                  </a:txBody>
                  <a:tcPr marL="121900" marR="121900" marT="121900" marB="121900"/>
                </a:tc>
                <a:extLst>
                  <a:ext uri="{0D108BD9-81ED-4DB2-BD59-A6C34878D82A}">
                    <a16:rowId xmlns:a16="http://schemas.microsoft.com/office/drawing/2014/main" val="10005"/>
                  </a:ext>
                </a:extLst>
              </a:tr>
              <a:tr h="609560">
                <a:tc>
                  <a:txBody>
                    <a:bodyPr/>
                    <a:lstStyle/>
                    <a:p>
                      <a:pPr marL="0" lvl="0" indent="0" algn="l" rtl="0">
                        <a:spcBef>
                          <a:spcPts val="0"/>
                        </a:spcBef>
                        <a:spcAft>
                          <a:spcPts val="0"/>
                        </a:spcAft>
                        <a:buNone/>
                      </a:pPr>
                      <a:r>
                        <a:rPr lang="en" sz="2400"/>
                        <a:t>Other SIDS</a:t>
                      </a:r>
                      <a:endParaRPr sz="2400"/>
                    </a:p>
                  </a:txBody>
                  <a:tcPr marL="121900" marR="121900" marT="121900" marB="121900"/>
                </a:tc>
                <a:tc>
                  <a:txBody>
                    <a:bodyPr/>
                    <a:lstStyle/>
                    <a:p>
                      <a:pPr marL="0" lvl="0" indent="0" algn="r" rtl="0">
                        <a:spcBef>
                          <a:spcPts val="0"/>
                        </a:spcBef>
                        <a:spcAft>
                          <a:spcPts val="0"/>
                        </a:spcAft>
                        <a:buNone/>
                      </a:pPr>
                      <a:r>
                        <a:rPr lang="en" sz="2400"/>
                        <a:t>75.2 mt</a:t>
                      </a:r>
                      <a:endParaRPr sz="2400"/>
                    </a:p>
                  </a:txBody>
                  <a:tcPr marL="121900" marR="121900" marT="121900" marB="121900"/>
                </a:tc>
                <a:extLst>
                  <a:ext uri="{0D108BD9-81ED-4DB2-BD59-A6C34878D82A}">
                    <a16:rowId xmlns:a16="http://schemas.microsoft.com/office/drawing/2014/main" val="10006"/>
                  </a:ext>
                </a:extLst>
              </a:tr>
              <a:tr h="609560">
                <a:tc>
                  <a:txBody>
                    <a:bodyPr/>
                    <a:lstStyle/>
                    <a:p>
                      <a:pPr marL="0" lvl="0" indent="0" algn="l" rtl="0">
                        <a:spcBef>
                          <a:spcPts val="0"/>
                        </a:spcBef>
                        <a:spcAft>
                          <a:spcPts val="0"/>
                        </a:spcAft>
                        <a:buNone/>
                      </a:pPr>
                      <a:r>
                        <a:rPr lang="en" sz="2400" b="1"/>
                        <a:t>Total</a:t>
                      </a:r>
                      <a:endParaRPr sz="2400" b="1"/>
                    </a:p>
                  </a:txBody>
                  <a:tcPr marL="121900" marR="121900" marT="121900" marB="121900"/>
                </a:tc>
                <a:tc>
                  <a:txBody>
                    <a:bodyPr/>
                    <a:lstStyle/>
                    <a:p>
                      <a:pPr marL="0" lvl="0" indent="0" algn="r" rtl="0">
                        <a:spcBef>
                          <a:spcPts val="0"/>
                        </a:spcBef>
                        <a:spcAft>
                          <a:spcPts val="0"/>
                        </a:spcAft>
                        <a:buNone/>
                      </a:pPr>
                      <a:r>
                        <a:rPr lang="en" sz="2400" b="1" dirty="0"/>
                        <a:t>2400 mt</a:t>
                      </a:r>
                      <a:endParaRPr sz="2400" b="1" dirty="0"/>
                    </a:p>
                  </a:txBody>
                  <a:tcPr marL="121900" marR="121900" marT="121900" marB="121900"/>
                </a:tc>
                <a:extLst>
                  <a:ext uri="{0D108BD9-81ED-4DB2-BD59-A6C34878D82A}">
                    <a16:rowId xmlns:a16="http://schemas.microsoft.com/office/drawing/2014/main" val="10007"/>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61" name="Google Shape;61;p14"/>
          <p:cNvSpPr txBox="1">
            <a:spLocks noGrp="1"/>
          </p:cNvSpPr>
          <p:nvPr>
            <p:ph type="title"/>
          </p:nvPr>
        </p:nvSpPr>
        <p:spPr>
          <a:xfrm>
            <a:off x="415600" y="0"/>
            <a:ext cx="11360800" cy="763600"/>
          </a:xfrm>
          <a:prstGeom prst="rect">
            <a:avLst/>
          </a:prstGeom>
        </p:spPr>
        <p:txBody>
          <a:bodyPr spcFirstLastPara="1" vert="horz" wrap="square" lIns="121900" tIns="121900" rIns="121900" bIns="121900" rtlCol="0" anchor="t" anchorCtr="0">
            <a:normAutofit/>
          </a:bodyPr>
          <a:lstStyle/>
          <a:p>
            <a:pPr algn="ctr"/>
            <a:r>
              <a:rPr lang="en" sz="3200" b="1" dirty="0"/>
              <a:t>Scenario 1</a:t>
            </a:r>
            <a:r>
              <a:rPr lang="en" sz="3200" dirty="0"/>
              <a:t>. Baseline CMM 2024-06 Catch Limits at 2,400 mt</a:t>
            </a:r>
            <a:endParaRPr sz="3200" dirty="0"/>
          </a:p>
        </p:txBody>
      </p:sp>
      <p:graphicFrame>
        <p:nvGraphicFramePr>
          <p:cNvPr id="62" name="Google Shape;62;p14"/>
          <p:cNvGraphicFramePr/>
          <p:nvPr>
            <p:extLst>
              <p:ext uri="{D42A27DB-BD31-4B8C-83A1-F6EECF244321}">
                <p14:modId xmlns:p14="http://schemas.microsoft.com/office/powerpoint/2010/main" val="3814249860"/>
              </p:ext>
            </p:extLst>
          </p:nvPr>
        </p:nvGraphicFramePr>
        <p:xfrm>
          <a:off x="1665534" y="763600"/>
          <a:ext cx="8860932" cy="4876480"/>
        </p:xfrm>
        <a:graphic>
          <a:graphicData uri="http://schemas.openxmlformats.org/drawingml/2006/table">
            <a:tbl>
              <a:tblPr>
                <a:noFill/>
              </a:tblPr>
              <a:tblGrid>
                <a:gridCol w="2215233">
                  <a:extLst>
                    <a:ext uri="{9D8B030D-6E8A-4147-A177-3AD203B41FA5}">
                      <a16:colId xmlns:a16="http://schemas.microsoft.com/office/drawing/2014/main" val="20000"/>
                    </a:ext>
                  </a:extLst>
                </a:gridCol>
                <a:gridCol w="2215233">
                  <a:extLst>
                    <a:ext uri="{9D8B030D-6E8A-4147-A177-3AD203B41FA5}">
                      <a16:colId xmlns:a16="http://schemas.microsoft.com/office/drawing/2014/main" val="20001"/>
                    </a:ext>
                  </a:extLst>
                </a:gridCol>
                <a:gridCol w="2215233">
                  <a:extLst>
                    <a:ext uri="{9D8B030D-6E8A-4147-A177-3AD203B41FA5}">
                      <a16:colId xmlns:a16="http://schemas.microsoft.com/office/drawing/2014/main" val="20002"/>
                    </a:ext>
                  </a:extLst>
                </a:gridCol>
                <a:gridCol w="2215233">
                  <a:extLst>
                    <a:ext uri="{9D8B030D-6E8A-4147-A177-3AD203B41FA5}">
                      <a16:colId xmlns:a16="http://schemas.microsoft.com/office/drawing/2014/main" val="20003"/>
                    </a:ext>
                  </a:extLst>
                </a:gridCol>
              </a:tblGrid>
              <a:tr h="609560">
                <a:tc>
                  <a:txBody>
                    <a:bodyPr/>
                    <a:lstStyle/>
                    <a:p>
                      <a:pPr marL="0" lvl="0" indent="0" algn="l" rtl="0">
                        <a:spcBef>
                          <a:spcPts val="0"/>
                        </a:spcBef>
                        <a:spcAft>
                          <a:spcPts val="0"/>
                        </a:spcAft>
                        <a:buNone/>
                      </a:pPr>
                      <a:r>
                        <a:rPr lang="en" sz="2400" b="1"/>
                        <a:t>Country</a:t>
                      </a:r>
                      <a:endParaRPr sz="2400" b="1"/>
                    </a:p>
                  </a:txBody>
                  <a:tcPr marL="121900" marR="121900" marT="121900" marB="121900"/>
                </a:tc>
                <a:tc>
                  <a:txBody>
                    <a:bodyPr/>
                    <a:lstStyle/>
                    <a:p>
                      <a:pPr marL="0" lvl="0" indent="0" algn="ctr" rtl="0">
                        <a:spcBef>
                          <a:spcPts val="0"/>
                        </a:spcBef>
                        <a:spcAft>
                          <a:spcPts val="0"/>
                        </a:spcAft>
                        <a:buNone/>
                      </a:pPr>
                      <a:r>
                        <a:rPr lang="en" sz="2400" b="1" dirty="0"/>
                        <a:t>2025</a:t>
                      </a:r>
                      <a:endParaRPr sz="2400" b="1" dirty="0"/>
                    </a:p>
                  </a:txBody>
                  <a:tcPr marL="121900" marR="121900" marT="121900" marB="121900"/>
                </a:tc>
                <a:tc>
                  <a:txBody>
                    <a:bodyPr/>
                    <a:lstStyle/>
                    <a:p>
                      <a:pPr marL="0" lvl="0" indent="0" algn="ctr" rtl="0">
                        <a:spcBef>
                          <a:spcPts val="0"/>
                        </a:spcBef>
                        <a:spcAft>
                          <a:spcPts val="0"/>
                        </a:spcAft>
                        <a:buNone/>
                      </a:pPr>
                      <a:r>
                        <a:rPr lang="en" sz="2400" b="1"/>
                        <a:t>2026</a:t>
                      </a:r>
                      <a:endParaRPr sz="2400" b="1"/>
                    </a:p>
                  </a:txBody>
                  <a:tcPr marL="121900" marR="121900" marT="121900" marB="121900">
                    <a:lnB w="9525" cap="flat" cmpd="sng">
                      <a:solidFill>
                        <a:srgbClr val="9E9E9E"/>
                      </a:solidFill>
                      <a:prstDash val="solid"/>
                      <a:round/>
                      <a:headEnd type="none" w="sm" len="sm"/>
                      <a:tailEnd type="none" w="sm" len="sm"/>
                    </a:lnB>
                  </a:tcPr>
                </a:tc>
                <a:tc>
                  <a:txBody>
                    <a:bodyPr/>
                    <a:lstStyle/>
                    <a:p>
                      <a:pPr marL="0" lvl="0" indent="0" algn="ctr" rtl="0">
                        <a:spcBef>
                          <a:spcPts val="0"/>
                        </a:spcBef>
                        <a:spcAft>
                          <a:spcPts val="0"/>
                        </a:spcAft>
                        <a:buNone/>
                      </a:pPr>
                      <a:r>
                        <a:rPr lang="en" sz="2400" b="1" dirty="0"/>
                        <a:t>2027</a:t>
                      </a:r>
                      <a:endParaRPr sz="2400" b="1" dirty="0"/>
                    </a:p>
                  </a:txBody>
                  <a:tcPr marL="121900" marR="121900" marT="121900" marB="121900">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609560">
                <a:tc>
                  <a:txBody>
                    <a:bodyPr/>
                    <a:lstStyle/>
                    <a:p>
                      <a:pPr marL="0" lvl="0" indent="0" algn="l" rtl="0">
                        <a:spcBef>
                          <a:spcPts val="0"/>
                        </a:spcBef>
                        <a:spcAft>
                          <a:spcPts val="0"/>
                        </a:spcAft>
                        <a:buNone/>
                      </a:pPr>
                      <a:r>
                        <a:rPr lang="en" sz="2400"/>
                        <a:t>Japan</a:t>
                      </a:r>
                      <a:endParaRPr sz="2400"/>
                    </a:p>
                  </a:txBody>
                  <a:tcPr marL="121900" marR="121900" marT="121900" marB="121900"/>
                </a:tc>
                <a:tc>
                  <a:txBody>
                    <a:bodyPr/>
                    <a:lstStyle/>
                    <a:p>
                      <a:pPr marL="0" lvl="0" indent="0" algn="r" rtl="0">
                        <a:spcBef>
                          <a:spcPts val="0"/>
                        </a:spcBef>
                        <a:spcAft>
                          <a:spcPts val="0"/>
                        </a:spcAft>
                        <a:buNone/>
                      </a:pPr>
                      <a:r>
                        <a:rPr lang="en" sz="2400" dirty="0"/>
                        <a:t>1454.4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dirty="0"/>
                        <a:t>1454.4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dirty="0"/>
                        <a:t>1454.4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609560">
                <a:tc>
                  <a:txBody>
                    <a:bodyPr/>
                    <a:lstStyle/>
                    <a:p>
                      <a:pPr marL="0" lvl="0" indent="0" algn="l" rtl="0">
                        <a:spcBef>
                          <a:spcPts val="0"/>
                        </a:spcBef>
                        <a:spcAft>
                          <a:spcPts val="0"/>
                        </a:spcAft>
                        <a:buNone/>
                      </a:pPr>
                      <a:r>
                        <a:rPr lang="en" sz="2400"/>
                        <a:t>Chinese Taipei</a:t>
                      </a:r>
                      <a:endParaRPr sz="2400"/>
                    </a:p>
                  </a:txBody>
                  <a:tcPr marL="121900" marR="121900" marT="121900" marB="121900"/>
                </a:tc>
                <a:tc>
                  <a:txBody>
                    <a:bodyPr/>
                    <a:lstStyle/>
                    <a:p>
                      <a:pPr marL="0" lvl="0" indent="0" algn="r" rtl="0">
                        <a:spcBef>
                          <a:spcPts val="0"/>
                        </a:spcBef>
                        <a:spcAft>
                          <a:spcPts val="0"/>
                        </a:spcAft>
                        <a:buNone/>
                      </a:pPr>
                      <a:r>
                        <a:rPr lang="en" sz="2400" dirty="0"/>
                        <a:t>358.4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dirty="0"/>
                        <a:t>358.4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dirty="0"/>
                        <a:t>358.4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r h="609560">
                <a:tc>
                  <a:txBody>
                    <a:bodyPr/>
                    <a:lstStyle/>
                    <a:p>
                      <a:pPr marL="0" lvl="0" indent="0" algn="l" rtl="0">
                        <a:spcBef>
                          <a:spcPts val="0"/>
                        </a:spcBef>
                        <a:spcAft>
                          <a:spcPts val="0"/>
                        </a:spcAft>
                        <a:buNone/>
                      </a:pPr>
                      <a:r>
                        <a:rPr lang="en" sz="2400"/>
                        <a:t>Korea</a:t>
                      </a:r>
                      <a:endParaRPr sz="2400"/>
                    </a:p>
                  </a:txBody>
                  <a:tcPr marL="121900" marR="121900" marT="121900" marB="121900"/>
                </a:tc>
                <a:tc>
                  <a:txBody>
                    <a:bodyPr/>
                    <a:lstStyle/>
                    <a:p>
                      <a:pPr marL="0" lvl="0" indent="0" algn="r" rtl="0">
                        <a:spcBef>
                          <a:spcPts val="0"/>
                        </a:spcBef>
                        <a:spcAft>
                          <a:spcPts val="0"/>
                        </a:spcAft>
                        <a:buNone/>
                      </a:pPr>
                      <a:r>
                        <a:rPr lang="en" sz="2400" dirty="0"/>
                        <a:t>214.8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dirty="0"/>
                        <a:t>214.8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dirty="0"/>
                        <a:t>214.8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3"/>
                  </a:ext>
                </a:extLst>
              </a:tr>
              <a:tr h="609560">
                <a:tc>
                  <a:txBody>
                    <a:bodyPr/>
                    <a:lstStyle/>
                    <a:p>
                      <a:pPr marL="0" lvl="0" indent="0" algn="l" rtl="0">
                        <a:spcBef>
                          <a:spcPts val="0"/>
                        </a:spcBef>
                        <a:spcAft>
                          <a:spcPts val="0"/>
                        </a:spcAft>
                        <a:buNone/>
                      </a:pPr>
                      <a:r>
                        <a:rPr lang="en" sz="2400"/>
                        <a:t>United States</a:t>
                      </a:r>
                      <a:endParaRPr sz="2400"/>
                    </a:p>
                  </a:txBody>
                  <a:tcPr marL="121900" marR="121900" marT="121900" marB="121900"/>
                </a:tc>
                <a:tc>
                  <a:txBody>
                    <a:bodyPr/>
                    <a:lstStyle/>
                    <a:p>
                      <a:pPr marL="0" lvl="0" indent="0" algn="r" rtl="0">
                        <a:spcBef>
                          <a:spcPts val="0"/>
                        </a:spcBef>
                        <a:spcAft>
                          <a:spcPts val="0"/>
                        </a:spcAft>
                        <a:buNone/>
                      </a:pPr>
                      <a:r>
                        <a:rPr lang="en" sz="2400" dirty="0"/>
                        <a:t>228.4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dirty="0"/>
                        <a:t>228.4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dirty="0"/>
                        <a:t>228.4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4"/>
                  </a:ext>
                </a:extLst>
              </a:tr>
              <a:tr h="609560">
                <a:tc>
                  <a:txBody>
                    <a:bodyPr/>
                    <a:lstStyle/>
                    <a:p>
                      <a:pPr marL="0" lvl="0" indent="0" algn="l" rtl="0">
                        <a:spcBef>
                          <a:spcPts val="0"/>
                        </a:spcBef>
                        <a:spcAft>
                          <a:spcPts val="0"/>
                        </a:spcAft>
                        <a:buNone/>
                      </a:pPr>
                      <a:r>
                        <a:rPr lang="en" sz="2400"/>
                        <a:t>China</a:t>
                      </a:r>
                      <a:endParaRPr sz="2400"/>
                    </a:p>
                  </a:txBody>
                  <a:tcPr marL="121900" marR="121900" marT="121900" marB="121900"/>
                </a:tc>
                <a:tc>
                  <a:txBody>
                    <a:bodyPr/>
                    <a:lstStyle/>
                    <a:p>
                      <a:pPr marL="0" lvl="0" indent="0" algn="r" rtl="0">
                        <a:spcBef>
                          <a:spcPts val="0"/>
                        </a:spcBef>
                        <a:spcAft>
                          <a:spcPts val="0"/>
                        </a:spcAft>
                        <a:buNone/>
                      </a:pPr>
                      <a:r>
                        <a:rPr lang="en" sz="2400"/>
                        <a:t>68.8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a:t>68.8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a:t>68.8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5"/>
                  </a:ext>
                </a:extLst>
              </a:tr>
              <a:tr h="609560">
                <a:tc>
                  <a:txBody>
                    <a:bodyPr/>
                    <a:lstStyle/>
                    <a:p>
                      <a:pPr marL="0" lvl="0" indent="0" algn="l" rtl="0">
                        <a:spcBef>
                          <a:spcPts val="0"/>
                        </a:spcBef>
                        <a:spcAft>
                          <a:spcPts val="0"/>
                        </a:spcAft>
                        <a:buNone/>
                      </a:pPr>
                      <a:r>
                        <a:rPr lang="en" sz="2400"/>
                        <a:t>Other SIDS</a:t>
                      </a:r>
                      <a:endParaRPr sz="2400"/>
                    </a:p>
                  </a:txBody>
                  <a:tcPr marL="121900" marR="121900" marT="121900" marB="121900"/>
                </a:tc>
                <a:tc>
                  <a:txBody>
                    <a:bodyPr/>
                    <a:lstStyle/>
                    <a:p>
                      <a:pPr marL="0" lvl="0" indent="0" algn="r" rtl="0">
                        <a:spcBef>
                          <a:spcPts val="0"/>
                        </a:spcBef>
                        <a:spcAft>
                          <a:spcPts val="0"/>
                        </a:spcAft>
                        <a:buNone/>
                      </a:pPr>
                      <a:r>
                        <a:rPr lang="en" sz="2400"/>
                        <a:t>75.2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a:t>75.2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a:t>75.2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6"/>
                  </a:ext>
                </a:extLst>
              </a:tr>
              <a:tr h="609560">
                <a:tc>
                  <a:txBody>
                    <a:bodyPr/>
                    <a:lstStyle/>
                    <a:p>
                      <a:pPr marL="0" lvl="0" indent="0" algn="l" rtl="0">
                        <a:spcBef>
                          <a:spcPts val="0"/>
                        </a:spcBef>
                        <a:spcAft>
                          <a:spcPts val="0"/>
                        </a:spcAft>
                        <a:buNone/>
                      </a:pPr>
                      <a:r>
                        <a:rPr lang="en" sz="2400" b="1"/>
                        <a:t>Total</a:t>
                      </a:r>
                      <a:endParaRPr sz="2400" b="1"/>
                    </a:p>
                  </a:txBody>
                  <a:tcPr marL="121900" marR="121900" marT="121900" marB="121900"/>
                </a:tc>
                <a:tc>
                  <a:txBody>
                    <a:bodyPr/>
                    <a:lstStyle/>
                    <a:p>
                      <a:pPr marL="0" lvl="0" indent="0" algn="r" rtl="0">
                        <a:spcBef>
                          <a:spcPts val="0"/>
                        </a:spcBef>
                        <a:spcAft>
                          <a:spcPts val="0"/>
                        </a:spcAft>
                        <a:buNone/>
                      </a:pPr>
                      <a:r>
                        <a:rPr lang="en" sz="2400" b="1"/>
                        <a:t>2400 mt</a:t>
                      </a:r>
                      <a:endParaRPr sz="2400" b="1"/>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b="1"/>
                        <a:t>2400 mt</a:t>
                      </a:r>
                      <a:endParaRPr sz="2400" b="1"/>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b="1" dirty="0"/>
                        <a:t>2400 mt</a:t>
                      </a:r>
                      <a:endParaRPr sz="2400" b="1"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sp>
        <p:nvSpPr>
          <p:cNvPr id="63" name="Google Shape;63;p14"/>
          <p:cNvSpPr txBox="1"/>
          <p:nvPr/>
        </p:nvSpPr>
        <p:spPr>
          <a:xfrm>
            <a:off x="108401" y="5640080"/>
            <a:ext cx="10418065" cy="1217920"/>
          </a:xfrm>
          <a:prstGeom prst="rect">
            <a:avLst/>
          </a:prstGeom>
          <a:noFill/>
          <a:ln>
            <a:noFill/>
          </a:ln>
        </p:spPr>
        <p:txBody>
          <a:bodyPr spcFirstLastPara="1" wrap="square" lIns="121900" tIns="121900" rIns="121900" bIns="121900" anchor="t" anchorCtr="0">
            <a:noAutofit/>
          </a:bodyPr>
          <a:lstStyle/>
          <a:p>
            <a:pPr marL="609585" indent="-423323">
              <a:buClr>
                <a:schemeClr val="dk2"/>
              </a:buClr>
              <a:buSzPts val="1400"/>
              <a:buChar char="●"/>
            </a:pPr>
            <a:r>
              <a:rPr lang="en" sz="1600" dirty="0">
                <a:solidFill>
                  <a:schemeClr val="dk2"/>
                </a:solidFill>
              </a:rPr>
              <a:t>For countries which are represented by more than one fleet in the rebuilding analysis, catch would be distributed between fleets based upon the proportion of catch for each fleet in 2020 (last year of the assessment)</a:t>
            </a:r>
            <a:endParaRPr sz="1600" dirty="0">
              <a:solidFill>
                <a:schemeClr val="dk2"/>
              </a:solidFill>
            </a:endParaRPr>
          </a:p>
          <a:p>
            <a:pPr marL="609585" indent="-423323">
              <a:buClr>
                <a:schemeClr val="dk2"/>
              </a:buClr>
              <a:buSzPts val="1400"/>
              <a:buChar char="●"/>
            </a:pPr>
            <a:r>
              <a:rPr lang="en" sz="1600" dirty="0">
                <a:solidFill>
                  <a:schemeClr val="dk2"/>
                </a:solidFill>
              </a:rPr>
              <a:t>For 2021-2022, catch would be updated to reported (yearbook catch) from WCPFC, and 2023-2024 would be carryover catch from 2022 if updated catch is not available.</a:t>
            </a:r>
            <a:endParaRPr sz="1600" dirty="0">
              <a:solidFill>
                <a:schemeClr val="dk2"/>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sp>
        <p:nvSpPr>
          <p:cNvPr id="68" name="Google Shape;68;p15"/>
          <p:cNvSpPr txBox="1">
            <a:spLocks noGrp="1"/>
          </p:cNvSpPr>
          <p:nvPr>
            <p:ph type="title"/>
          </p:nvPr>
        </p:nvSpPr>
        <p:spPr>
          <a:xfrm>
            <a:off x="0" y="178675"/>
            <a:ext cx="12192000" cy="763600"/>
          </a:xfrm>
          <a:prstGeom prst="rect">
            <a:avLst/>
          </a:prstGeom>
        </p:spPr>
        <p:txBody>
          <a:bodyPr spcFirstLastPara="1" vert="horz" wrap="square" lIns="121900" tIns="121900" rIns="121900" bIns="121900" rtlCol="0" anchor="t" anchorCtr="0">
            <a:normAutofit/>
          </a:bodyPr>
          <a:lstStyle/>
          <a:p>
            <a:pPr algn="ctr"/>
            <a:r>
              <a:rPr lang="en" sz="3200" b="1" dirty="0"/>
              <a:t>Scenario 2</a:t>
            </a:r>
            <a:r>
              <a:rPr lang="en" sz="3200" dirty="0"/>
              <a:t>. CMM 2024-06 Catch Limits with 2025 Carryover Catch</a:t>
            </a:r>
            <a:endParaRPr sz="3200" dirty="0"/>
          </a:p>
        </p:txBody>
      </p:sp>
      <p:graphicFrame>
        <p:nvGraphicFramePr>
          <p:cNvPr id="69" name="Google Shape;69;p15"/>
          <p:cNvGraphicFramePr/>
          <p:nvPr>
            <p:extLst>
              <p:ext uri="{D42A27DB-BD31-4B8C-83A1-F6EECF244321}">
                <p14:modId xmlns:p14="http://schemas.microsoft.com/office/powerpoint/2010/main" val="1245288719"/>
              </p:ext>
            </p:extLst>
          </p:nvPr>
        </p:nvGraphicFramePr>
        <p:xfrm>
          <a:off x="1519487" y="1308926"/>
          <a:ext cx="8549423" cy="4876480"/>
        </p:xfrm>
        <a:graphic>
          <a:graphicData uri="http://schemas.openxmlformats.org/drawingml/2006/table">
            <a:tbl>
              <a:tblPr>
                <a:noFill/>
              </a:tblPr>
              <a:tblGrid>
                <a:gridCol w="2215233">
                  <a:extLst>
                    <a:ext uri="{9D8B030D-6E8A-4147-A177-3AD203B41FA5}">
                      <a16:colId xmlns:a16="http://schemas.microsoft.com/office/drawing/2014/main" val="20000"/>
                    </a:ext>
                  </a:extLst>
                </a:gridCol>
                <a:gridCol w="2802715">
                  <a:extLst>
                    <a:ext uri="{9D8B030D-6E8A-4147-A177-3AD203B41FA5}">
                      <a16:colId xmlns:a16="http://schemas.microsoft.com/office/drawing/2014/main" val="20001"/>
                    </a:ext>
                  </a:extLst>
                </a:gridCol>
                <a:gridCol w="1755227">
                  <a:extLst>
                    <a:ext uri="{9D8B030D-6E8A-4147-A177-3AD203B41FA5}">
                      <a16:colId xmlns:a16="http://schemas.microsoft.com/office/drawing/2014/main" val="20002"/>
                    </a:ext>
                  </a:extLst>
                </a:gridCol>
                <a:gridCol w="1776248">
                  <a:extLst>
                    <a:ext uri="{9D8B030D-6E8A-4147-A177-3AD203B41FA5}">
                      <a16:colId xmlns:a16="http://schemas.microsoft.com/office/drawing/2014/main" val="20003"/>
                    </a:ext>
                  </a:extLst>
                </a:gridCol>
              </a:tblGrid>
              <a:tr h="609560">
                <a:tc>
                  <a:txBody>
                    <a:bodyPr/>
                    <a:lstStyle/>
                    <a:p>
                      <a:pPr marL="0" lvl="0" indent="0" algn="l" rtl="0">
                        <a:spcBef>
                          <a:spcPts val="0"/>
                        </a:spcBef>
                        <a:spcAft>
                          <a:spcPts val="0"/>
                        </a:spcAft>
                        <a:buNone/>
                      </a:pPr>
                      <a:r>
                        <a:rPr lang="en" sz="2400" b="1"/>
                        <a:t>Country</a:t>
                      </a:r>
                      <a:endParaRPr sz="2400" b="1"/>
                    </a:p>
                  </a:txBody>
                  <a:tcPr marL="121900" marR="121900" marT="121900" marB="121900"/>
                </a:tc>
                <a:tc>
                  <a:txBody>
                    <a:bodyPr/>
                    <a:lstStyle/>
                    <a:p>
                      <a:pPr marL="0" lvl="0" indent="0" algn="ctr" rtl="0">
                        <a:spcBef>
                          <a:spcPts val="0"/>
                        </a:spcBef>
                        <a:spcAft>
                          <a:spcPts val="0"/>
                        </a:spcAft>
                        <a:buNone/>
                      </a:pPr>
                      <a:r>
                        <a:rPr lang="en" sz="2400" b="1"/>
                        <a:t>2025</a:t>
                      </a:r>
                      <a:endParaRPr sz="2400" b="1"/>
                    </a:p>
                  </a:txBody>
                  <a:tcPr marL="121900" marR="121900" marT="121900" marB="121900"/>
                </a:tc>
                <a:tc>
                  <a:txBody>
                    <a:bodyPr/>
                    <a:lstStyle/>
                    <a:p>
                      <a:pPr marL="0" lvl="0" indent="0" algn="ctr" rtl="0">
                        <a:spcBef>
                          <a:spcPts val="0"/>
                        </a:spcBef>
                        <a:spcAft>
                          <a:spcPts val="0"/>
                        </a:spcAft>
                        <a:buNone/>
                      </a:pPr>
                      <a:r>
                        <a:rPr lang="en" sz="2400" b="1" dirty="0"/>
                        <a:t>2026</a:t>
                      </a:r>
                      <a:endParaRPr sz="2400" b="1" dirty="0"/>
                    </a:p>
                  </a:txBody>
                  <a:tcPr marL="121900" marR="121900" marT="121900" marB="121900">
                    <a:lnB w="9525" cap="flat" cmpd="sng">
                      <a:solidFill>
                        <a:srgbClr val="9E9E9E"/>
                      </a:solidFill>
                      <a:prstDash val="solid"/>
                      <a:round/>
                      <a:headEnd type="none" w="sm" len="sm"/>
                      <a:tailEnd type="none" w="sm" len="sm"/>
                    </a:lnB>
                  </a:tcPr>
                </a:tc>
                <a:tc>
                  <a:txBody>
                    <a:bodyPr/>
                    <a:lstStyle/>
                    <a:p>
                      <a:pPr marL="0" lvl="0" indent="0" algn="ctr" rtl="0">
                        <a:spcBef>
                          <a:spcPts val="0"/>
                        </a:spcBef>
                        <a:spcAft>
                          <a:spcPts val="0"/>
                        </a:spcAft>
                        <a:buNone/>
                      </a:pPr>
                      <a:r>
                        <a:rPr lang="en" sz="2400" b="1" dirty="0"/>
                        <a:t>2027</a:t>
                      </a:r>
                      <a:endParaRPr sz="2400" b="1" dirty="0"/>
                    </a:p>
                  </a:txBody>
                  <a:tcPr marL="121900" marR="121900" marT="121900" marB="121900">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582976">
                <a:tc>
                  <a:txBody>
                    <a:bodyPr/>
                    <a:lstStyle/>
                    <a:p>
                      <a:pPr marL="0" lvl="0" indent="0" algn="l" rtl="0">
                        <a:spcBef>
                          <a:spcPts val="0"/>
                        </a:spcBef>
                        <a:spcAft>
                          <a:spcPts val="0"/>
                        </a:spcAft>
                        <a:buNone/>
                      </a:pPr>
                      <a:r>
                        <a:rPr lang="en" sz="2400" dirty="0"/>
                        <a:t>Japan</a:t>
                      </a:r>
                      <a:endParaRPr sz="2400" dirty="0"/>
                    </a:p>
                  </a:txBody>
                  <a:tcPr marL="121900" marR="121900" marT="121900" marB="121900"/>
                </a:tc>
                <a:tc>
                  <a:txBody>
                    <a:bodyPr/>
                    <a:lstStyle/>
                    <a:p>
                      <a:pPr marL="0" lvl="0" indent="0" algn="r" rtl="0">
                        <a:spcBef>
                          <a:spcPts val="0"/>
                        </a:spcBef>
                        <a:spcAft>
                          <a:spcPts val="0"/>
                        </a:spcAft>
                        <a:buNone/>
                      </a:pPr>
                      <a:r>
                        <a:rPr lang="en" sz="2400" dirty="0"/>
                        <a:t>1454.4 mt + 165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dirty="0"/>
                        <a:t>1454.4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dirty="0"/>
                        <a:t>1454.4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572506">
                <a:tc>
                  <a:txBody>
                    <a:bodyPr/>
                    <a:lstStyle/>
                    <a:p>
                      <a:pPr marL="0" lvl="0" indent="0" algn="l" rtl="0">
                        <a:spcBef>
                          <a:spcPts val="0"/>
                        </a:spcBef>
                        <a:spcAft>
                          <a:spcPts val="0"/>
                        </a:spcAft>
                        <a:buNone/>
                      </a:pPr>
                      <a:r>
                        <a:rPr lang="en" sz="2400"/>
                        <a:t>Chinese Taipei</a:t>
                      </a:r>
                      <a:endParaRPr sz="2400"/>
                    </a:p>
                  </a:txBody>
                  <a:tcPr marL="121900" marR="121900" marT="121900" marB="121900"/>
                </a:tc>
                <a:tc>
                  <a:txBody>
                    <a:bodyPr/>
                    <a:lstStyle/>
                    <a:p>
                      <a:pPr marL="0" lvl="0" indent="0" algn="r" rtl="0">
                        <a:spcBef>
                          <a:spcPts val="0"/>
                        </a:spcBef>
                        <a:spcAft>
                          <a:spcPts val="0"/>
                        </a:spcAft>
                        <a:buNone/>
                      </a:pPr>
                      <a:r>
                        <a:rPr lang="en" sz="2400"/>
                        <a:t>358.4mt + 165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dirty="0"/>
                        <a:t>358.4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dirty="0"/>
                        <a:t>358.4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r h="593567">
                <a:tc>
                  <a:txBody>
                    <a:bodyPr/>
                    <a:lstStyle/>
                    <a:p>
                      <a:pPr marL="0" lvl="0" indent="0" algn="l" rtl="0">
                        <a:spcBef>
                          <a:spcPts val="0"/>
                        </a:spcBef>
                        <a:spcAft>
                          <a:spcPts val="0"/>
                        </a:spcAft>
                        <a:buNone/>
                      </a:pPr>
                      <a:r>
                        <a:rPr lang="en" sz="2400"/>
                        <a:t>Korea</a:t>
                      </a:r>
                      <a:endParaRPr sz="2400"/>
                    </a:p>
                  </a:txBody>
                  <a:tcPr marL="121900" marR="121900" marT="121900" marB="121900"/>
                </a:tc>
                <a:tc>
                  <a:txBody>
                    <a:bodyPr/>
                    <a:lstStyle/>
                    <a:p>
                      <a:pPr marL="0" lvl="0" indent="0" algn="r" rtl="0">
                        <a:spcBef>
                          <a:spcPts val="0"/>
                        </a:spcBef>
                        <a:spcAft>
                          <a:spcPts val="0"/>
                        </a:spcAft>
                        <a:buNone/>
                      </a:pPr>
                      <a:r>
                        <a:rPr lang="en" sz="2400"/>
                        <a:t>214.8mt + 165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dirty="0"/>
                        <a:t>214.8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dirty="0"/>
                        <a:t>214.8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3"/>
                  </a:ext>
                </a:extLst>
              </a:tr>
              <a:tr h="604117">
                <a:tc>
                  <a:txBody>
                    <a:bodyPr/>
                    <a:lstStyle/>
                    <a:p>
                      <a:pPr marL="0" lvl="0" indent="0" algn="l" rtl="0">
                        <a:spcBef>
                          <a:spcPts val="0"/>
                        </a:spcBef>
                        <a:spcAft>
                          <a:spcPts val="0"/>
                        </a:spcAft>
                        <a:buNone/>
                      </a:pPr>
                      <a:r>
                        <a:rPr lang="en" sz="2400"/>
                        <a:t>United States</a:t>
                      </a:r>
                      <a:endParaRPr sz="2400"/>
                    </a:p>
                  </a:txBody>
                  <a:tcPr marL="121900" marR="121900" marT="121900" marB="121900"/>
                </a:tc>
                <a:tc>
                  <a:txBody>
                    <a:bodyPr/>
                    <a:lstStyle/>
                    <a:p>
                      <a:pPr marL="0" lvl="0" indent="0" algn="r" rtl="0">
                        <a:spcBef>
                          <a:spcPts val="0"/>
                        </a:spcBef>
                        <a:spcAft>
                          <a:spcPts val="0"/>
                        </a:spcAft>
                        <a:buNone/>
                      </a:pPr>
                      <a:r>
                        <a:rPr lang="en" sz="2400"/>
                        <a:t>228.4mt + 165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dirty="0"/>
                        <a:t>228.4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a:t>228.4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4"/>
                  </a:ext>
                </a:extLst>
              </a:tr>
              <a:tr h="583136">
                <a:tc>
                  <a:txBody>
                    <a:bodyPr/>
                    <a:lstStyle/>
                    <a:p>
                      <a:pPr marL="0" lvl="0" indent="0" algn="l" rtl="0">
                        <a:spcBef>
                          <a:spcPts val="0"/>
                        </a:spcBef>
                        <a:spcAft>
                          <a:spcPts val="0"/>
                        </a:spcAft>
                        <a:buNone/>
                      </a:pPr>
                      <a:r>
                        <a:rPr lang="en" sz="2400"/>
                        <a:t>China</a:t>
                      </a:r>
                      <a:endParaRPr sz="2400"/>
                    </a:p>
                  </a:txBody>
                  <a:tcPr marL="121900" marR="121900" marT="121900" marB="121900"/>
                </a:tc>
                <a:tc>
                  <a:txBody>
                    <a:bodyPr/>
                    <a:lstStyle/>
                    <a:p>
                      <a:pPr marL="0" lvl="0" indent="0" algn="r" rtl="0">
                        <a:spcBef>
                          <a:spcPts val="0"/>
                        </a:spcBef>
                        <a:spcAft>
                          <a:spcPts val="0"/>
                        </a:spcAft>
                        <a:buNone/>
                      </a:pPr>
                      <a:r>
                        <a:rPr lang="en" sz="2400"/>
                        <a:t>68.8 mt + 165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a:t>68.8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a:t>68.8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5"/>
                  </a:ext>
                </a:extLst>
              </a:tr>
              <a:tr h="609560">
                <a:tc>
                  <a:txBody>
                    <a:bodyPr/>
                    <a:lstStyle/>
                    <a:p>
                      <a:pPr marL="0" lvl="0" indent="0" algn="l" rtl="0">
                        <a:spcBef>
                          <a:spcPts val="0"/>
                        </a:spcBef>
                        <a:spcAft>
                          <a:spcPts val="0"/>
                        </a:spcAft>
                        <a:buNone/>
                      </a:pPr>
                      <a:r>
                        <a:rPr lang="en" sz="2400"/>
                        <a:t>Other SIDS</a:t>
                      </a:r>
                      <a:endParaRPr sz="2400"/>
                    </a:p>
                  </a:txBody>
                  <a:tcPr marL="121900" marR="121900" marT="121900" marB="121900"/>
                </a:tc>
                <a:tc>
                  <a:txBody>
                    <a:bodyPr/>
                    <a:lstStyle/>
                    <a:p>
                      <a:pPr marL="0" lvl="0" indent="0" algn="r" rtl="0">
                        <a:spcBef>
                          <a:spcPts val="0"/>
                        </a:spcBef>
                        <a:spcAft>
                          <a:spcPts val="0"/>
                        </a:spcAft>
                        <a:buNone/>
                      </a:pPr>
                      <a:r>
                        <a:rPr lang="en" sz="2400"/>
                        <a:t>75.2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a:t>75.2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a:t>75.2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6"/>
                  </a:ext>
                </a:extLst>
              </a:tr>
              <a:tr h="609560">
                <a:tc>
                  <a:txBody>
                    <a:bodyPr/>
                    <a:lstStyle/>
                    <a:p>
                      <a:pPr marL="0" lvl="0" indent="0" algn="l" rtl="0">
                        <a:spcBef>
                          <a:spcPts val="0"/>
                        </a:spcBef>
                        <a:spcAft>
                          <a:spcPts val="0"/>
                        </a:spcAft>
                        <a:buNone/>
                      </a:pPr>
                      <a:r>
                        <a:rPr lang="en" sz="2400" b="1"/>
                        <a:t>Total</a:t>
                      </a:r>
                      <a:endParaRPr sz="2400" b="1"/>
                    </a:p>
                  </a:txBody>
                  <a:tcPr marL="121900" marR="121900" marT="121900" marB="121900"/>
                </a:tc>
                <a:tc>
                  <a:txBody>
                    <a:bodyPr/>
                    <a:lstStyle/>
                    <a:p>
                      <a:pPr marL="0" lvl="0" indent="0" algn="r" rtl="0">
                        <a:spcBef>
                          <a:spcPts val="0"/>
                        </a:spcBef>
                        <a:spcAft>
                          <a:spcPts val="0"/>
                        </a:spcAft>
                        <a:buNone/>
                      </a:pPr>
                      <a:r>
                        <a:rPr lang="en" sz="2400" b="1" dirty="0"/>
                        <a:t>3225 mt</a:t>
                      </a:r>
                      <a:endParaRPr sz="2400" b="1"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b="1" dirty="0"/>
                        <a:t>2400 mt</a:t>
                      </a:r>
                      <a:endParaRPr sz="2400" b="1"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b="1" dirty="0"/>
                        <a:t>2400 mt</a:t>
                      </a:r>
                      <a:endParaRPr sz="2400" b="1"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4"/>
        <p:cNvGrpSpPr/>
        <p:nvPr/>
      </p:nvGrpSpPr>
      <p:grpSpPr>
        <a:xfrm>
          <a:off x="0" y="0"/>
          <a:ext cx="0" cy="0"/>
          <a:chOff x="0" y="0"/>
          <a:chExt cx="0" cy="0"/>
        </a:xfrm>
      </p:grpSpPr>
      <p:sp>
        <p:nvSpPr>
          <p:cNvPr id="75" name="Google Shape;75;p16"/>
          <p:cNvSpPr txBox="1">
            <a:spLocks noGrp="1"/>
          </p:cNvSpPr>
          <p:nvPr>
            <p:ph type="title"/>
          </p:nvPr>
        </p:nvSpPr>
        <p:spPr>
          <a:xfrm>
            <a:off x="0" y="147767"/>
            <a:ext cx="12192000" cy="763600"/>
          </a:xfrm>
          <a:prstGeom prst="rect">
            <a:avLst/>
          </a:prstGeom>
        </p:spPr>
        <p:txBody>
          <a:bodyPr spcFirstLastPara="1" vert="horz" wrap="square" lIns="121900" tIns="121900" rIns="121900" bIns="121900" rtlCol="0" anchor="t" anchorCtr="0">
            <a:noAutofit/>
          </a:bodyPr>
          <a:lstStyle/>
          <a:p>
            <a:pPr algn="ctr">
              <a:buSzPts val="990"/>
            </a:pPr>
            <a:r>
              <a:rPr lang="en" sz="3200" b="1" dirty="0"/>
              <a:t>Scenario 3</a:t>
            </a:r>
            <a:r>
              <a:rPr lang="en" sz="3200" dirty="0"/>
              <a:t>. CMM 2024-06 Catch Limits with 2025-2026 Carryover Catch</a:t>
            </a:r>
            <a:endParaRPr sz="3200" dirty="0"/>
          </a:p>
        </p:txBody>
      </p:sp>
      <p:graphicFrame>
        <p:nvGraphicFramePr>
          <p:cNvPr id="76" name="Google Shape;76;p16"/>
          <p:cNvGraphicFramePr/>
          <p:nvPr>
            <p:extLst>
              <p:ext uri="{D42A27DB-BD31-4B8C-83A1-F6EECF244321}">
                <p14:modId xmlns:p14="http://schemas.microsoft.com/office/powerpoint/2010/main" val="2474463538"/>
              </p:ext>
            </p:extLst>
          </p:nvPr>
        </p:nvGraphicFramePr>
        <p:xfrm>
          <a:off x="1248473" y="1256458"/>
          <a:ext cx="9695053" cy="4876480"/>
        </p:xfrm>
        <a:graphic>
          <a:graphicData uri="http://schemas.openxmlformats.org/drawingml/2006/table">
            <a:tbl>
              <a:tblPr>
                <a:noFill/>
              </a:tblPr>
              <a:tblGrid>
                <a:gridCol w="2423763">
                  <a:extLst>
                    <a:ext uri="{9D8B030D-6E8A-4147-A177-3AD203B41FA5}">
                      <a16:colId xmlns:a16="http://schemas.microsoft.com/office/drawing/2014/main" val="20000"/>
                    </a:ext>
                  </a:extLst>
                </a:gridCol>
                <a:gridCol w="2875709">
                  <a:extLst>
                    <a:ext uri="{9D8B030D-6E8A-4147-A177-3AD203B41FA5}">
                      <a16:colId xmlns:a16="http://schemas.microsoft.com/office/drawing/2014/main" val="20001"/>
                    </a:ext>
                  </a:extLst>
                </a:gridCol>
                <a:gridCol w="2713926">
                  <a:extLst>
                    <a:ext uri="{9D8B030D-6E8A-4147-A177-3AD203B41FA5}">
                      <a16:colId xmlns:a16="http://schemas.microsoft.com/office/drawing/2014/main" val="20002"/>
                    </a:ext>
                  </a:extLst>
                </a:gridCol>
                <a:gridCol w="1681655">
                  <a:extLst>
                    <a:ext uri="{9D8B030D-6E8A-4147-A177-3AD203B41FA5}">
                      <a16:colId xmlns:a16="http://schemas.microsoft.com/office/drawing/2014/main" val="20003"/>
                    </a:ext>
                  </a:extLst>
                </a:gridCol>
              </a:tblGrid>
              <a:tr h="607648">
                <a:tc>
                  <a:txBody>
                    <a:bodyPr/>
                    <a:lstStyle/>
                    <a:p>
                      <a:pPr marL="0" lvl="0" indent="0" algn="l" rtl="0">
                        <a:spcBef>
                          <a:spcPts val="0"/>
                        </a:spcBef>
                        <a:spcAft>
                          <a:spcPts val="0"/>
                        </a:spcAft>
                        <a:buNone/>
                      </a:pPr>
                      <a:r>
                        <a:rPr lang="en" sz="2400" b="1" dirty="0"/>
                        <a:t>Country</a:t>
                      </a:r>
                      <a:endParaRPr sz="2400" b="1" dirty="0"/>
                    </a:p>
                  </a:txBody>
                  <a:tcPr marL="121900" marR="121900" marT="121900" marB="121900"/>
                </a:tc>
                <a:tc>
                  <a:txBody>
                    <a:bodyPr/>
                    <a:lstStyle/>
                    <a:p>
                      <a:pPr marL="0" lvl="0" indent="0" algn="ctr" rtl="0">
                        <a:spcBef>
                          <a:spcPts val="0"/>
                        </a:spcBef>
                        <a:spcAft>
                          <a:spcPts val="0"/>
                        </a:spcAft>
                        <a:buNone/>
                      </a:pPr>
                      <a:r>
                        <a:rPr lang="en" sz="2400" b="1"/>
                        <a:t>2025</a:t>
                      </a:r>
                      <a:endParaRPr sz="2400" b="1"/>
                    </a:p>
                  </a:txBody>
                  <a:tcPr marL="121900" marR="121900" marT="121900" marB="121900"/>
                </a:tc>
                <a:tc>
                  <a:txBody>
                    <a:bodyPr/>
                    <a:lstStyle/>
                    <a:p>
                      <a:pPr marL="0" lvl="0" indent="0" algn="ctr" rtl="0">
                        <a:spcBef>
                          <a:spcPts val="0"/>
                        </a:spcBef>
                        <a:spcAft>
                          <a:spcPts val="0"/>
                        </a:spcAft>
                        <a:buNone/>
                      </a:pPr>
                      <a:r>
                        <a:rPr lang="en" sz="2400" b="1"/>
                        <a:t>2026</a:t>
                      </a:r>
                      <a:endParaRPr sz="2400" b="1"/>
                    </a:p>
                  </a:txBody>
                  <a:tcPr marL="121900" marR="121900" marT="121900" marB="121900">
                    <a:lnB w="9525" cap="flat" cmpd="sng">
                      <a:solidFill>
                        <a:srgbClr val="9E9E9E"/>
                      </a:solidFill>
                      <a:prstDash val="solid"/>
                      <a:round/>
                      <a:headEnd type="none" w="sm" len="sm"/>
                      <a:tailEnd type="none" w="sm" len="sm"/>
                    </a:lnB>
                  </a:tcPr>
                </a:tc>
                <a:tc>
                  <a:txBody>
                    <a:bodyPr/>
                    <a:lstStyle/>
                    <a:p>
                      <a:pPr marL="0" lvl="0" indent="0" algn="ctr" rtl="0">
                        <a:spcBef>
                          <a:spcPts val="0"/>
                        </a:spcBef>
                        <a:spcAft>
                          <a:spcPts val="0"/>
                        </a:spcAft>
                        <a:buNone/>
                      </a:pPr>
                      <a:r>
                        <a:rPr lang="en" sz="2400" b="1" dirty="0"/>
                        <a:t>2027</a:t>
                      </a:r>
                      <a:endParaRPr sz="2400" b="1" dirty="0"/>
                    </a:p>
                  </a:txBody>
                  <a:tcPr marL="121900" marR="121900" marT="121900" marB="121900">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607648">
                <a:tc>
                  <a:txBody>
                    <a:bodyPr/>
                    <a:lstStyle/>
                    <a:p>
                      <a:pPr marL="0" lvl="0" indent="0" algn="l" rtl="0">
                        <a:spcBef>
                          <a:spcPts val="0"/>
                        </a:spcBef>
                        <a:spcAft>
                          <a:spcPts val="0"/>
                        </a:spcAft>
                        <a:buNone/>
                      </a:pPr>
                      <a:r>
                        <a:rPr lang="en" sz="2400"/>
                        <a:t>Japan</a:t>
                      </a:r>
                      <a:endParaRPr sz="2400"/>
                    </a:p>
                  </a:txBody>
                  <a:tcPr marL="121900" marR="121900" marT="121900" marB="121900"/>
                </a:tc>
                <a:tc>
                  <a:txBody>
                    <a:bodyPr/>
                    <a:lstStyle/>
                    <a:p>
                      <a:pPr marL="0" lvl="0" indent="0" algn="r" rtl="0">
                        <a:spcBef>
                          <a:spcPts val="0"/>
                        </a:spcBef>
                        <a:spcAft>
                          <a:spcPts val="0"/>
                        </a:spcAft>
                        <a:buNone/>
                      </a:pPr>
                      <a:r>
                        <a:rPr lang="en" sz="2400" dirty="0"/>
                        <a:t>1454.4 mt + 165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dirty="0"/>
                        <a:t>1454.4 mt + 165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dirty="0"/>
                        <a:t>1454.4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607648">
                <a:tc>
                  <a:txBody>
                    <a:bodyPr/>
                    <a:lstStyle/>
                    <a:p>
                      <a:pPr marL="0" lvl="0" indent="0" algn="l" rtl="0">
                        <a:spcBef>
                          <a:spcPts val="0"/>
                        </a:spcBef>
                        <a:spcAft>
                          <a:spcPts val="0"/>
                        </a:spcAft>
                        <a:buNone/>
                      </a:pPr>
                      <a:r>
                        <a:rPr lang="en" sz="2400"/>
                        <a:t>Chinese Taipei</a:t>
                      </a:r>
                      <a:endParaRPr sz="2400"/>
                    </a:p>
                  </a:txBody>
                  <a:tcPr marL="121900" marR="121900" marT="121900" marB="121900"/>
                </a:tc>
                <a:tc>
                  <a:txBody>
                    <a:bodyPr/>
                    <a:lstStyle/>
                    <a:p>
                      <a:pPr marL="0" lvl="0" indent="0" algn="r" rtl="0">
                        <a:spcBef>
                          <a:spcPts val="0"/>
                        </a:spcBef>
                        <a:spcAft>
                          <a:spcPts val="0"/>
                        </a:spcAft>
                        <a:buNone/>
                      </a:pPr>
                      <a:r>
                        <a:rPr lang="en" sz="2400" dirty="0"/>
                        <a:t>358.4 mt + 165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dirty="0"/>
                        <a:t>358.4 mt + 165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dirty="0"/>
                        <a:t>358.4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r h="607648">
                <a:tc>
                  <a:txBody>
                    <a:bodyPr/>
                    <a:lstStyle/>
                    <a:p>
                      <a:pPr marL="0" lvl="0" indent="0" algn="l" rtl="0">
                        <a:spcBef>
                          <a:spcPts val="0"/>
                        </a:spcBef>
                        <a:spcAft>
                          <a:spcPts val="0"/>
                        </a:spcAft>
                        <a:buNone/>
                      </a:pPr>
                      <a:r>
                        <a:rPr lang="en" sz="2400"/>
                        <a:t>Korea</a:t>
                      </a:r>
                      <a:endParaRPr sz="2400"/>
                    </a:p>
                  </a:txBody>
                  <a:tcPr marL="121900" marR="121900" marT="121900" marB="121900"/>
                </a:tc>
                <a:tc>
                  <a:txBody>
                    <a:bodyPr/>
                    <a:lstStyle/>
                    <a:p>
                      <a:pPr marL="0" lvl="0" indent="0" algn="r" rtl="0">
                        <a:spcBef>
                          <a:spcPts val="0"/>
                        </a:spcBef>
                        <a:spcAft>
                          <a:spcPts val="0"/>
                        </a:spcAft>
                        <a:buNone/>
                      </a:pPr>
                      <a:r>
                        <a:rPr lang="en" sz="2400" dirty="0"/>
                        <a:t>214.8 mt + 165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dirty="0"/>
                        <a:t>214.8 mt + 165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dirty="0"/>
                        <a:t>214.8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3"/>
                  </a:ext>
                </a:extLst>
              </a:tr>
              <a:tr h="607648">
                <a:tc>
                  <a:txBody>
                    <a:bodyPr/>
                    <a:lstStyle/>
                    <a:p>
                      <a:pPr marL="0" lvl="0" indent="0" algn="l" rtl="0">
                        <a:spcBef>
                          <a:spcPts val="0"/>
                        </a:spcBef>
                        <a:spcAft>
                          <a:spcPts val="0"/>
                        </a:spcAft>
                        <a:buNone/>
                      </a:pPr>
                      <a:r>
                        <a:rPr lang="en" sz="2400"/>
                        <a:t>United States</a:t>
                      </a:r>
                      <a:endParaRPr sz="2400"/>
                    </a:p>
                  </a:txBody>
                  <a:tcPr marL="121900" marR="121900" marT="121900" marB="121900"/>
                </a:tc>
                <a:tc>
                  <a:txBody>
                    <a:bodyPr/>
                    <a:lstStyle/>
                    <a:p>
                      <a:pPr marL="0" lvl="0" indent="0" algn="r" rtl="0">
                        <a:spcBef>
                          <a:spcPts val="0"/>
                        </a:spcBef>
                        <a:spcAft>
                          <a:spcPts val="0"/>
                        </a:spcAft>
                        <a:buNone/>
                      </a:pPr>
                      <a:r>
                        <a:rPr lang="en" sz="2400" dirty="0"/>
                        <a:t>228.4 mt + 165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dirty="0"/>
                        <a:t>228.4 mt + 165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dirty="0"/>
                        <a:t>228.4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4"/>
                  </a:ext>
                </a:extLst>
              </a:tr>
              <a:tr h="607648">
                <a:tc>
                  <a:txBody>
                    <a:bodyPr/>
                    <a:lstStyle/>
                    <a:p>
                      <a:pPr marL="0" lvl="0" indent="0" algn="l" rtl="0">
                        <a:spcBef>
                          <a:spcPts val="0"/>
                        </a:spcBef>
                        <a:spcAft>
                          <a:spcPts val="0"/>
                        </a:spcAft>
                        <a:buNone/>
                      </a:pPr>
                      <a:r>
                        <a:rPr lang="en" sz="2400"/>
                        <a:t>China</a:t>
                      </a:r>
                      <a:endParaRPr sz="2400"/>
                    </a:p>
                  </a:txBody>
                  <a:tcPr marL="121900" marR="121900" marT="121900" marB="121900"/>
                </a:tc>
                <a:tc>
                  <a:txBody>
                    <a:bodyPr/>
                    <a:lstStyle/>
                    <a:p>
                      <a:pPr marL="0" lvl="0" indent="0" algn="r" rtl="0">
                        <a:spcBef>
                          <a:spcPts val="0"/>
                        </a:spcBef>
                        <a:spcAft>
                          <a:spcPts val="0"/>
                        </a:spcAft>
                        <a:buNone/>
                      </a:pPr>
                      <a:r>
                        <a:rPr lang="en" sz="2400"/>
                        <a:t>68.8 mt + 165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a:t>68.8 mt + 165mt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a:t>68.8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5"/>
                  </a:ext>
                </a:extLst>
              </a:tr>
              <a:tr h="607648">
                <a:tc>
                  <a:txBody>
                    <a:bodyPr/>
                    <a:lstStyle/>
                    <a:p>
                      <a:pPr marL="0" lvl="0" indent="0" algn="l" rtl="0">
                        <a:spcBef>
                          <a:spcPts val="0"/>
                        </a:spcBef>
                        <a:spcAft>
                          <a:spcPts val="0"/>
                        </a:spcAft>
                        <a:buNone/>
                      </a:pPr>
                      <a:r>
                        <a:rPr lang="en" sz="2400"/>
                        <a:t>Other SIDS</a:t>
                      </a:r>
                      <a:endParaRPr sz="2400"/>
                    </a:p>
                  </a:txBody>
                  <a:tcPr marL="121900" marR="121900" marT="121900" marB="121900"/>
                </a:tc>
                <a:tc>
                  <a:txBody>
                    <a:bodyPr/>
                    <a:lstStyle/>
                    <a:p>
                      <a:pPr marL="0" lvl="0" indent="0" algn="r" rtl="0">
                        <a:spcBef>
                          <a:spcPts val="0"/>
                        </a:spcBef>
                        <a:spcAft>
                          <a:spcPts val="0"/>
                        </a:spcAft>
                        <a:buNone/>
                      </a:pPr>
                      <a:r>
                        <a:rPr lang="en" sz="2400"/>
                        <a:t>75.2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a:t>75.2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a:t>75.2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6"/>
                  </a:ext>
                </a:extLst>
              </a:tr>
              <a:tr h="607648">
                <a:tc>
                  <a:txBody>
                    <a:bodyPr/>
                    <a:lstStyle/>
                    <a:p>
                      <a:pPr marL="0" lvl="0" indent="0" algn="l" rtl="0">
                        <a:spcBef>
                          <a:spcPts val="0"/>
                        </a:spcBef>
                        <a:spcAft>
                          <a:spcPts val="0"/>
                        </a:spcAft>
                        <a:buNone/>
                      </a:pPr>
                      <a:r>
                        <a:rPr lang="en" sz="2400" b="1"/>
                        <a:t>Total</a:t>
                      </a:r>
                      <a:endParaRPr sz="2400" b="1"/>
                    </a:p>
                  </a:txBody>
                  <a:tcPr marL="121900" marR="121900" marT="121900" marB="121900"/>
                </a:tc>
                <a:tc>
                  <a:txBody>
                    <a:bodyPr/>
                    <a:lstStyle/>
                    <a:p>
                      <a:pPr marL="0" lvl="0" indent="0" algn="r" rtl="0">
                        <a:spcBef>
                          <a:spcPts val="0"/>
                        </a:spcBef>
                        <a:spcAft>
                          <a:spcPts val="0"/>
                        </a:spcAft>
                        <a:buNone/>
                      </a:pPr>
                      <a:r>
                        <a:rPr lang="en" sz="2400" b="1" dirty="0"/>
                        <a:t>3225 mt</a:t>
                      </a:r>
                      <a:endParaRPr sz="2400" b="1"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b="1" dirty="0"/>
                        <a:t>3225 mt</a:t>
                      </a:r>
                      <a:endParaRPr sz="2400" b="1"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b="1" dirty="0"/>
                        <a:t>2400 mt</a:t>
                      </a:r>
                      <a:endParaRPr sz="2400" b="1"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D66DB1-2DD5-4165-9C7F-C0E9F055117D}"/>
              </a:ext>
            </a:extLst>
          </p:cNvPr>
          <p:cNvSpPr>
            <a:spLocks noGrp="1"/>
          </p:cNvSpPr>
          <p:nvPr>
            <p:ph type="title"/>
          </p:nvPr>
        </p:nvSpPr>
        <p:spPr>
          <a:xfrm>
            <a:off x="693683" y="365125"/>
            <a:ext cx="10815145" cy="1325563"/>
          </a:xfrm>
        </p:spPr>
        <p:txBody>
          <a:bodyPr/>
          <a:lstStyle/>
          <a:p>
            <a:r>
              <a:rPr lang="en-US" dirty="0"/>
              <a:t>CMM 2024-06 Projection Model Configuration</a:t>
            </a:r>
          </a:p>
        </p:txBody>
      </p:sp>
      <p:sp>
        <p:nvSpPr>
          <p:cNvPr id="3" name="Content Placeholder 2">
            <a:extLst>
              <a:ext uri="{FF2B5EF4-FFF2-40B4-BE49-F238E27FC236}">
                <a16:creationId xmlns:a16="http://schemas.microsoft.com/office/drawing/2014/main" id="{23CB317F-814E-41A5-B36F-CAA114906DE7}"/>
              </a:ext>
            </a:extLst>
          </p:cNvPr>
          <p:cNvSpPr>
            <a:spLocks noGrp="1"/>
          </p:cNvSpPr>
          <p:nvPr>
            <p:ph idx="1"/>
          </p:nvPr>
        </p:nvSpPr>
        <p:spPr>
          <a:xfrm>
            <a:off x="409903" y="1608083"/>
            <a:ext cx="10943897" cy="4884792"/>
          </a:xfrm>
        </p:spPr>
        <p:txBody>
          <a:bodyPr>
            <a:normAutofit/>
          </a:bodyPr>
          <a:lstStyle/>
          <a:p>
            <a:r>
              <a:rPr lang="en-US" dirty="0"/>
              <a:t>Initial Conditions – same as in 2024 rebuilding projections</a:t>
            </a:r>
          </a:p>
          <a:p>
            <a:r>
              <a:rPr lang="en-US" dirty="0"/>
              <a:t>Future Recruitment – same as in 2024 rebuilding projections</a:t>
            </a:r>
          </a:p>
          <a:p>
            <a:r>
              <a:rPr lang="en-US" dirty="0"/>
              <a:t>Process Error – same as in 2024 rebuilding projections</a:t>
            </a:r>
          </a:p>
          <a:p>
            <a:r>
              <a:rPr lang="en-US" dirty="0"/>
              <a:t>Fishing Fleets and </a:t>
            </a:r>
            <a:r>
              <a:rPr lang="en-US" dirty="0" err="1"/>
              <a:t>Selectivities</a:t>
            </a:r>
            <a:r>
              <a:rPr lang="en-US" dirty="0"/>
              <a:t> – same as in 2024 rebuilding projections</a:t>
            </a:r>
          </a:p>
          <a:p>
            <a:r>
              <a:rPr lang="en-US" dirty="0"/>
              <a:t>Catch</a:t>
            </a:r>
          </a:p>
          <a:p>
            <a:pPr lvl="1"/>
            <a:r>
              <a:rPr lang="en-US" dirty="0"/>
              <a:t>Use observed catch in 2021-2024 instead of a status quo fishing mortality</a:t>
            </a:r>
          </a:p>
          <a:p>
            <a:pPr lvl="1"/>
            <a:r>
              <a:rPr lang="en-US" dirty="0"/>
              <a:t>Use catch by Scenario in 2025-2027</a:t>
            </a:r>
          </a:p>
          <a:p>
            <a:pPr lvl="1"/>
            <a:r>
              <a:rPr lang="en-US" dirty="0"/>
              <a:t>Set catch in 2028-2034 to meet rebuilding goal in 2034, noting that </a:t>
            </a:r>
          </a:p>
          <a:p>
            <a:pPr marL="457200" lvl="1" indent="0">
              <a:buNone/>
            </a:pPr>
            <a:r>
              <a:rPr lang="en-US" dirty="0"/>
              <a:t>“</a:t>
            </a:r>
            <a:r>
              <a:rPr lang="en-US" i="1" dirty="0"/>
              <a:t>this CMM shall be reviewed and amended in 2027, pending the completion of a new stock assessment conducted by the ISC.</a:t>
            </a:r>
            <a:r>
              <a:rPr lang="en-US" dirty="0"/>
              <a:t>”</a:t>
            </a:r>
          </a:p>
        </p:txBody>
      </p:sp>
    </p:spTree>
    <p:extLst>
      <p:ext uri="{BB962C8B-B14F-4D97-AF65-F5344CB8AC3E}">
        <p14:creationId xmlns:p14="http://schemas.microsoft.com/office/powerpoint/2010/main" val="9032892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667B4-5D24-43F0-9DD6-752925AAA6C1}"/>
              </a:ext>
            </a:extLst>
          </p:cNvPr>
          <p:cNvSpPr>
            <a:spLocks noGrp="1"/>
          </p:cNvSpPr>
          <p:nvPr>
            <p:ph type="title"/>
          </p:nvPr>
        </p:nvSpPr>
        <p:spPr>
          <a:xfrm>
            <a:off x="0" y="0"/>
            <a:ext cx="12192000" cy="737811"/>
          </a:xfrm>
        </p:spPr>
        <p:txBody>
          <a:bodyPr>
            <a:normAutofit fontScale="90000"/>
          </a:bodyPr>
          <a:lstStyle/>
          <a:p>
            <a:pPr algn="ctr"/>
            <a:r>
              <a:rPr lang="en-US" sz="4000" dirty="0"/>
              <a:t>Initial Conditions: Bootstrap Distribution of Initial Population Size</a:t>
            </a:r>
          </a:p>
        </p:txBody>
      </p:sp>
      <p:pic>
        <p:nvPicPr>
          <p:cNvPr id="3" name="Picture 2">
            <a:extLst>
              <a:ext uri="{FF2B5EF4-FFF2-40B4-BE49-F238E27FC236}">
                <a16:creationId xmlns:a16="http://schemas.microsoft.com/office/drawing/2014/main" id="{A3C937BD-999D-4987-B486-FCB8A9731E3A}"/>
              </a:ext>
            </a:extLst>
          </p:cNvPr>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73187" y="863936"/>
            <a:ext cx="7645626" cy="5996152"/>
          </a:xfrm>
          <a:prstGeom prst="rect">
            <a:avLst/>
          </a:prstGeom>
          <a:noFill/>
          <a:ln>
            <a:noFill/>
          </a:ln>
        </p:spPr>
      </p:pic>
    </p:spTree>
    <p:extLst>
      <p:ext uri="{BB962C8B-B14F-4D97-AF65-F5344CB8AC3E}">
        <p14:creationId xmlns:p14="http://schemas.microsoft.com/office/powerpoint/2010/main" val="15412523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EC51A9B-63E9-4D5E-9498-324C646663C9}"/>
              </a:ext>
            </a:extLst>
          </p:cNvPr>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91093" y="923828"/>
            <a:ext cx="8210746" cy="5934172"/>
          </a:xfrm>
          <a:prstGeom prst="rect">
            <a:avLst/>
          </a:prstGeom>
          <a:noFill/>
          <a:ln>
            <a:noFill/>
          </a:ln>
        </p:spPr>
      </p:pic>
      <p:sp>
        <p:nvSpPr>
          <p:cNvPr id="2" name="Title 1">
            <a:extLst>
              <a:ext uri="{FF2B5EF4-FFF2-40B4-BE49-F238E27FC236}">
                <a16:creationId xmlns:a16="http://schemas.microsoft.com/office/drawing/2014/main" id="{936667B4-5D24-43F0-9DD6-752925AAA6C1}"/>
              </a:ext>
            </a:extLst>
          </p:cNvPr>
          <p:cNvSpPr>
            <a:spLocks noGrp="1"/>
          </p:cNvSpPr>
          <p:nvPr>
            <p:ph type="title"/>
          </p:nvPr>
        </p:nvSpPr>
        <p:spPr>
          <a:xfrm>
            <a:off x="838200" y="1"/>
            <a:ext cx="10515600" cy="1189756"/>
          </a:xfrm>
        </p:spPr>
        <p:txBody>
          <a:bodyPr>
            <a:normAutofit/>
          </a:bodyPr>
          <a:lstStyle/>
          <a:p>
            <a:pPr algn="ctr"/>
            <a:r>
              <a:rPr lang="en-US" sz="4000" dirty="0"/>
              <a:t>Recruitment</a:t>
            </a:r>
            <a:br>
              <a:rPr lang="en-US" sz="4000" dirty="0"/>
            </a:br>
            <a:r>
              <a:rPr lang="en-US" sz="4000" dirty="0"/>
              <a:t>Stock-Recruitment Pattern from 2023 Assessment</a:t>
            </a:r>
          </a:p>
        </p:txBody>
      </p:sp>
    </p:spTree>
    <p:extLst>
      <p:ext uri="{BB962C8B-B14F-4D97-AF65-F5344CB8AC3E}">
        <p14:creationId xmlns:p14="http://schemas.microsoft.com/office/powerpoint/2010/main" val="36452370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667B4-5D24-43F0-9DD6-752925AAA6C1}"/>
              </a:ext>
            </a:extLst>
          </p:cNvPr>
          <p:cNvSpPr>
            <a:spLocks noGrp="1"/>
          </p:cNvSpPr>
          <p:nvPr>
            <p:ph type="title"/>
          </p:nvPr>
        </p:nvSpPr>
        <p:spPr>
          <a:xfrm>
            <a:off x="329938" y="0"/>
            <a:ext cx="11510128" cy="737811"/>
          </a:xfrm>
        </p:spPr>
        <p:txBody>
          <a:bodyPr>
            <a:normAutofit fontScale="90000"/>
          </a:bodyPr>
          <a:lstStyle/>
          <a:p>
            <a:pPr algn="ctr"/>
            <a:r>
              <a:rPr lang="en-US" sz="4000" dirty="0"/>
              <a:t>Recruitment Trend for Short- and Medium-Term Models</a:t>
            </a:r>
          </a:p>
        </p:txBody>
      </p:sp>
      <p:graphicFrame>
        <p:nvGraphicFramePr>
          <p:cNvPr id="5" name="Object 4">
            <a:extLst>
              <a:ext uri="{FF2B5EF4-FFF2-40B4-BE49-F238E27FC236}">
                <a16:creationId xmlns:a16="http://schemas.microsoft.com/office/drawing/2014/main" id="{4A083903-3CCA-4365-B50F-6E18BA476650}"/>
              </a:ext>
            </a:extLst>
          </p:cNvPr>
          <p:cNvGraphicFramePr>
            <a:graphicFrameLocks noChangeAspect="1"/>
          </p:cNvGraphicFramePr>
          <p:nvPr>
            <p:extLst>
              <p:ext uri="{D42A27DB-BD31-4B8C-83A1-F6EECF244321}">
                <p14:modId xmlns:p14="http://schemas.microsoft.com/office/powerpoint/2010/main" val="1068562208"/>
              </p:ext>
            </p:extLst>
          </p:nvPr>
        </p:nvGraphicFramePr>
        <p:xfrm>
          <a:off x="2284798" y="865997"/>
          <a:ext cx="7600407" cy="5839603"/>
        </p:xfrm>
        <a:graphic>
          <a:graphicData uri="http://schemas.openxmlformats.org/presentationml/2006/ole">
            <mc:AlternateContent xmlns:mc="http://schemas.openxmlformats.org/markup-compatibility/2006">
              <mc:Choice xmlns:v="urn:schemas-microsoft-com:vml" Requires="v">
                <p:oleObj spid="_x0000_s1059" name="SPW 15.0 Graph" r:id="rId3" imgW="5542957" imgH="4259471" progId="SigmaPlotGraphicObject.15">
                  <p:embed/>
                </p:oleObj>
              </mc:Choice>
              <mc:Fallback>
                <p:oleObj name="SPW 15.0 Graph" r:id="rId3" imgW="5542957" imgH="4259471" progId="SigmaPlotGraphicObject.15">
                  <p:embed/>
                  <p:pic>
                    <p:nvPicPr>
                      <p:cNvPr id="0" name=""/>
                      <p:cNvPicPr/>
                      <p:nvPr/>
                    </p:nvPicPr>
                    <p:blipFill>
                      <a:blip r:embed="rId4"/>
                      <a:stretch>
                        <a:fillRect/>
                      </a:stretch>
                    </p:blipFill>
                    <p:spPr>
                      <a:xfrm>
                        <a:off x="2284798" y="865997"/>
                        <a:ext cx="7600407" cy="5839603"/>
                      </a:xfrm>
                      <a:prstGeom prst="rect">
                        <a:avLst/>
                      </a:prstGeom>
                    </p:spPr>
                  </p:pic>
                </p:oleObj>
              </mc:Fallback>
            </mc:AlternateContent>
          </a:graphicData>
        </a:graphic>
      </p:graphicFrame>
    </p:spTree>
    <p:extLst>
      <p:ext uri="{BB962C8B-B14F-4D97-AF65-F5344CB8AC3E}">
        <p14:creationId xmlns:p14="http://schemas.microsoft.com/office/powerpoint/2010/main" val="5886368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667B4-5D24-43F0-9DD6-752925AAA6C1}"/>
              </a:ext>
            </a:extLst>
          </p:cNvPr>
          <p:cNvSpPr>
            <a:spLocks noGrp="1"/>
          </p:cNvSpPr>
          <p:nvPr>
            <p:ph type="title"/>
          </p:nvPr>
        </p:nvSpPr>
        <p:spPr>
          <a:xfrm>
            <a:off x="329938" y="0"/>
            <a:ext cx="11510128" cy="737811"/>
          </a:xfrm>
        </p:spPr>
        <p:txBody>
          <a:bodyPr>
            <a:normAutofit/>
          </a:bodyPr>
          <a:lstStyle/>
          <a:p>
            <a:pPr algn="ctr"/>
            <a:r>
              <a:rPr lang="en-US" sz="4000" dirty="0"/>
              <a:t>Process Error: Simulated Natural Mortality at Age</a:t>
            </a:r>
          </a:p>
        </p:txBody>
      </p:sp>
      <p:pic>
        <p:nvPicPr>
          <p:cNvPr id="3" name="Picture 2">
            <a:extLst>
              <a:ext uri="{FF2B5EF4-FFF2-40B4-BE49-F238E27FC236}">
                <a16:creationId xmlns:a16="http://schemas.microsoft.com/office/drawing/2014/main" id="{F158CE21-235C-4CA3-9C38-81E391342948}"/>
              </a:ext>
            </a:extLst>
          </p:cNvPr>
          <p:cNvPicPr>
            <a:picLocks noChangeAspect="1"/>
          </p:cNvPicPr>
          <p:nvPr/>
        </p:nvPicPr>
        <p:blipFill>
          <a:blip r:embed="rId2"/>
          <a:stretch>
            <a:fillRect/>
          </a:stretch>
        </p:blipFill>
        <p:spPr>
          <a:xfrm>
            <a:off x="2432054" y="1278028"/>
            <a:ext cx="7327891" cy="5579972"/>
          </a:xfrm>
          <a:prstGeom prst="rect">
            <a:avLst/>
          </a:prstGeom>
        </p:spPr>
      </p:pic>
    </p:spTree>
    <p:extLst>
      <p:ext uri="{BB962C8B-B14F-4D97-AF65-F5344CB8AC3E}">
        <p14:creationId xmlns:p14="http://schemas.microsoft.com/office/powerpoint/2010/main" val="37165009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EAF34-7519-442F-8E23-1715A0C165F8}"/>
              </a:ext>
            </a:extLst>
          </p:cNvPr>
          <p:cNvSpPr>
            <a:spLocks noGrp="1"/>
          </p:cNvSpPr>
          <p:nvPr>
            <p:ph type="title"/>
          </p:nvPr>
        </p:nvSpPr>
        <p:spPr>
          <a:xfrm>
            <a:off x="1923393" y="106952"/>
            <a:ext cx="8744607" cy="1377973"/>
          </a:xfrm>
        </p:spPr>
        <p:txBody>
          <a:bodyPr>
            <a:normAutofit fontScale="90000"/>
          </a:bodyPr>
          <a:lstStyle/>
          <a:p>
            <a:pPr algn="ctr"/>
            <a:r>
              <a:rPr lang="en-US" sz="3600" b="1" dirty="0"/>
              <a:t>Fleet Groups: Japanese Longline Quarter 2 – Area 1 </a:t>
            </a:r>
            <a:br>
              <a:rPr lang="en-US" sz="3600" b="1" dirty="0"/>
            </a:br>
            <a:r>
              <a:rPr lang="en-US" sz="3600" b="1" dirty="0"/>
              <a:t>Fleet Group 3</a:t>
            </a:r>
          </a:p>
        </p:txBody>
      </p:sp>
      <p:pic>
        <p:nvPicPr>
          <p:cNvPr id="5" name="Picture 4">
            <a:extLst>
              <a:ext uri="{FF2B5EF4-FFF2-40B4-BE49-F238E27FC236}">
                <a16:creationId xmlns:a16="http://schemas.microsoft.com/office/drawing/2014/main" id="{2EE07C25-9C2C-4A0D-A69F-9598CA8558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6549" y="1366345"/>
            <a:ext cx="11178902" cy="5491655"/>
          </a:xfrm>
          <a:prstGeom prst="rect">
            <a:avLst/>
          </a:prstGeom>
        </p:spPr>
      </p:pic>
    </p:spTree>
    <p:extLst>
      <p:ext uri="{BB962C8B-B14F-4D97-AF65-F5344CB8AC3E}">
        <p14:creationId xmlns:p14="http://schemas.microsoft.com/office/powerpoint/2010/main" val="33722558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35C467B5-16ED-45F9-B401-82C457EE463B}"/>
              </a:ext>
            </a:extLst>
          </p:cNvPr>
          <p:cNvSpPr>
            <a:spLocks noGrp="1"/>
          </p:cNvSpPr>
          <p:nvPr>
            <p:ph type="title"/>
          </p:nvPr>
        </p:nvSpPr>
        <p:spPr>
          <a:xfrm>
            <a:off x="2958662" y="0"/>
            <a:ext cx="6274676" cy="1030014"/>
          </a:xfrm>
        </p:spPr>
        <p:txBody>
          <a:bodyPr>
            <a:normAutofit fontScale="90000"/>
          </a:bodyPr>
          <a:lstStyle/>
          <a:p>
            <a:pPr algn="ctr"/>
            <a:r>
              <a:rPr lang="en-US" sz="3600" b="1" dirty="0"/>
              <a:t>Japanese Driftnet</a:t>
            </a:r>
            <a:br>
              <a:rPr lang="en-US" sz="3600" b="1" dirty="0"/>
            </a:br>
            <a:r>
              <a:rPr lang="en-US" sz="3600" b="1" dirty="0"/>
              <a:t>Fleet Group 7</a:t>
            </a:r>
          </a:p>
        </p:txBody>
      </p:sp>
      <p:pic>
        <p:nvPicPr>
          <p:cNvPr id="5" name="Picture 4">
            <a:extLst>
              <a:ext uri="{FF2B5EF4-FFF2-40B4-BE49-F238E27FC236}">
                <a16:creationId xmlns:a16="http://schemas.microsoft.com/office/drawing/2014/main" id="{925D5257-4073-4CC0-99A3-36679F3E9F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77662" y="1030014"/>
            <a:ext cx="5436675" cy="5827986"/>
          </a:xfrm>
          <a:prstGeom prst="rect">
            <a:avLst/>
          </a:prstGeom>
        </p:spPr>
      </p:pic>
    </p:spTree>
    <p:extLst>
      <p:ext uri="{BB962C8B-B14F-4D97-AF65-F5344CB8AC3E}">
        <p14:creationId xmlns:p14="http://schemas.microsoft.com/office/powerpoint/2010/main" val="39558184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E9F419-2265-4795-8318-1A6B03EFD4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33959" y="889521"/>
            <a:ext cx="6124082" cy="5968479"/>
          </a:xfrm>
          <a:prstGeom prst="rect">
            <a:avLst/>
          </a:prstGeom>
        </p:spPr>
      </p:pic>
      <p:sp>
        <p:nvSpPr>
          <p:cNvPr id="7" name="Title 1">
            <a:extLst>
              <a:ext uri="{FF2B5EF4-FFF2-40B4-BE49-F238E27FC236}">
                <a16:creationId xmlns:a16="http://schemas.microsoft.com/office/drawing/2014/main" id="{39A94E77-FEE6-4A09-8CD4-D5CD8749E4C1}"/>
              </a:ext>
            </a:extLst>
          </p:cNvPr>
          <p:cNvSpPr>
            <a:spLocks noGrp="1"/>
          </p:cNvSpPr>
          <p:nvPr>
            <p:ph type="title"/>
          </p:nvPr>
        </p:nvSpPr>
        <p:spPr>
          <a:xfrm>
            <a:off x="2958662" y="0"/>
            <a:ext cx="6274676" cy="1030014"/>
          </a:xfrm>
        </p:spPr>
        <p:txBody>
          <a:bodyPr>
            <a:normAutofit fontScale="90000"/>
          </a:bodyPr>
          <a:lstStyle/>
          <a:p>
            <a:pPr algn="ctr"/>
            <a:r>
              <a:rPr lang="en-US" sz="3600" b="1" dirty="0"/>
              <a:t>Hawaii Longline </a:t>
            </a:r>
            <a:br>
              <a:rPr lang="en-US" sz="3600" b="1" dirty="0"/>
            </a:br>
            <a:r>
              <a:rPr lang="en-US" sz="3600" b="1" dirty="0"/>
              <a:t>Fleet Group 8</a:t>
            </a:r>
          </a:p>
        </p:txBody>
      </p:sp>
    </p:spTree>
    <p:extLst>
      <p:ext uri="{BB962C8B-B14F-4D97-AF65-F5344CB8AC3E}">
        <p14:creationId xmlns:p14="http://schemas.microsoft.com/office/powerpoint/2010/main" val="3273745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39A94E77-FEE6-4A09-8CD4-D5CD8749E4C1}"/>
              </a:ext>
            </a:extLst>
          </p:cNvPr>
          <p:cNvSpPr>
            <a:spLocks noGrp="1"/>
          </p:cNvSpPr>
          <p:nvPr>
            <p:ph type="title"/>
          </p:nvPr>
        </p:nvSpPr>
        <p:spPr>
          <a:xfrm>
            <a:off x="2958662" y="0"/>
            <a:ext cx="6274676" cy="1030014"/>
          </a:xfrm>
        </p:spPr>
        <p:txBody>
          <a:bodyPr>
            <a:normAutofit fontScale="90000"/>
          </a:bodyPr>
          <a:lstStyle/>
          <a:p>
            <a:pPr algn="ctr"/>
            <a:r>
              <a:rPr lang="en-US" sz="3600" b="1" dirty="0"/>
              <a:t>Taiwanese Longline </a:t>
            </a:r>
            <a:br>
              <a:rPr lang="en-US" sz="3600" b="1" dirty="0"/>
            </a:br>
            <a:r>
              <a:rPr lang="en-US" sz="3600" b="1" dirty="0"/>
              <a:t>Fleet Group 8</a:t>
            </a:r>
          </a:p>
        </p:txBody>
      </p:sp>
      <p:pic>
        <p:nvPicPr>
          <p:cNvPr id="4" name="Picture 3">
            <a:extLst>
              <a:ext uri="{FF2B5EF4-FFF2-40B4-BE49-F238E27FC236}">
                <a16:creationId xmlns:a16="http://schemas.microsoft.com/office/drawing/2014/main" id="{9B172489-DA02-4B6B-9868-E3ACB15740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91056" y="1082475"/>
            <a:ext cx="7409887" cy="5775525"/>
          </a:xfrm>
          <a:prstGeom prst="rect">
            <a:avLst/>
          </a:prstGeom>
        </p:spPr>
      </p:pic>
    </p:spTree>
    <p:extLst>
      <p:ext uri="{BB962C8B-B14F-4D97-AF65-F5344CB8AC3E}">
        <p14:creationId xmlns:p14="http://schemas.microsoft.com/office/powerpoint/2010/main" val="8611987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1BDD3E14-CF22-4236-8246-47A1B960A8D4}"/>
              </a:ext>
            </a:extLst>
          </p:cNvPr>
          <p:cNvSpPr txBox="1">
            <a:spLocks/>
          </p:cNvSpPr>
          <p:nvPr/>
        </p:nvSpPr>
        <p:spPr>
          <a:xfrm>
            <a:off x="0" y="28795"/>
            <a:ext cx="12192000"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Apportion Projected Taiwanese Catch in 2025-2027 to Fleet Groups</a:t>
            </a:r>
          </a:p>
        </p:txBody>
      </p:sp>
      <p:pic>
        <p:nvPicPr>
          <p:cNvPr id="7" name="Picture 6">
            <a:extLst>
              <a:ext uri="{FF2B5EF4-FFF2-40B4-BE49-F238E27FC236}">
                <a16:creationId xmlns:a16="http://schemas.microsoft.com/office/drawing/2014/main" id="{027D59E2-669C-4329-8149-87239D72201D}"/>
              </a:ext>
            </a:extLst>
          </p:cNvPr>
          <p:cNvPicPr>
            <a:picLocks noChangeAspect="1"/>
          </p:cNvPicPr>
          <p:nvPr/>
        </p:nvPicPr>
        <p:blipFill>
          <a:blip r:embed="rId2"/>
          <a:stretch>
            <a:fillRect/>
          </a:stretch>
        </p:blipFill>
        <p:spPr>
          <a:xfrm>
            <a:off x="3376422" y="964853"/>
            <a:ext cx="5439156" cy="5864352"/>
          </a:xfrm>
          <a:prstGeom prst="rect">
            <a:avLst/>
          </a:prstGeom>
        </p:spPr>
      </p:pic>
    </p:spTree>
    <p:extLst>
      <p:ext uri="{BB962C8B-B14F-4D97-AF65-F5344CB8AC3E}">
        <p14:creationId xmlns:p14="http://schemas.microsoft.com/office/powerpoint/2010/main" val="38247680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1BDD3E14-CF22-4236-8246-47A1B960A8D4}"/>
              </a:ext>
            </a:extLst>
          </p:cNvPr>
          <p:cNvSpPr txBox="1">
            <a:spLocks/>
          </p:cNvSpPr>
          <p:nvPr/>
        </p:nvSpPr>
        <p:spPr>
          <a:xfrm>
            <a:off x="0" y="28795"/>
            <a:ext cx="12192000"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Apportion Projected Japanese Catch in 2025-2027 to Fleet Groups</a:t>
            </a:r>
          </a:p>
        </p:txBody>
      </p:sp>
      <p:pic>
        <p:nvPicPr>
          <p:cNvPr id="3" name="Picture 2">
            <a:extLst>
              <a:ext uri="{FF2B5EF4-FFF2-40B4-BE49-F238E27FC236}">
                <a16:creationId xmlns:a16="http://schemas.microsoft.com/office/drawing/2014/main" id="{457EF2D6-7C14-4428-BE50-58ED3C5230D5}"/>
              </a:ext>
            </a:extLst>
          </p:cNvPr>
          <p:cNvPicPr>
            <a:picLocks noChangeAspect="1"/>
          </p:cNvPicPr>
          <p:nvPr/>
        </p:nvPicPr>
        <p:blipFill>
          <a:blip r:embed="rId2"/>
          <a:stretch>
            <a:fillRect/>
          </a:stretch>
        </p:blipFill>
        <p:spPr>
          <a:xfrm>
            <a:off x="3134868" y="682752"/>
            <a:ext cx="5922264" cy="6175248"/>
          </a:xfrm>
          <a:prstGeom prst="rect">
            <a:avLst/>
          </a:prstGeom>
        </p:spPr>
      </p:pic>
    </p:spTree>
    <p:extLst>
      <p:ext uri="{BB962C8B-B14F-4D97-AF65-F5344CB8AC3E}">
        <p14:creationId xmlns:p14="http://schemas.microsoft.com/office/powerpoint/2010/main" val="42115002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0" y="28795"/>
            <a:ext cx="12192000" cy="1158874"/>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t>Striped Marin Catches in 2021-2024: Reported Yearbook Catch by CCM in the WCPFC Area </a:t>
            </a:r>
          </a:p>
        </p:txBody>
      </p:sp>
      <p:pic>
        <p:nvPicPr>
          <p:cNvPr id="3" name="Picture 2">
            <a:extLst>
              <a:ext uri="{FF2B5EF4-FFF2-40B4-BE49-F238E27FC236}">
                <a16:creationId xmlns:a16="http://schemas.microsoft.com/office/drawing/2014/main" id="{B591D272-E391-4A7D-B8E8-EDEC4CB7AB3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27105" y="1405650"/>
            <a:ext cx="5639488" cy="5452350"/>
          </a:xfrm>
          <a:prstGeom prst="rect">
            <a:avLst/>
          </a:prstGeom>
        </p:spPr>
      </p:pic>
      <p:pic>
        <p:nvPicPr>
          <p:cNvPr id="8" name="Picture 7">
            <a:extLst>
              <a:ext uri="{FF2B5EF4-FFF2-40B4-BE49-F238E27FC236}">
                <a16:creationId xmlns:a16="http://schemas.microsoft.com/office/drawing/2014/main" id="{DF587AAE-180F-409A-B923-67B7F04C94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3438" y="2795751"/>
            <a:ext cx="2738564" cy="3547241"/>
          </a:xfrm>
          <a:prstGeom prst="rect">
            <a:avLst/>
          </a:prstGeom>
        </p:spPr>
      </p:pic>
    </p:spTree>
    <p:extLst>
      <p:ext uri="{BB962C8B-B14F-4D97-AF65-F5344CB8AC3E}">
        <p14:creationId xmlns:p14="http://schemas.microsoft.com/office/powerpoint/2010/main" val="7035762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0" y="28795"/>
            <a:ext cx="12191999" cy="559784"/>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WCPFC Yearbook Reported MLS Catches with Imputed 2024 Catch</a:t>
            </a:r>
          </a:p>
        </p:txBody>
      </p:sp>
      <p:sp>
        <p:nvSpPr>
          <p:cNvPr id="8" name="TextBox 7">
            <a:extLst>
              <a:ext uri="{FF2B5EF4-FFF2-40B4-BE49-F238E27FC236}">
                <a16:creationId xmlns:a16="http://schemas.microsoft.com/office/drawing/2014/main" id="{A7A22755-40DE-4FC2-A728-ADDF654554FE}"/>
              </a:ext>
            </a:extLst>
          </p:cNvPr>
          <p:cNvSpPr txBox="1"/>
          <p:nvPr/>
        </p:nvSpPr>
        <p:spPr>
          <a:xfrm>
            <a:off x="9480331" y="6550223"/>
            <a:ext cx="2711669" cy="307777"/>
          </a:xfrm>
          <a:prstGeom prst="rect">
            <a:avLst/>
          </a:prstGeom>
          <a:noFill/>
        </p:spPr>
        <p:txBody>
          <a:bodyPr wrap="square">
            <a:spAutoFit/>
          </a:bodyPr>
          <a:lstStyle/>
          <a:p>
            <a:pPr algn="r"/>
            <a:r>
              <a:rPr lang="en-US" sz="1400" dirty="0"/>
              <a:t>Data from XLS_NorthWCPFC.csv</a:t>
            </a:r>
          </a:p>
        </p:txBody>
      </p:sp>
      <p:pic>
        <p:nvPicPr>
          <p:cNvPr id="3" name="Picture 2">
            <a:extLst>
              <a:ext uri="{FF2B5EF4-FFF2-40B4-BE49-F238E27FC236}">
                <a16:creationId xmlns:a16="http://schemas.microsoft.com/office/drawing/2014/main" id="{B890FA04-0058-43DE-B113-E36F8ABB3B00}"/>
              </a:ext>
            </a:extLst>
          </p:cNvPr>
          <p:cNvPicPr>
            <a:picLocks noChangeAspect="1"/>
          </p:cNvPicPr>
          <p:nvPr/>
        </p:nvPicPr>
        <p:blipFill>
          <a:blip r:embed="rId2"/>
          <a:stretch>
            <a:fillRect/>
          </a:stretch>
        </p:blipFill>
        <p:spPr>
          <a:xfrm>
            <a:off x="3026201" y="646015"/>
            <a:ext cx="6139596" cy="6211985"/>
          </a:xfrm>
          <a:prstGeom prst="rect">
            <a:avLst/>
          </a:prstGeom>
        </p:spPr>
      </p:pic>
    </p:spTree>
    <p:extLst>
      <p:ext uri="{BB962C8B-B14F-4D97-AF65-F5344CB8AC3E}">
        <p14:creationId xmlns:p14="http://schemas.microsoft.com/office/powerpoint/2010/main" val="371351195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462456" y="-23757"/>
            <a:ext cx="11729544"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WCPFC Yearbook Reported MLS Catch with Imputed 2024 Catch</a:t>
            </a:r>
          </a:p>
        </p:txBody>
      </p:sp>
      <p:sp>
        <p:nvSpPr>
          <p:cNvPr id="5" name="TextBox 4">
            <a:extLst>
              <a:ext uri="{FF2B5EF4-FFF2-40B4-BE49-F238E27FC236}">
                <a16:creationId xmlns:a16="http://schemas.microsoft.com/office/drawing/2014/main" id="{00C9A2B3-0ED7-4F23-956E-0F7A69D3FA55}"/>
              </a:ext>
            </a:extLst>
          </p:cNvPr>
          <p:cNvSpPr txBox="1"/>
          <p:nvPr/>
        </p:nvSpPr>
        <p:spPr>
          <a:xfrm>
            <a:off x="9480331" y="6550223"/>
            <a:ext cx="2711669" cy="307777"/>
          </a:xfrm>
          <a:prstGeom prst="rect">
            <a:avLst/>
          </a:prstGeom>
          <a:noFill/>
        </p:spPr>
        <p:txBody>
          <a:bodyPr wrap="square">
            <a:spAutoFit/>
          </a:bodyPr>
          <a:lstStyle/>
          <a:p>
            <a:pPr algn="r"/>
            <a:r>
              <a:rPr lang="en-US" sz="1400" dirty="0"/>
              <a:t>Data from XLS_NorthWCPFC.csv</a:t>
            </a:r>
          </a:p>
        </p:txBody>
      </p:sp>
      <p:pic>
        <p:nvPicPr>
          <p:cNvPr id="2" name="Picture 1">
            <a:extLst>
              <a:ext uri="{FF2B5EF4-FFF2-40B4-BE49-F238E27FC236}">
                <a16:creationId xmlns:a16="http://schemas.microsoft.com/office/drawing/2014/main" id="{2F8DA74F-4F99-4E6E-83E9-7B5602FDC266}"/>
              </a:ext>
            </a:extLst>
          </p:cNvPr>
          <p:cNvPicPr>
            <a:picLocks noChangeAspect="1"/>
          </p:cNvPicPr>
          <p:nvPr/>
        </p:nvPicPr>
        <p:blipFill>
          <a:blip r:embed="rId2"/>
          <a:stretch>
            <a:fillRect/>
          </a:stretch>
        </p:blipFill>
        <p:spPr>
          <a:xfrm>
            <a:off x="2432901" y="672662"/>
            <a:ext cx="7326198" cy="6185338"/>
          </a:xfrm>
          <a:prstGeom prst="rect">
            <a:avLst/>
          </a:prstGeom>
        </p:spPr>
      </p:pic>
    </p:spTree>
    <p:extLst>
      <p:ext uri="{BB962C8B-B14F-4D97-AF65-F5344CB8AC3E}">
        <p14:creationId xmlns:p14="http://schemas.microsoft.com/office/powerpoint/2010/main" val="1077689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838199" y="28795"/>
            <a:ext cx="10515600"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Reported MLS Catch from Japan</a:t>
            </a:r>
          </a:p>
        </p:txBody>
      </p:sp>
      <p:sp>
        <p:nvSpPr>
          <p:cNvPr id="5" name="TextBox 4">
            <a:extLst>
              <a:ext uri="{FF2B5EF4-FFF2-40B4-BE49-F238E27FC236}">
                <a16:creationId xmlns:a16="http://schemas.microsoft.com/office/drawing/2014/main" id="{00C9A2B3-0ED7-4F23-956E-0F7A69D3FA55}"/>
              </a:ext>
            </a:extLst>
          </p:cNvPr>
          <p:cNvSpPr txBox="1"/>
          <p:nvPr/>
        </p:nvSpPr>
        <p:spPr>
          <a:xfrm>
            <a:off x="9290165" y="6550224"/>
            <a:ext cx="2901835" cy="307777"/>
          </a:xfrm>
          <a:prstGeom prst="rect">
            <a:avLst/>
          </a:prstGeom>
          <a:noFill/>
        </p:spPr>
        <p:txBody>
          <a:bodyPr wrap="square">
            <a:spAutoFit/>
          </a:bodyPr>
          <a:lstStyle/>
          <a:p>
            <a:pPr algn="r"/>
            <a:r>
              <a:rPr lang="en-US" sz="1400" dirty="0"/>
              <a:t>Data from ISC Billfish Working Group</a:t>
            </a:r>
          </a:p>
        </p:txBody>
      </p:sp>
      <p:pic>
        <p:nvPicPr>
          <p:cNvPr id="4" name="Picture 3">
            <a:extLst>
              <a:ext uri="{FF2B5EF4-FFF2-40B4-BE49-F238E27FC236}">
                <a16:creationId xmlns:a16="http://schemas.microsoft.com/office/drawing/2014/main" id="{E2A9DDB9-F96C-4D78-8F31-D61A87EE6183}"/>
              </a:ext>
            </a:extLst>
          </p:cNvPr>
          <p:cNvPicPr>
            <a:picLocks noChangeAspect="1"/>
          </p:cNvPicPr>
          <p:nvPr/>
        </p:nvPicPr>
        <p:blipFill>
          <a:blip r:embed="rId2"/>
          <a:stretch>
            <a:fillRect/>
          </a:stretch>
        </p:blipFill>
        <p:spPr>
          <a:xfrm>
            <a:off x="3065525" y="621792"/>
            <a:ext cx="6060948" cy="6236208"/>
          </a:xfrm>
          <a:prstGeom prst="rect">
            <a:avLst/>
          </a:prstGeom>
        </p:spPr>
      </p:pic>
    </p:spTree>
    <p:extLst>
      <p:ext uri="{BB962C8B-B14F-4D97-AF65-F5344CB8AC3E}">
        <p14:creationId xmlns:p14="http://schemas.microsoft.com/office/powerpoint/2010/main" val="268126982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838199" y="28795"/>
            <a:ext cx="10515600"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Reported MLS Catch from the United States</a:t>
            </a:r>
          </a:p>
        </p:txBody>
      </p:sp>
      <p:sp>
        <p:nvSpPr>
          <p:cNvPr id="5" name="TextBox 4">
            <a:extLst>
              <a:ext uri="{FF2B5EF4-FFF2-40B4-BE49-F238E27FC236}">
                <a16:creationId xmlns:a16="http://schemas.microsoft.com/office/drawing/2014/main" id="{00C9A2B3-0ED7-4F23-956E-0F7A69D3FA55}"/>
              </a:ext>
            </a:extLst>
          </p:cNvPr>
          <p:cNvSpPr txBox="1"/>
          <p:nvPr/>
        </p:nvSpPr>
        <p:spPr>
          <a:xfrm>
            <a:off x="9290165" y="6550224"/>
            <a:ext cx="2901835" cy="307777"/>
          </a:xfrm>
          <a:prstGeom prst="rect">
            <a:avLst/>
          </a:prstGeom>
          <a:noFill/>
        </p:spPr>
        <p:txBody>
          <a:bodyPr wrap="square">
            <a:spAutoFit/>
          </a:bodyPr>
          <a:lstStyle/>
          <a:p>
            <a:pPr algn="r"/>
            <a:r>
              <a:rPr lang="en-US" sz="1400" dirty="0"/>
              <a:t>Data from ISC Billfish Working Group</a:t>
            </a:r>
          </a:p>
        </p:txBody>
      </p:sp>
      <p:pic>
        <p:nvPicPr>
          <p:cNvPr id="4" name="Picture 3">
            <a:extLst>
              <a:ext uri="{FF2B5EF4-FFF2-40B4-BE49-F238E27FC236}">
                <a16:creationId xmlns:a16="http://schemas.microsoft.com/office/drawing/2014/main" id="{650F91CB-649B-4697-B34A-AB69CC839C0A}"/>
              </a:ext>
            </a:extLst>
          </p:cNvPr>
          <p:cNvPicPr>
            <a:picLocks noChangeAspect="1"/>
          </p:cNvPicPr>
          <p:nvPr/>
        </p:nvPicPr>
        <p:blipFill>
          <a:blip r:embed="rId2"/>
          <a:stretch>
            <a:fillRect/>
          </a:stretch>
        </p:blipFill>
        <p:spPr>
          <a:xfrm>
            <a:off x="2973459" y="650909"/>
            <a:ext cx="6245079" cy="6178296"/>
          </a:xfrm>
          <a:prstGeom prst="rect">
            <a:avLst/>
          </a:prstGeom>
        </p:spPr>
      </p:pic>
    </p:spTree>
    <p:extLst>
      <p:ext uri="{BB962C8B-B14F-4D97-AF65-F5344CB8AC3E}">
        <p14:creationId xmlns:p14="http://schemas.microsoft.com/office/powerpoint/2010/main" val="31339674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84083" y="28795"/>
            <a:ext cx="12107917"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Initial Catches are Lower for the CMM 2024-06 Projection Scenarios</a:t>
            </a:r>
          </a:p>
        </p:txBody>
      </p:sp>
      <p:pic>
        <p:nvPicPr>
          <p:cNvPr id="2" name="Picture 1">
            <a:extLst>
              <a:ext uri="{FF2B5EF4-FFF2-40B4-BE49-F238E27FC236}">
                <a16:creationId xmlns:a16="http://schemas.microsoft.com/office/drawing/2014/main" id="{9F59DD12-751F-4653-8F3E-03972E0FBAFE}"/>
              </a:ext>
            </a:extLst>
          </p:cNvPr>
          <p:cNvPicPr>
            <a:picLocks noChangeAspect="1"/>
          </p:cNvPicPr>
          <p:nvPr/>
        </p:nvPicPr>
        <p:blipFill>
          <a:blip r:embed="rId2"/>
          <a:stretch>
            <a:fillRect/>
          </a:stretch>
        </p:blipFill>
        <p:spPr>
          <a:xfrm>
            <a:off x="2722038" y="954380"/>
            <a:ext cx="6747923" cy="5903620"/>
          </a:xfrm>
          <a:prstGeom prst="rect">
            <a:avLst/>
          </a:prstGeom>
        </p:spPr>
      </p:pic>
    </p:spTree>
    <p:extLst>
      <p:ext uri="{BB962C8B-B14F-4D97-AF65-F5344CB8AC3E}">
        <p14:creationId xmlns:p14="http://schemas.microsoft.com/office/powerpoint/2010/main" val="321792711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84083" y="28795"/>
            <a:ext cx="12107917"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Initial Fishing Mortalities are Lower for the CMM 2024-06 Scenarios</a:t>
            </a:r>
          </a:p>
        </p:txBody>
      </p:sp>
      <p:pic>
        <p:nvPicPr>
          <p:cNvPr id="3" name="Picture 2">
            <a:extLst>
              <a:ext uri="{FF2B5EF4-FFF2-40B4-BE49-F238E27FC236}">
                <a16:creationId xmlns:a16="http://schemas.microsoft.com/office/drawing/2014/main" id="{4C637E69-7AED-4964-BA0B-9DAFDE845F82}"/>
              </a:ext>
            </a:extLst>
          </p:cNvPr>
          <p:cNvPicPr>
            <a:picLocks noChangeAspect="1"/>
          </p:cNvPicPr>
          <p:nvPr/>
        </p:nvPicPr>
        <p:blipFill>
          <a:blip r:embed="rId2"/>
          <a:stretch>
            <a:fillRect/>
          </a:stretch>
        </p:blipFill>
        <p:spPr>
          <a:xfrm>
            <a:off x="2816397" y="925018"/>
            <a:ext cx="6559205" cy="5932982"/>
          </a:xfrm>
          <a:prstGeom prst="rect">
            <a:avLst/>
          </a:prstGeom>
        </p:spPr>
      </p:pic>
    </p:spTree>
    <p:extLst>
      <p:ext uri="{BB962C8B-B14F-4D97-AF65-F5344CB8AC3E}">
        <p14:creationId xmlns:p14="http://schemas.microsoft.com/office/powerpoint/2010/main" val="136263908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313C70-E9D8-4380-9DDC-9A0510FABF2F}"/>
              </a:ext>
            </a:extLst>
          </p:cNvPr>
          <p:cNvPicPr>
            <a:picLocks noChangeAspect="1"/>
          </p:cNvPicPr>
          <p:nvPr/>
        </p:nvPicPr>
        <p:blipFill>
          <a:blip r:embed="rId2"/>
          <a:stretch>
            <a:fillRect/>
          </a:stretch>
        </p:blipFill>
        <p:spPr>
          <a:xfrm>
            <a:off x="0" y="1398356"/>
            <a:ext cx="7033152" cy="4014951"/>
          </a:xfrm>
          <a:prstGeom prst="rect">
            <a:avLst/>
          </a:prstGeom>
        </p:spPr>
      </p:pic>
      <p:pic>
        <p:nvPicPr>
          <p:cNvPr id="3" name="Picture 2">
            <a:extLst>
              <a:ext uri="{FF2B5EF4-FFF2-40B4-BE49-F238E27FC236}">
                <a16:creationId xmlns:a16="http://schemas.microsoft.com/office/drawing/2014/main" id="{AB63EFB0-8B1E-4379-BECF-02D51699BBC6}"/>
              </a:ext>
            </a:extLst>
          </p:cNvPr>
          <p:cNvPicPr>
            <a:picLocks noChangeAspect="1"/>
          </p:cNvPicPr>
          <p:nvPr/>
        </p:nvPicPr>
        <p:blipFill>
          <a:blip r:embed="rId3"/>
          <a:stretch>
            <a:fillRect/>
          </a:stretch>
        </p:blipFill>
        <p:spPr>
          <a:xfrm>
            <a:off x="7033152" y="1398356"/>
            <a:ext cx="5146214" cy="4529477"/>
          </a:xfrm>
          <a:prstGeom prst="rect">
            <a:avLst/>
          </a:prstGeom>
        </p:spPr>
      </p:pic>
      <p:sp>
        <p:nvSpPr>
          <p:cNvPr id="4" name="Title 1">
            <a:extLst>
              <a:ext uri="{FF2B5EF4-FFF2-40B4-BE49-F238E27FC236}">
                <a16:creationId xmlns:a16="http://schemas.microsoft.com/office/drawing/2014/main" id="{04F509C2-1C3C-4EEB-910B-5B726BC3F750}"/>
              </a:ext>
            </a:extLst>
          </p:cNvPr>
          <p:cNvSpPr txBox="1">
            <a:spLocks/>
          </p:cNvSpPr>
          <p:nvPr/>
        </p:nvSpPr>
        <p:spPr>
          <a:xfrm>
            <a:off x="0" y="28795"/>
            <a:ext cx="12192000" cy="854075"/>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t>Striped Marlin Catch Limits with Carryover in 2025</a:t>
            </a:r>
          </a:p>
        </p:txBody>
      </p:sp>
    </p:spTree>
    <p:extLst>
      <p:ext uri="{BB962C8B-B14F-4D97-AF65-F5344CB8AC3E}">
        <p14:creationId xmlns:p14="http://schemas.microsoft.com/office/powerpoint/2010/main" val="4072924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D6B2DB9-54ED-462C-A1B1-2BD7E37489D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26330431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C33B37E-7AA2-4F63-892D-46C1E765F2B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31232754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EAF6C84-C43D-4F27-BB95-DB863F83DA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89362572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55F1C88-2CFC-4CFF-9AE9-A74C9A4E9EB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2485925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5FBE467-6AB0-4D7E-AF0F-E46E4F3C30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pic>
        <p:nvPicPr>
          <p:cNvPr id="5" name="Picture 4">
            <a:extLst>
              <a:ext uri="{FF2B5EF4-FFF2-40B4-BE49-F238E27FC236}">
                <a16:creationId xmlns:a16="http://schemas.microsoft.com/office/drawing/2014/main" id="{7D72D1C0-92E5-48F7-A54B-6E1E9E11E05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145854298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B35E1EA-8C2F-4FCF-8597-6CF2F5CCA7F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358516262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B61416-53D2-4435-81BF-414A383D7A0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31614076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35E24EF-27B8-4188-81E7-E6B8221A19E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41917967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65E1F26-34AF-44D5-91DA-85F5C1B30E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173194722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FDDF58E6-EE7C-42BC-AE1A-52657CAF9A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122391295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B5EAE8A-BA13-473D-9DF5-51A8837E0DB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284960481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953F1BE-A9AF-4DDC-ABA9-161E46419B4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13373474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14A2D3D-AA9B-478F-BF0A-1DB4807037F7}"/>
              </a:ext>
            </a:extLst>
          </p:cNvPr>
          <p:cNvPicPr>
            <a:picLocks noChangeAspect="1"/>
          </p:cNvPicPr>
          <p:nvPr/>
        </p:nvPicPr>
        <p:blipFill>
          <a:blip r:embed="rId2"/>
          <a:stretch>
            <a:fillRect/>
          </a:stretch>
        </p:blipFill>
        <p:spPr>
          <a:xfrm>
            <a:off x="12634" y="679512"/>
            <a:ext cx="7020917" cy="4018612"/>
          </a:xfrm>
          <a:prstGeom prst="rect">
            <a:avLst/>
          </a:prstGeom>
        </p:spPr>
      </p:pic>
      <p:pic>
        <p:nvPicPr>
          <p:cNvPr id="5" name="Picture 4">
            <a:extLst>
              <a:ext uri="{FF2B5EF4-FFF2-40B4-BE49-F238E27FC236}">
                <a16:creationId xmlns:a16="http://schemas.microsoft.com/office/drawing/2014/main" id="{D6ADEE82-6307-429E-B0DF-E48920E40773}"/>
              </a:ext>
            </a:extLst>
          </p:cNvPr>
          <p:cNvPicPr>
            <a:picLocks noChangeAspect="1"/>
          </p:cNvPicPr>
          <p:nvPr/>
        </p:nvPicPr>
        <p:blipFill>
          <a:blip r:embed="rId3"/>
          <a:stretch>
            <a:fillRect/>
          </a:stretch>
        </p:blipFill>
        <p:spPr>
          <a:xfrm>
            <a:off x="7033551" y="1406555"/>
            <a:ext cx="5160781" cy="4542299"/>
          </a:xfrm>
          <a:prstGeom prst="rect">
            <a:avLst/>
          </a:prstGeom>
        </p:spPr>
      </p:pic>
    </p:spTree>
    <p:extLst>
      <p:ext uri="{BB962C8B-B14F-4D97-AF65-F5344CB8AC3E}">
        <p14:creationId xmlns:p14="http://schemas.microsoft.com/office/powerpoint/2010/main" val="33102584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2484C8B-A0DC-4C16-B17A-A3F43E03DF5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59447605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9DA1954-73AB-4E02-B1E8-DB8932361C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220112060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664529E-5EC9-4C06-8DA7-B6E3DAA7DC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176234460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87327EF-95B5-4D63-A7E4-A5C2894B388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393109323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FA62858-0229-49E5-AB6C-DBEAE1EFA9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52513762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9FDF0F8-D838-4750-BA3E-ABF7D0A602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314829086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FF3F80-FFC2-4113-9313-4B95E8FA9111}"/>
              </a:ext>
            </a:extLst>
          </p:cNvPr>
          <p:cNvSpPr>
            <a:spLocks noGrp="1"/>
          </p:cNvSpPr>
          <p:nvPr>
            <p:ph type="title"/>
          </p:nvPr>
        </p:nvSpPr>
        <p:spPr/>
        <p:txBody>
          <a:bodyPr/>
          <a:lstStyle/>
          <a:p>
            <a:pPr algn="ctr"/>
            <a:r>
              <a:rPr lang="en-US" dirty="0"/>
              <a:t>Auxiliary Slides</a:t>
            </a:r>
          </a:p>
        </p:txBody>
      </p:sp>
    </p:spTree>
    <p:extLst>
      <p:ext uri="{BB962C8B-B14F-4D97-AF65-F5344CB8AC3E}">
        <p14:creationId xmlns:p14="http://schemas.microsoft.com/office/powerpoint/2010/main" val="107780527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560988" y="0"/>
            <a:ext cx="11070022"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MLS Year Classes in 2018-2020 Were Above Short-Term Average </a:t>
            </a:r>
          </a:p>
        </p:txBody>
      </p:sp>
      <p:pic>
        <p:nvPicPr>
          <p:cNvPr id="2" name="Picture 1">
            <a:extLst>
              <a:ext uri="{FF2B5EF4-FFF2-40B4-BE49-F238E27FC236}">
                <a16:creationId xmlns:a16="http://schemas.microsoft.com/office/drawing/2014/main" id="{DA71D41D-30A5-491D-AD6B-4EBEC3B94C1C}"/>
              </a:ext>
            </a:extLst>
          </p:cNvPr>
          <p:cNvPicPr>
            <a:picLocks noChangeAspect="1"/>
          </p:cNvPicPr>
          <p:nvPr/>
        </p:nvPicPr>
        <p:blipFill>
          <a:blip r:embed="rId2"/>
          <a:stretch>
            <a:fillRect/>
          </a:stretch>
        </p:blipFill>
        <p:spPr>
          <a:xfrm>
            <a:off x="1881351" y="732070"/>
            <a:ext cx="8429296" cy="6125930"/>
          </a:xfrm>
          <a:prstGeom prst="rect">
            <a:avLst/>
          </a:prstGeom>
        </p:spPr>
      </p:pic>
    </p:spTree>
    <p:extLst>
      <p:ext uri="{BB962C8B-B14F-4D97-AF65-F5344CB8AC3E}">
        <p14:creationId xmlns:p14="http://schemas.microsoft.com/office/powerpoint/2010/main" val="298747734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9FF6910-B1B5-4D4E-B81B-1E7048974DA6}"/>
              </a:ext>
            </a:extLst>
          </p:cNvPr>
          <p:cNvPicPr>
            <a:picLocks noChangeAspect="1"/>
          </p:cNvPicPr>
          <p:nvPr/>
        </p:nvPicPr>
        <p:blipFill>
          <a:blip r:embed="rId2"/>
          <a:stretch>
            <a:fillRect/>
          </a:stretch>
        </p:blipFill>
        <p:spPr>
          <a:xfrm>
            <a:off x="1908695" y="869436"/>
            <a:ext cx="8374609" cy="5959769"/>
          </a:xfrm>
          <a:prstGeom prst="rect">
            <a:avLst/>
          </a:prstGeom>
        </p:spPr>
      </p:pic>
      <p:sp>
        <p:nvSpPr>
          <p:cNvPr id="5" name="Title 1">
            <a:extLst>
              <a:ext uri="{FF2B5EF4-FFF2-40B4-BE49-F238E27FC236}">
                <a16:creationId xmlns:a16="http://schemas.microsoft.com/office/drawing/2014/main" id="{05669D09-2F3D-4274-9902-F37BF03B6178}"/>
              </a:ext>
            </a:extLst>
          </p:cNvPr>
          <p:cNvSpPr txBox="1">
            <a:spLocks/>
          </p:cNvSpPr>
          <p:nvPr/>
        </p:nvSpPr>
        <p:spPr>
          <a:xfrm>
            <a:off x="560988" y="0"/>
            <a:ext cx="11070022"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MLS Catches in 2021-2023 Were the Lowest Observed Since 1977 </a:t>
            </a:r>
          </a:p>
        </p:txBody>
      </p:sp>
    </p:spTree>
    <p:extLst>
      <p:ext uri="{BB962C8B-B14F-4D97-AF65-F5344CB8AC3E}">
        <p14:creationId xmlns:p14="http://schemas.microsoft.com/office/powerpoint/2010/main" val="72567083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838199" y="28795"/>
            <a:ext cx="10515600"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What is the Abundance of the 2020 Year Class ?</a:t>
            </a:r>
          </a:p>
        </p:txBody>
      </p:sp>
      <p:pic>
        <p:nvPicPr>
          <p:cNvPr id="2" name="Picture 1">
            <a:extLst>
              <a:ext uri="{FF2B5EF4-FFF2-40B4-BE49-F238E27FC236}">
                <a16:creationId xmlns:a16="http://schemas.microsoft.com/office/drawing/2014/main" id="{4849D61F-9475-496F-AAEC-4CB3A0DC1D5C}"/>
              </a:ext>
            </a:extLst>
          </p:cNvPr>
          <p:cNvPicPr>
            <a:picLocks noChangeAspect="1"/>
          </p:cNvPicPr>
          <p:nvPr/>
        </p:nvPicPr>
        <p:blipFill>
          <a:blip r:embed="rId2"/>
          <a:stretch>
            <a:fillRect/>
          </a:stretch>
        </p:blipFill>
        <p:spPr>
          <a:xfrm>
            <a:off x="2617077" y="764305"/>
            <a:ext cx="7032730" cy="5943377"/>
          </a:xfrm>
          <a:prstGeom prst="rect">
            <a:avLst/>
          </a:prstGeom>
        </p:spPr>
      </p:pic>
    </p:spTree>
    <p:extLst>
      <p:ext uri="{BB962C8B-B14F-4D97-AF65-F5344CB8AC3E}">
        <p14:creationId xmlns:p14="http://schemas.microsoft.com/office/powerpoint/2010/main" val="80314088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1F34FD8-F1E2-487E-8C89-4730F25731AE}"/>
              </a:ext>
            </a:extLst>
          </p:cNvPr>
          <p:cNvPicPr>
            <a:picLocks noChangeAspect="1"/>
          </p:cNvPicPr>
          <p:nvPr/>
        </p:nvPicPr>
        <p:blipFill>
          <a:blip r:embed="rId2"/>
          <a:stretch>
            <a:fillRect/>
          </a:stretch>
        </p:blipFill>
        <p:spPr>
          <a:xfrm>
            <a:off x="3358896" y="1110996"/>
            <a:ext cx="5474208" cy="4636008"/>
          </a:xfrm>
          <a:prstGeom prst="rect">
            <a:avLst/>
          </a:prstGeom>
        </p:spPr>
      </p:pic>
      <p:sp>
        <p:nvSpPr>
          <p:cNvPr id="5" name="Title 1">
            <a:extLst>
              <a:ext uri="{FF2B5EF4-FFF2-40B4-BE49-F238E27FC236}">
                <a16:creationId xmlns:a16="http://schemas.microsoft.com/office/drawing/2014/main" id="{1BDD3E14-CF22-4236-8246-47A1B960A8D4}"/>
              </a:ext>
            </a:extLst>
          </p:cNvPr>
          <p:cNvSpPr txBox="1">
            <a:spLocks/>
          </p:cNvSpPr>
          <p:nvPr/>
        </p:nvSpPr>
        <p:spPr>
          <a:xfrm>
            <a:off x="838199" y="28795"/>
            <a:ext cx="10515600"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What is the Abundance of the 2020 Year Class ?</a:t>
            </a:r>
          </a:p>
        </p:txBody>
      </p:sp>
    </p:spTree>
    <p:extLst>
      <p:ext uri="{BB962C8B-B14F-4D97-AF65-F5344CB8AC3E}">
        <p14:creationId xmlns:p14="http://schemas.microsoft.com/office/powerpoint/2010/main" val="123452421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EAF34-7519-442F-8E23-1715A0C165F8}"/>
              </a:ext>
            </a:extLst>
          </p:cNvPr>
          <p:cNvSpPr>
            <a:spLocks noGrp="1"/>
          </p:cNvSpPr>
          <p:nvPr>
            <p:ph type="title"/>
          </p:nvPr>
        </p:nvSpPr>
        <p:spPr>
          <a:xfrm>
            <a:off x="630620" y="1"/>
            <a:ext cx="10909739" cy="714702"/>
          </a:xfrm>
        </p:spPr>
        <p:txBody>
          <a:bodyPr>
            <a:normAutofit fontScale="90000"/>
          </a:bodyPr>
          <a:lstStyle/>
          <a:p>
            <a:pPr algn="ctr"/>
            <a:r>
              <a:rPr lang="en-US" sz="3600" dirty="0"/>
              <a:t>Fleet Groups with Identical Fishery Selectivity for Striped Marlin</a:t>
            </a:r>
          </a:p>
        </p:txBody>
      </p:sp>
      <p:pic>
        <p:nvPicPr>
          <p:cNvPr id="4" name="Picture 3">
            <a:extLst>
              <a:ext uri="{FF2B5EF4-FFF2-40B4-BE49-F238E27FC236}">
                <a16:creationId xmlns:a16="http://schemas.microsoft.com/office/drawing/2014/main" id="{2272FD61-77D9-4A4B-8691-D3A889E04F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33473" y="712592"/>
            <a:ext cx="6325054" cy="6145407"/>
          </a:xfrm>
          <a:prstGeom prst="rect">
            <a:avLst/>
          </a:prstGeom>
        </p:spPr>
      </p:pic>
    </p:spTree>
    <p:extLst>
      <p:ext uri="{BB962C8B-B14F-4D97-AF65-F5344CB8AC3E}">
        <p14:creationId xmlns:p14="http://schemas.microsoft.com/office/powerpoint/2010/main" val="363855517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EAF34-7519-442F-8E23-1715A0C165F8}"/>
              </a:ext>
            </a:extLst>
          </p:cNvPr>
          <p:cNvSpPr>
            <a:spLocks noGrp="1"/>
          </p:cNvSpPr>
          <p:nvPr>
            <p:ph type="title"/>
          </p:nvPr>
        </p:nvSpPr>
        <p:spPr>
          <a:xfrm>
            <a:off x="630620" y="1"/>
            <a:ext cx="10909739" cy="714702"/>
          </a:xfrm>
        </p:spPr>
        <p:txBody>
          <a:bodyPr>
            <a:normAutofit fontScale="90000"/>
          </a:bodyPr>
          <a:lstStyle/>
          <a:p>
            <a:pPr algn="ctr"/>
            <a:r>
              <a:rPr lang="en-US" sz="3600" dirty="0"/>
              <a:t>Fleet Groups with Identical Fishery Selectivity for Striped Marlin</a:t>
            </a:r>
          </a:p>
        </p:txBody>
      </p:sp>
      <p:pic>
        <p:nvPicPr>
          <p:cNvPr id="5" name="Picture 4">
            <a:extLst>
              <a:ext uri="{FF2B5EF4-FFF2-40B4-BE49-F238E27FC236}">
                <a16:creationId xmlns:a16="http://schemas.microsoft.com/office/drawing/2014/main" id="{964F877C-5450-4B03-A382-DCF90E17D3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2750" y="714703"/>
            <a:ext cx="6758748" cy="6143296"/>
          </a:xfrm>
          <a:prstGeom prst="rect">
            <a:avLst/>
          </a:prstGeom>
        </p:spPr>
      </p:pic>
    </p:spTree>
    <p:extLst>
      <p:ext uri="{BB962C8B-B14F-4D97-AF65-F5344CB8AC3E}">
        <p14:creationId xmlns:p14="http://schemas.microsoft.com/office/powerpoint/2010/main" val="128172483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EAF34-7519-442F-8E23-1715A0C165F8}"/>
              </a:ext>
            </a:extLst>
          </p:cNvPr>
          <p:cNvSpPr>
            <a:spLocks noGrp="1"/>
          </p:cNvSpPr>
          <p:nvPr>
            <p:ph type="title"/>
          </p:nvPr>
        </p:nvSpPr>
        <p:spPr>
          <a:xfrm>
            <a:off x="630620" y="1"/>
            <a:ext cx="10909739" cy="714702"/>
          </a:xfrm>
        </p:spPr>
        <p:txBody>
          <a:bodyPr>
            <a:normAutofit fontScale="90000"/>
          </a:bodyPr>
          <a:lstStyle/>
          <a:p>
            <a:pPr algn="ctr"/>
            <a:r>
              <a:rPr lang="en-US" sz="3600" dirty="0"/>
              <a:t>Fleet Groups with Identical Fishery Selectivity for Striped Marlin</a:t>
            </a:r>
          </a:p>
        </p:txBody>
      </p:sp>
      <p:pic>
        <p:nvPicPr>
          <p:cNvPr id="5" name="Picture 4">
            <a:extLst>
              <a:ext uri="{FF2B5EF4-FFF2-40B4-BE49-F238E27FC236}">
                <a16:creationId xmlns:a16="http://schemas.microsoft.com/office/drawing/2014/main" id="{CB327DC8-7700-40E5-A1F5-36A722B7513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04806" y="714705"/>
            <a:ext cx="8521153" cy="6143295"/>
          </a:xfrm>
          <a:prstGeom prst="rect">
            <a:avLst/>
          </a:prstGeom>
        </p:spPr>
      </p:pic>
    </p:spTree>
    <p:extLst>
      <p:ext uri="{BB962C8B-B14F-4D97-AF65-F5344CB8AC3E}">
        <p14:creationId xmlns:p14="http://schemas.microsoft.com/office/powerpoint/2010/main" val="116685113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EAF34-7519-442F-8E23-1715A0C165F8}"/>
              </a:ext>
            </a:extLst>
          </p:cNvPr>
          <p:cNvSpPr>
            <a:spLocks noGrp="1"/>
          </p:cNvSpPr>
          <p:nvPr>
            <p:ph type="title"/>
          </p:nvPr>
        </p:nvSpPr>
        <p:spPr>
          <a:xfrm>
            <a:off x="630620" y="1"/>
            <a:ext cx="10909739" cy="714702"/>
          </a:xfrm>
        </p:spPr>
        <p:txBody>
          <a:bodyPr>
            <a:normAutofit fontScale="90000"/>
          </a:bodyPr>
          <a:lstStyle/>
          <a:p>
            <a:pPr algn="ctr"/>
            <a:r>
              <a:rPr lang="en-US" sz="3600" dirty="0"/>
              <a:t>Fleet Groups with Identical Fishery Selectivity for Striped Marlin</a:t>
            </a:r>
          </a:p>
        </p:txBody>
      </p:sp>
      <p:pic>
        <p:nvPicPr>
          <p:cNvPr id="4" name="Picture 3">
            <a:extLst>
              <a:ext uri="{FF2B5EF4-FFF2-40B4-BE49-F238E27FC236}">
                <a16:creationId xmlns:a16="http://schemas.microsoft.com/office/drawing/2014/main" id="{2001740E-17D6-4970-8F96-554ECCB121A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865" y="714703"/>
            <a:ext cx="6303664" cy="6279189"/>
          </a:xfrm>
          <a:prstGeom prst="rect">
            <a:avLst/>
          </a:prstGeom>
        </p:spPr>
      </p:pic>
    </p:spTree>
    <p:extLst>
      <p:ext uri="{BB962C8B-B14F-4D97-AF65-F5344CB8AC3E}">
        <p14:creationId xmlns:p14="http://schemas.microsoft.com/office/powerpoint/2010/main" val="307811161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EAF34-7519-442F-8E23-1715A0C165F8}"/>
              </a:ext>
            </a:extLst>
          </p:cNvPr>
          <p:cNvSpPr>
            <a:spLocks noGrp="1"/>
          </p:cNvSpPr>
          <p:nvPr>
            <p:ph type="title"/>
          </p:nvPr>
        </p:nvSpPr>
        <p:spPr>
          <a:xfrm>
            <a:off x="630620" y="1"/>
            <a:ext cx="10909739" cy="714702"/>
          </a:xfrm>
        </p:spPr>
        <p:txBody>
          <a:bodyPr>
            <a:normAutofit fontScale="90000"/>
          </a:bodyPr>
          <a:lstStyle/>
          <a:p>
            <a:pPr algn="ctr"/>
            <a:r>
              <a:rPr lang="en-US" sz="3600" dirty="0"/>
              <a:t>Fleet Groups with Identical Fishery Selectivity for Striped Marlin</a:t>
            </a:r>
          </a:p>
        </p:txBody>
      </p:sp>
      <p:pic>
        <p:nvPicPr>
          <p:cNvPr id="4" name="Picture 3">
            <a:extLst>
              <a:ext uri="{FF2B5EF4-FFF2-40B4-BE49-F238E27FC236}">
                <a16:creationId xmlns:a16="http://schemas.microsoft.com/office/drawing/2014/main" id="{DFE642F4-A00F-488B-858F-C68E585A083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14693" y="851630"/>
            <a:ext cx="5100159" cy="6006369"/>
          </a:xfrm>
          <a:prstGeom prst="rect">
            <a:avLst/>
          </a:prstGeom>
        </p:spPr>
      </p:pic>
    </p:spTree>
    <p:extLst>
      <p:ext uri="{BB962C8B-B14F-4D97-AF65-F5344CB8AC3E}">
        <p14:creationId xmlns:p14="http://schemas.microsoft.com/office/powerpoint/2010/main" val="182562137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EAF34-7519-442F-8E23-1715A0C165F8}"/>
              </a:ext>
            </a:extLst>
          </p:cNvPr>
          <p:cNvSpPr>
            <a:spLocks noGrp="1"/>
          </p:cNvSpPr>
          <p:nvPr>
            <p:ph type="title"/>
          </p:nvPr>
        </p:nvSpPr>
        <p:spPr>
          <a:xfrm>
            <a:off x="630620" y="1"/>
            <a:ext cx="10909739" cy="714702"/>
          </a:xfrm>
        </p:spPr>
        <p:txBody>
          <a:bodyPr>
            <a:normAutofit fontScale="90000"/>
          </a:bodyPr>
          <a:lstStyle/>
          <a:p>
            <a:pPr algn="ctr"/>
            <a:r>
              <a:rPr lang="en-US" sz="3600" dirty="0"/>
              <a:t>Fleet Groups with Identical Fishery Selectivity for Striped Marlin</a:t>
            </a:r>
          </a:p>
        </p:txBody>
      </p:sp>
      <p:pic>
        <p:nvPicPr>
          <p:cNvPr id="4" name="Picture 3">
            <a:extLst>
              <a:ext uri="{FF2B5EF4-FFF2-40B4-BE49-F238E27FC236}">
                <a16:creationId xmlns:a16="http://schemas.microsoft.com/office/drawing/2014/main" id="{F4CF1743-6A4F-44AB-AA27-7F8FC70EA82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24158" y="631732"/>
            <a:ext cx="5071022" cy="6226268"/>
          </a:xfrm>
          <a:prstGeom prst="rect">
            <a:avLst/>
          </a:prstGeom>
        </p:spPr>
      </p:pic>
    </p:spTree>
    <p:extLst>
      <p:ext uri="{BB962C8B-B14F-4D97-AF65-F5344CB8AC3E}">
        <p14:creationId xmlns:p14="http://schemas.microsoft.com/office/powerpoint/2010/main" val="422784465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DA9BD18-74E2-466B-B059-FCF5305EFC4F}"/>
              </a:ext>
            </a:extLst>
          </p:cNvPr>
          <p:cNvPicPr>
            <a:picLocks noChangeAspect="1"/>
          </p:cNvPicPr>
          <p:nvPr/>
        </p:nvPicPr>
        <p:blipFill>
          <a:blip r:embed="rId2"/>
          <a:stretch>
            <a:fillRect/>
          </a:stretch>
        </p:blipFill>
        <p:spPr>
          <a:xfrm>
            <a:off x="6999890" y="1405257"/>
            <a:ext cx="5192109" cy="4569873"/>
          </a:xfrm>
          <a:prstGeom prst="rect">
            <a:avLst/>
          </a:prstGeom>
        </p:spPr>
      </p:pic>
      <p:pic>
        <p:nvPicPr>
          <p:cNvPr id="7" name="Picture 6">
            <a:extLst>
              <a:ext uri="{FF2B5EF4-FFF2-40B4-BE49-F238E27FC236}">
                <a16:creationId xmlns:a16="http://schemas.microsoft.com/office/drawing/2014/main" id="{FA211A78-C4F3-433E-AB20-00BEB1D279C1}"/>
              </a:ext>
            </a:extLst>
          </p:cNvPr>
          <p:cNvPicPr>
            <a:picLocks noChangeAspect="1"/>
          </p:cNvPicPr>
          <p:nvPr/>
        </p:nvPicPr>
        <p:blipFill>
          <a:blip r:embed="rId3"/>
          <a:stretch>
            <a:fillRect/>
          </a:stretch>
        </p:blipFill>
        <p:spPr>
          <a:xfrm>
            <a:off x="0" y="1405257"/>
            <a:ext cx="6999890" cy="3974904"/>
          </a:xfrm>
          <a:prstGeom prst="rect">
            <a:avLst/>
          </a:prstGeom>
        </p:spPr>
      </p:pic>
      <p:sp>
        <p:nvSpPr>
          <p:cNvPr id="4" name="Title 1">
            <a:extLst>
              <a:ext uri="{FF2B5EF4-FFF2-40B4-BE49-F238E27FC236}">
                <a16:creationId xmlns:a16="http://schemas.microsoft.com/office/drawing/2014/main" id="{7446172D-C745-4776-97C8-F8D578C89963}"/>
              </a:ext>
            </a:extLst>
          </p:cNvPr>
          <p:cNvSpPr txBox="1">
            <a:spLocks/>
          </p:cNvSpPr>
          <p:nvPr/>
        </p:nvSpPr>
        <p:spPr>
          <a:xfrm>
            <a:off x="0" y="28795"/>
            <a:ext cx="12192000" cy="854075"/>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t>Striped Marlin Catch in 2025-2027</a:t>
            </a:r>
          </a:p>
        </p:txBody>
      </p:sp>
    </p:spTree>
    <p:extLst>
      <p:ext uri="{BB962C8B-B14F-4D97-AF65-F5344CB8AC3E}">
        <p14:creationId xmlns:p14="http://schemas.microsoft.com/office/powerpoint/2010/main" val="192982382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9FBA505-0A1C-4571-887B-E2147BA111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pic>
        <p:nvPicPr>
          <p:cNvPr id="5" name="Picture 4">
            <a:extLst>
              <a:ext uri="{FF2B5EF4-FFF2-40B4-BE49-F238E27FC236}">
                <a16:creationId xmlns:a16="http://schemas.microsoft.com/office/drawing/2014/main" id="{4C1A08A5-0309-43EF-8BA8-7F6255B6EF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203877209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BDC551A-32A5-4DD3-A153-EDFD9203CD2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219521082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4AE2EC8-007F-4B1C-80FC-4574CD9CA437}"/>
              </a:ext>
            </a:extLst>
          </p:cNvPr>
          <p:cNvPicPr>
            <a:picLocks noChangeAspect="1"/>
          </p:cNvPicPr>
          <p:nvPr/>
        </p:nvPicPr>
        <p:blipFill>
          <a:blip r:embed="rId2"/>
          <a:stretch>
            <a:fillRect/>
          </a:stretch>
        </p:blipFill>
        <p:spPr>
          <a:xfrm>
            <a:off x="2764698" y="714702"/>
            <a:ext cx="6652570" cy="5465381"/>
          </a:xfrm>
          <a:prstGeom prst="rect">
            <a:avLst/>
          </a:prstGeom>
        </p:spPr>
      </p:pic>
    </p:spTree>
    <p:extLst>
      <p:ext uri="{BB962C8B-B14F-4D97-AF65-F5344CB8AC3E}">
        <p14:creationId xmlns:p14="http://schemas.microsoft.com/office/powerpoint/2010/main" val="136927112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E1FFC9E-595F-483D-875C-DCE4FB058795}"/>
              </a:ext>
            </a:extLst>
          </p:cNvPr>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5972" y="1008993"/>
            <a:ext cx="11740055" cy="5596759"/>
          </a:xfrm>
          <a:prstGeom prst="rect">
            <a:avLst/>
          </a:prstGeom>
          <a:noFill/>
          <a:ln>
            <a:noFill/>
          </a:ln>
        </p:spPr>
      </p:pic>
      <p:sp>
        <p:nvSpPr>
          <p:cNvPr id="4" name="Title 1">
            <a:extLst>
              <a:ext uri="{FF2B5EF4-FFF2-40B4-BE49-F238E27FC236}">
                <a16:creationId xmlns:a16="http://schemas.microsoft.com/office/drawing/2014/main" id="{992E170D-8CFF-4E57-9FED-43ED07947793}"/>
              </a:ext>
            </a:extLst>
          </p:cNvPr>
          <p:cNvSpPr>
            <a:spLocks noGrp="1"/>
          </p:cNvSpPr>
          <p:nvPr>
            <p:ph type="title"/>
          </p:nvPr>
        </p:nvSpPr>
        <p:spPr>
          <a:xfrm>
            <a:off x="0" y="0"/>
            <a:ext cx="12192000" cy="738188"/>
          </a:xfrm>
        </p:spPr>
        <p:txBody>
          <a:bodyPr>
            <a:normAutofit fontScale="90000"/>
          </a:bodyPr>
          <a:lstStyle/>
          <a:p>
            <a:pPr algn="ctr"/>
            <a:r>
              <a:rPr lang="en-US" sz="4000" dirty="0"/>
              <a:t>Apportion MLS Catch to Fleet Groups from the 2023 Assessment</a:t>
            </a:r>
          </a:p>
        </p:txBody>
      </p:sp>
    </p:spTree>
    <p:extLst>
      <p:ext uri="{BB962C8B-B14F-4D97-AF65-F5344CB8AC3E}">
        <p14:creationId xmlns:p14="http://schemas.microsoft.com/office/powerpoint/2010/main" val="368757695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838199" y="28795"/>
            <a:ext cx="10515600"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Reported MLS Catch from Japan</a:t>
            </a:r>
          </a:p>
        </p:txBody>
      </p:sp>
      <p:pic>
        <p:nvPicPr>
          <p:cNvPr id="3" name="Picture 2">
            <a:extLst>
              <a:ext uri="{FF2B5EF4-FFF2-40B4-BE49-F238E27FC236}">
                <a16:creationId xmlns:a16="http://schemas.microsoft.com/office/drawing/2014/main" id="{114C4E13-7F9C-4D9A-AECA-D44E17F833E7}"/>
              </a:ext>
            </a:extLst>
          </p:cNvPr>
          <p:cNvPicPr>
            <a:picLocks noChangeAspect="1"/>
          </p:cNvPicPr>
          <p:nvPr/>
        </p:nvPicPr>
        <p:blipFill>
          <a:blip r:embed="rId2"/>
          <a:stretch>
            <a:fillRect/>
          </a:stretch>
        </p:blipFill>
        <p:spPr>
          <a:xfrm>
            <a:off x="2938231" y="646499"/>
            <a:ext cx="6315538" cy="6211501"/>
          </a:xfrm>
          <a:prstGeom prst="rect">
            <a:avLst/>
          </a:prstGeom>
        </p:spPr>
      </p:pic>
    </p:spTree>
    <p:extLst>
      <p:ext uri="{BB962C8B-B14F-4D97-AF65-F5344CB8AC3E}">
        <p14:creationId xmlns:p14="http://schemas.microsoft.com/office/powerpoint/2010/main" val="110423316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838199" y="28795"/>
            <a:ext cx="10515600"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Reported MLS Catch from the United States</a:t>
            </a:r>
          </a:p>
        </p:txBody>
      </p:sp>
      <p:pic>
        <p:nvPicPr>
          <p:cNvPr id="5" name="Picture 4">
            <a:extLst>
              <a:ext uri="{FF2B5EF4-FFF2-40B4-BE49-F238E27FC236}">
                <a16:creationId xmlns:a16="http://schemas.microsoft.com/office/drawing/2014/main" id="{6F0F6F5B-C7E6-49B2-B86F-771F24ABFC02}"/>
              </a:ext>
            </a:extLst>
          </p:cNvPr>
          <p:cNvPicPr>
            <a:picLocks noChangeAspect="1"/>
          </p:cNvPicPr>
          <p:nvPr/>
        </p:nvPicPr>
        <p:blipFill>
          <a:blip r:embed="rId2"/>
          <a:stretch>
            <a:fillRect/>
          </a:stretch>
        </p:blipFill>
        <p:spPr>
          <a:xfrm>
            <a:off x="2977540" y="617662"/>
            <a:ext cx="6236917" cy="6240338"/>
          </a:xfrm>
          <a:prstGeom prst="rect">
            <a:avLst/>
          </a:prstGeom>
        </p:spPr>
      </p:pic>
    </p:spTree>
    <p:extLst>
      <p:ext uri="{BB962C8B-B14F-4D97-AF65-F5344CB8AC3E}">
        <p14:creationId xmlns:p14="http://schemas.microsoft.com/office/powerpoint/2010/main" val="323270267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1904</TotalTime>
  <Words>1011</Words>
  <Application>Microsoft Office PowerPoint</Application>
  <PresentationFormat>Widescreen</PresentationFormat>
  <Paragraphs>197</Paragraphs>
  <Slides>66</Slides>
  <Notes>5</Notes>
  <HiddenSlides>0</HiddenSlides>
  <MMClips>0</MMClips>
  <ScaleCrop>false</ScaleCrop>
  <HeadingPairs>
    <vt:vector size="8" baseType="variant">
      <vt:variant>
        <vt:lpstr>Fonts Used</vt:lpstr>
      </vt:variant>
      <vt:variant>
        <vt:i4>3</vt:i4>
      </vt:variant>
      <vt:variant>
        <vt:lpstr>Theme</vt:lpstr>
      </vt:variant>
      <vt:variant>
        <vt:i4>1</vt:i4>
      </vt:variant>
      <vt:variant>
        <vt:lpstr>Embedded OLE Servers</vt:lpstr>
      </vt:variant>
      <vt:variant>
        <vt:i4>1</vt:i4>
      </vt:variant>
      <vt:variant>
        <vt:lpstr>Slide Titles</vt:lpstr>
      </vt:variant>
      <vt:variant>
        <vt:i4>66</vt:i4>
      </vt:variant>
    </vt:vector>
  </HeadingPairs>
  <TitlesOfParts>
    <vt:vector size="71" baseType="lpstr">
      <vt:lpstr>Arial</vt:lpstr>
      <vt:lpstr>Calibri</vt:lpstr>
      <vt:lpstr>Calibri Light</vt:lpstr>
      <vt:lpstr>Office Theme</vt:lpstr>
      <vt:lpstr>SigmaPlot 15.0 Graph</vt:lpstr>
      <vt:lpstr>Stock Projections to Rebuild  WCNPO Striped Marlin  Under WCPFC CMM 2024-06</vt:lpstr>
      <vt:lpstr>Open Science with Documentation and Reproducibility  for the ISC Billfish Working Group</vt:lpstr>
      <vt:lpstr>Rebuilding Target</vt:lpstr>
      <vt:lpstr>Fishing Mortality</vt:lpstr>
      <vt:lpstr>Long-Term Stock-Recruitment Curve from 2023 Assessment</vt:lpstr>
      <vt:lpstr>Stock-Recruitment Relationship from 2023 Assessment</vt:lpstr>
      <vt:lpstr>CMM 2024-06 Revision to CMM 2010-01 for WCNPO Striped Marlin</vt:lpstr>
      <vt:lpstr>Scenario 1. Baseline CMM 2024-06 Catch Limits at 2,400 mt</vt:lpstr>
      <vt:lpstr>Scenario 2. CMM 2024-06 Catch Limits with 2025 Carryover Catch</vt:lpstr>
      <vt:lpstr>Scenario 3. CMM 2024-06 Catch Limits with 2025-2026 Carryover Catch</vt:lpstr>
      <vt:lpstr>CMM 2024-06 Projection Model Configuration</vt:lpstr>
      <vt:lpstr>Initial Conditions: Bootstrap Distribution of Initial Population Size</vt:lpstr>
      <vt:lpstr>Recruitment Stock-Recruitment Pattern from 2023 Assessment</vt:lpstr>
      <vt:lpstr>Recruitment Trend for Short- and Medium-Term Models</vt:lpstr>
      <vt:lpstr>Process Error: Simulated Natural Mortality at Age</vt:lpstr>
      <vt:lpstr>Fleet Groups: Japanese Longline Quarter 2 – Area 1  Fleet Group 3</vt:lpstr>
      <vt:lpstr>Japanese Driftnet Fleet Group 7</vt:lpstr>
      <vt:lpstr>Hawaii Longline  Fleet Group 8</vt:lpstr>
      <vt:lpstr>Taiwanese Longline  Fleet Group 8</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Auxiliary Slides</vt:lpstr>
      <vt:lpstr>PowerPoint Presentation</vt:lpstr>
      <vt:lpstr>PowerPoint Presentation</vt:lpstr>
      <vt:lpstr>PowerPoint Presentation</vt:lpstr>
      <vt:lpstr>PowerPoint Presentation</vt:lpstr>
      <vt:lpstr>Fleet Groups with Identical Fishery Selectivity for Striped Marlin</vt:lpstr>
      <vt:lpstr>Fleet Groups with Identical Fishery Selectivity for Striped Marlin</vt:lpstr>
      <vt:lpstr>Fleet Groups with Identical Fishery Selectivity for Striped Marlin</vt:lpstr>
      <vt:lpstr>Fleet Groups with Identical Fishery Selectivity for Striped Marlin</vt:lpstr>
      <vt:lpstr>Fleet Groups with Identical Fishery Selectivity for Striped Marlin</vt:lpstr>
      <vt:lpstr>Fleet Groups with Identical Fishery Selectivity for Striped Marlin</vt:lpstr>
      <vt:lpstr>PowerPoint Presentation</vt:lpstr>
      <vt:lpstr>PowerPoint Presentation</vt:lpstr>
      <vt:lpstr>PowerPoint Presentation</vt:lpstr>
      <vt:lpstr>PowerPoint Presentation</vt:lpstr>
      <vt:lpstr>Apportion MLS Catch to Fleet Groups from the 2023 Assessment</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 Brodziak</dc:creator>
  <cp:lastModifiedBy>Jon Brodziak</cp:lastModifiedBy>
  <cp:revision>168</cp:revision>
  <cp:lastPrinted>2025-04-01T02:04:17Z</cp:lastPrinted>
  <dcterms:created xsi:type="dcterms:W3CDTF">2025-03-12T03:22:33Z</dcterms:created>
  <dcterms:modified xsi:type="dcterms:W3CDTF">2025-05-09T03:36:28Z</dcterms:modified>
</cp:coreProperties>
</file>