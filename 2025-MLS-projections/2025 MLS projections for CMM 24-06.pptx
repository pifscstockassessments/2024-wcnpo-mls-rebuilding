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716" r:id="rId2"/>
    <p:sldId id="715" r:id="rId3"/>
    <p:sldId id="643" r:id="rId4"/>
    <p:sldId id="644" r:id="rId5"/>
    <p:sldId id="647" r:id="rId6"/>
    <p:sldId id="718" r:id="rId7"/>
    <p:sldId id="318" r:id="rId8"/>
    <p:sldId id="257" r:id="rId9"/>
    <p:sldId id="258" r:id="rId10"/>
    <p:sldId id="259" r:id="rId11"/>
    <p:sldId id="717" r:id="rId12"/>
    <p:sldId id="646" r:id="rId13"/>
    <p:sldId id="720" r:id="rId14"/>
    <p:sldId id="648" r:id="rId15"/>
    <p:sldId id="722" r:id="rId16"/>
    <p:sldId id="290" r:id="rId17"/>
    <p:sldId id="296" r:id="rId18"/>
    <p:sldId id="295" r:id="rId19"/>
    <p:sldId id="719" r:id="rId20"/>
    <p:sldId id="684" r:id="rId21"/>
    <p:sldId id="685" r:id="rId22"/>
    <p:sldId id="306" r:id="rId23"/>
    <p:sldId id="324" r:id="rId24"/>
    <p:sldId id="325" r:id="rId25"/>
    <p:sldId id="674" r:id="rId26"/>
    <p:sldId id="676" r:id="rId27"/>
    <p:sldId id="678" r:id="rId28"/>
    <p:sldId id="679" r:id="rId29"/>
    <p:sldId id="681" r:id="rId30"/>
    <p:sldId id="321" r:id="rId31"/>
    <p:sldId id="682" r:id="rId32"/>
    <p:sldId id="302" r:id="rId33"/>
    <p:sldId id="310" r:id="rId34"/>
    <p:sldId id="724" r:id="rId35"/>
    <p:sldId id="723" r:id="rId36"/>
    <p:sldId id="725" r:id="rId37"/>
    <p:sldId id="726" r:id="rId38"/>
    <p:sldId id="727" r:id="rId39"/>
    <p:sldId id="319" r:id="rId40"/>
    <p:sldId id="300" r:id="rId41"/>
    <p:sldId id="308" r:id="rId42"/>
    <p:sldId id="309" r:id="rId43"/>
    <p:sldId id="315" r:id="rId44"/>
    <p:sldId id="316" r:id="rId45"/>
    <p:sldId id="728" r:id="rId46"/>
    <p:sldId id="729" r:id="rId47"/>
    <p:sldId id="730" r:id="rId48"/>
    <p:sldId id="731" r:id="rId49"/>
    <p:sldId id="297" r:id="rId50"/>
    <p:sldId id="305" r:id="rId51"/>
    <p:sldId id="303" r:id="rId52"/>
    <p:sldId id="304" r:id="rId53"/>
    <p:sldId id="311" r:id="rId54"/>
    <p:sldId id="312" r:id="rId55"/>
    <p:sldId id="733" r:id="rId56"/>
    <p:sldId id="721" r:id="rId57"/>
    <p:sldId id="672" r:id="rId58"/>
    <p:sldId id="680" r:id="rId59"/>
    <p:sldId id="673" r:id="rId60"/>
    <p:sldId id="671" r:id="rId61"/>
    <p:sldId id="279" r:id="rId62"/>
    <p:sldId id="289" r:id="rId63"/>
    <p:sldId id="291" r:id="rId64"/>
    <p:sldId id="292" r:id="rId65"/>
    <p:sldId id="293" r:id="rId66"/>
    <p:sldId id="294" r:id="rId67"/>
    <p:sldId id="683" r:id="rId68"/>
    <p:sldId id="299" r:id="rId69"/>
    <p:sldId id="307" r:id="rId70"/>
    <p:sldId id="314" r:id="rId71"/>
    <p:sldId id="298" r:id="rId72"/>
    <p:sldId id="732" r:id="rId73"/>
    <p:sldId id="313" r:id="rId74"/>
    <p:sldId id="320" r:id="rId75"/>
    <p:sldId id="670" r:id="rId76"/>
    <p:sldId id="675" r:id="rId77"/>
    <p:sldId id="677" r:id="rId78"/>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5" autoAdjust="0"/>
    <p:restoredTop sz="94660"/>
  </p:normalViewPr>
  <p:slideViewPr>
    <p:cSldViewPr snapToGrid="0" showGuides="1">
      <p:cViewPr varScale="1">
        <p:scale>
          <a:sx n="52" d="100"/>
          <a:sy n="52" d="100"/>
        </p:scale>
        <p:origin x="751" y="41"/>
      </p:cViewPr>
      <p:guideLst>
        <p:guide orient="horz" pos="2184"/>
        <p:guide pos="3840"/>
      </p:guideLst>
    </p:cSldViewPr>
  </p:slideViewPr>
  <p:notesTextViewPr>
    <p:cViewPr>
      <p:scale>
        <a:sx n="1" d="1"/>
        <a:sy n="1" d="1"/>
      </p:scale>
      <p:origin x="0" y="0"/>
    </p:cViewPr>
  </p:notesTextViewPr>
  <p:sorterViewPr>
    <p:cViewPr>
      <p:scale>
        <a:sx n="42" d="100"/>
        <a:sy n="42" d="100"/>
      </p:scale>
      <p:origin x="0" y="-548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BC031577-5721-4099-A8DD-A5FBA8B6DDB0}" type="datetimeFigureOut">
              <a:rPr lang="en-US" smtClean="0"/>
              <a:t>5/9/2025</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E09054BB-462B-4B97-BD91-75B19DEDED3E}" type="slidenum">
              <a:rPr lang="en-US" smtClean="0"/>
              <a:t>‹#›</a:t>
            </a:fld>
            <a:endParaRPr lang="en-US"/>
          </a:p>
        </p:txBody>
      </p:sp>
    </p:spTree>
    <p:extLst>
      <p:ext uri="{BB962C8B-B14F-4D97-AF65-F5344CB8AC3E}">
        <p14:creationId xmlns:p14="http://schemas.microsoft.com/office/powerpoint/2010/main" val="4046175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on </a:t>
            </a:r>
          </a:p>
        </p:txBody>
      </p:sp>
      <p:sp>
        <p:nvSpPr>
          <p:cNvPr id="4" name="Slide Number Placeholder 3"/>
          <p:cNvSpPr>
            <a:spLocks noGrp="1"/>
          </p:cNvSpPr>
          <p:nvPr>
            <p:ph type="sldNum" sz="quarter" idx="5"/>
          </p:nvPr>
        </p:nvSpPr>
        <p:spPr/>
        <p:txBody>
          <a:bodyPr/>
          <a:lstStyle/>
          <a:p>
            <a:fld id="{C2314112-0B64-44ED-AA6C-403D967798B7}" type="slidenum">
              <a:rPr lang="en-US" smtClean="0"/>
              <a:t>1</a:t>
            </a:fld>
            <a:endParaRPr lang="en-US"/>
          </a:p>
        </p:txBody>
      </p:sp>
    </p:spTree>
    <p:extLst>
      <p:ext uri="{BB962C8B-B14F-4D97-AF65-F5344CB8AC3E}">
        <p14:creationId xmlns:p14="http://schemas.microsoft.com/office/powerpoint/2010/main" val="3968159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24be3cb2ee_0_1: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24be3cb2ee_0_1: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24be3cb2ee_0_8: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24be3cb2ee_0_8: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24be3cb2ee_0_14: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24be3cb2ee_0_14: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B00-7547-4792-A81C-25F15AE8A7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BED56E-61C4-45EE-9C06-0C24E410FC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B5DD01-1CBE-48E7-9ED9-50BDD8781D75}"/>
              </a:ext>
            </a:extLst>
          </p:cNvPr>
          <p:cNvSpPr>
            <a:spLocks noGrp="1"/>
          </p:cNvSpPr>
          <p:nvPr>
            <p:ph type="dt" sz="half" idx="10"/>
          </p:nvPr>
        </p:nvSpPr>
        <p:spPr/>
        <p:txBody>
          <a:bodyPr/>
          <a:lstStyle/>
          <a:p>
            <a:fld id="{2F4D5645-23AA-4DCF-893C-4CB75AE73D5B}" type="datetimeFigureOut">
              <a:rPr lang="en-US" smtClean="0"/>
              <a:t>5/9/2025</a:t>
            </a:fld>
            <a:endParaRPr lang="en-US"/>
          </a:p>
        </p:txBody>
      </p:sp>
      <p:sp>
        <p:nvSpPr>
          <p:cNvPr id="5" name="Footer Placeholder 4">
            <a:extLst>
              <a:ext uri="{FF2B5EF4-FFF2-40B4-BE49-F238E27FC236}">
                <a16:creationId xmlns:a16="http://schemas.microsoft.com/office/drawing/2014/main" id="{BC72D369-EAC0-4F21-9FF0-654FB290CB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DB676-CE33-4593-9FFC-8C07CF9A817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186215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DF018-18F0-48EA-AD1A-97675E4767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587D3B-E804-47ED-88BB-092661E2F7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B4206B-8C25-4360-8A85-7540149DAE75}"/>
              </a:ext>
            </a:extLst>
          </p:cNvPr>
          <p:cNvSpPr>
            <a:spLocks noGrp="1"/>
          </p:cNvSpPr>
          <p:nvPr>
            <p:ph type="dt" sz="half" idx="10"/>
          </p:nvPr>
        </p:nvSpPr>
        <p:spPr/>
        <p:txBody>
          <a:bodyPr/>
          <a:lstStyle/>
          <a:p>
            <a:fld id="{2F4D5645-23AA-4DCF-893C-4CB75AE73D5B}" type="datetimeFigureOut">
              <a:rPr lang="en-US" smtClean="0"/>
              <a:t>5/9/2025</a:t>
            </a:fld>
            <a:endParaRPr lang="en-US"/>
          </a:p>
        </p:txBody>
      </p:sp>
      <p:sp>
        <p:nvSpPr>
          <p:cNvPr id="5" name="Footer Placeholder 4">
            <a:extLst>
              <a:ext uri="{FF2B5EF4-FFF2-40B4-BE49-F238E27FC236}">
                <a16:creationId xmlns:a16="http://schemas.microsoft.com/office/drawing/2014/main" id="{AA159549-6165-46A4-8E57-CD47DB442B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36106-2642-429E-9D2A-C3084F173282}"/>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4013159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22011-7EE7-43E0-ABB6-BD75CAD002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D1CF69-B52A-47E0-B418-1DC767AE66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A99CEC-3358-4B09-AFA6-B7DFD07E7FE9}"/>
              </a:ext>
            </a:extLst>
          </p:cNvPr>
          <p:cNvSpPr>
            <a:spLocks noGrp="1"/>
          </p:cNvSpPr>
          <p:nvPr>
            <p:ph type="dt" sz="half" idx="10"/>
          </p:nvPr>
        </p:nvSpPr>
        <p:spPr/>
        <p:txBody>
          <a:bodyPr/>
          <a:lstStyle/>
          <a:p>
            <a:fld id="{2F4D5645-23AA-4DCF-893C-4CB75AE73D5B}" type="datetimeFigureOut">
              <a:rPr lang="en-US" smtClean="0"/>
              <a:t>5/9/2025</a:t>
            </a:fld>
            <a:endParaRPr lang="en-US"/>
          </a:p>
        </p:txBody>
      </p:sp>
      <p:sp>
        <p:nvSpPr>
          <p:cNvPr id="5" name="Footer Placeholder 4">
            <a:extLst>
              <a:ext uri="{FF2B5EF4-FFF2-40B4-BE49-F238E27FC236}">
                <a16:creationId xmlns:a16="http://schemas.microsoft.com/office/drawing/2014/main" id="{259970E1-C59E-4CB0-8B28-D0DBB3837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04582-5D85-40DD-B001-F892B2BF4C62}"/>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2480315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E79FF-74E4-416A-872F-E479E90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4CBD2A-4848-464F-BAB4-FDD9092023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F47ED0-4868-477A-AEC6-293E4B2BAA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2858BD-EF64-469E-BD4F-C0CA14FA5151}"/>
              </a:ext>
            </a:extLst>
          </p:cNvPr>
          <p:cNvSpPr>
            <a:spLocks noGrp="1"/>
          </p:cNvSpPr>
          <p:nvPr>
            <p:ph type="dt" sz="half" idx="10"/>
          </p:nvPr>
        </p:nvSpPr>
        <p:spPr/>
        <p:txBody>
          <a:bodyPr/>
          <a:lstStyle/>
          <a:p>
            <a:fld id="{2F4D5645-23AA-4DCF-893C-4CB75AE73D5B}" type="datetimeFigureOut">
              <a:rPr lang="en-US" smtClean="0"/>
              <a:t>5/9/2025</a:t>
            </a:fld>
            <a:endParaRPr lang="en-US"/>
          </a:p>
        </p:txBody>
      </p:sp>
      <p:sp>
        <p:nvSpPr>
          <p:cNvPr id="6" name="Footer Placeholder 5">
            <a:extLst>
              <a:ext uri="{FF2B5EF4-FFF2-40B4-BE49-F238E27FC236}">
                <a16:creationId xmlns:a16="http://schemas.microsoft.com/office/drawing/2014/main" id="{7E31C73C-EF22-413E-AB01-D74CF168C2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0ED99F-E47E-43D8-8136-36E1F88C8C0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1851827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F88D-25DE-4861-8269-BC1AA80804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123F79-4F45-4657-8C11-9C841F08DD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93E313-2E2B-4B13-AE00-70A44D1693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A1DCF9-02E0-4506-B296-E20DE9D6F3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309B03-61FC-4A65-AA23-8066A570B4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F01659-2AA1-46ED-BF70-B6F166B133B5}"/>
              </a:ext>
            </a:extLst>
          </p:cNvPr>
          <p:cNvSpPr>
            <a:spLocks noGrp="1"/>
          </p:cNvSpPr>
          <p:nvPr>
            <p:ph type="dt" sz="half" idx="10"/>
          </p:nvPr>
        </p:nvSpPr>
        <p:spPr/>
        <p:txBody>
          <a:bodyPr/>
          <a:lstStyle/>
          <a:p>
            <a:fld id="{2F4D5645-23AA-4DCF-893C-4CB75AE73D5B}" type="datetimeFigureOut">
              <a:rPr lang="en-US" smtClean="0"/>
              <a:t>5/9/2025</a:t>
            </a:fld>
            <a:endParaRPr lang="en-US"/>
          </a:p>
        </p:txBody>
      </p:sp>
      <p:sp>
        <p:nvSpPr>
          <p:cNvPr id="8" name="Footer Placeholder 7">
            <a:extLst>
              <a:ext uri="{FF2B5EF4-FFF2-40B4-BE49-F238E27FC236}">
                <a16:creationId xmlns:a16="http://schemas.microsoft.com/office/drawing/2014/main" id="{FA688C36-85B9-4ABF-95C4-7DA05DF25A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F7281D-E3E3-4A4E-933B-B61F23B6BDAF}"/>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2752455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DA1F-C216-4059-B3F5-50BFC440F2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27C02-2773-4132-9354-607C7B922DAC}"/>
              </a:ext>
            </a:extLst>
          </p:cNvPr>
          <p:cNvSpPr>
            <a:spLocks noGrp="1"/>
          </p:cNvSpPr>
          <p:nvPr>
            <p:ph type="dt" sz="half" idx="10"/>
          </p:nvPr>
        </p:nvSpPr>
        <p:spPr/>
        <p:txBody>
          <a:bodyPr/>
          <a:lstStyle/>
          <a:p>
            <a:fld id="{2F4D5645-23AA-4DCF-893C-4CB75AE73D5B}" type="datetimeFigureOut">
              <a:rPr lang="en-US" smtClean="0"/>
              <a:t>5/9/2025</a:t>
            </a:fld>
            <a:endParaRPr lang="en-US"/>
          </a:p>
        </p:txBody>
      </p:sp>
      <p:sp>
        <p:nvSpPr>
          <p:cNvPr id="4" name="Footer Placeholder 3">
            <a:extLst>
              <a:ext uri="{FF2B5EF4-FFF2-40B4-BE49-F238E27FC236}">
                <a16:creationId xmlns:a16="http://schemas.microsoft.com/office/drawing/2014/main" id="{EB6DC3A1-EC46-4AF5-BC4C-41FEF999F5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A68303-C715-4516-8C17-A64C9A98C61C}"/>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186893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E2E674-63DB-4A81-AAC5-A599E8FD2254}"/>
              </a:ext>
            </a:extLst>
          </p:cNvPr>
          <p:cNvSpPr>
            <a:spLocks noGrp="1"/>
          </p:cNvSpPr>
          <p:nvPr>
            <p:ph type="dt" sz="half" idx="10"/>
          </p:nvPr>
        </p:nvSpPr>
        <p:spPr/>
        <p:txBody>
          <a:bodyPr/>
          <a:lstStyle/>
          <a:p>
            <a:fld id="{2F4D5645-23AA-4DCF-893C-4CB75AE73D5B}" type="datetimeFigureOut">
              <a:rPr lang="en-US" smtClean="0"/>
              <a:t>5/9/2025</a:t>
            </a:fld>
            <a:endParaRPr lang="en-US"/>
          </a:p>
        </p:txBody>
      </p:sp>
      <p:sp>
        <p:nvSpPr>
          <p:cNvPr id="3" name="Footer Placeholder 2">
            <a:extLst>
              <a:ext uri="{FF2B5EF4-FFF2-40B4-BE49-F238E27FC236}">
                <a16:creationId xmlns:a16="http://schemas.microsoft.com/office/drawing/2014/main" id="{BF477E99-16A7-4C07-9B2D-FE6D34DC4D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8D8D10-8314-418A-8654-0834BE0B3B3B}"/>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4000548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55FDA-C129-4C48-B32E-0A930D3BBD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BC12DC-3A64-4397-8711-82DC608FC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B0F6B9-AB76-4798-BB69-969F32DCE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A2B619-25C2-471E-983A-7BC75C73A601}"/>
              </a:ext>
            </a:extLst>
          </p:cNvPr>
          <p:cNvSpPr>
            <a:spLocks noGrp="1"/>
          </p:cNvSpPr>
          <p:nvPr>
            <p:ph type="dt" sz="half" idx="10"/>
          </p:nvPr>
        </p:nvSpPr>
        <p:spPr/>
        <p:txBody>
          <a:bodyPr/>
          <a:lstStyle/>
          <a:p>
            <a:fld id="{2F4D5645-23AA-4DCF-893C-4CB75AE73D5B}" type="datetimeFigureOut">
              <a:rPr lang="en-US" smtClean="0"/>
              <a:t>5/9/2025</a:t>
            </a:fld>
            <a:endParaRPr lang="en-US"/>
          </a:p>
        </p:txBody>
      </p:sp>
      <p:sp>
        <p:nvSpPr>
          <p:cNvPr id="6" name="Footer Placeholder 5">
            <a:extLst>
              <a:ext uri="{FF2B5EF4-FFF2-40B4-BE49-F238E27FC236}">
                <a16:creationId xmlns:a16="http://schemas.microsoft.com/office/drawing/2014/main" id="{B65F96EF-5716-42F8-956A-C69EFEB1F3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E34605-7495-44D4-9DE9-1F2DE3D1544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901507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7345C-3AC3-446F-9A05-71EB8F7B19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59C4F2-8ABE-48F8-BE4C-5C3ECF069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02AB2E-C870-49AB-B857-D8B585EBD2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0B84E9-12A2-4186-8BBC-6E3B5ACD4DE0}"/>
              </a:ext>
            </a:extLst>
          </p:cNvPr>
          <p:cNvSpPr>
            <a:spLocks noGrp="1"/>
          </p:cNvSpPr>
          <p:nvPr>
            <p:ph type="dt" sz="half" idx="10"/>
          </p:nvPr>
        </p:nvSpPr>
        <p:spPr/>
        <p:txBody>
          <a:bodyPr/>
          <a:lstStyle/>
          <a:p>
            <a:fld id="{2F4D5645-23AA-4DCF-893C-4CB75AE73D5B}" type="datetimeFigureOut">
              <a:rPr lang="en-US" smtClean="0"/>
              <a:t>5/9/2025</a:t>
            </a:fld>
            <a:endParaRPr lang="en-US"/>
          </a:p>
        </p:txBody>
      </p:sp>
      <p:sp>
        <p:nvSpPr>
          <p:cNvPr id="6" name="Footer Placeholder 5">
            <a:extLst>
              <a:ext uri="{FF2B5EF4-FFF2-40B4-BE49-F238E27FC236}">
                <a16:creationId xmlns:a16="http://schemas.microsoft.com/office/drawing/2014/main" id="{7D6CF9BC-B01F-4ACC-B3A1-D543FBE7E6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3DE915-3C30-4FE0-9B71-A8B16AA9F3A7}"/>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73343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B3538-2230-4441-AAE3-B9FA1613D7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644754-BFAA-4BDA-B7FE-0329951EDC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4D930-A630-4BD1-8758-69063986E595}"/>
              </a:ext>
            </a:extLst>
          </p:cNvPr>
          <p:cNvSpPr>
            <a:spLocks noGrp="1"/>
          </p:cNvSpPr>
          <p:nvPr>
            <p:ph type="dt" sz="half" idx="10"/>
          </p:nvPr>
        </p:nvSpPr>
        <p:spPr/>
        <p:txBody>
          <a:bodyPr/>
          <a:lstStyle/>
          <a:p>
            <a:fld id="{2F4D5645-23AA-4DCF-893C-4CB75AE73D5B}" type="datetimeFigureOut">
              <a:rPr lang="en-US" smtClean="0"/>
              <a:t>5/9/2025</a:t>
            </a:fld>
            <a:endParaRPr lang="en-US"/>
          </a:p>
        </p:txBody>
      </p:sp>
      <p:sp>
        <p:nvSpPr>
          <p:cNvPr id="5" name="Footer Placeholder 4">
            <a:extLst>
              <a:ext uri="{FF2B5EF4-FFF2-40B4-BE49-F238E27FC236}">
                <a16:creationId xmlns:a16="http://schemas.microsoft.com/office/drawing/2014/main" id="{A7A3E5D0-E650-4BCC-8DA6-FC652DE3B4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56A9B5-7809-4F98-AD87-C04741281926}"/>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63887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A51487-EADC-441E-BE71-59BF59E57A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F626D7-10FE-4F5A-9DB5-975D15AFEA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B926DC-5B8F-4DD1-AB13-A86948C2E114}"/>
              </a:ext>
            </a:extLst>
          </p:cNvPr>
          <p:cNvSpPr>
            <a:spLocks noGrp="1"/>
          </p:cNvSpPr>
          <p:nvPr>
            <p:ph type="dt" sz="half" idx="10"/>
          </p:nvPr>
        </p:nvSpPr>
        <p:spPr/>
        <p:txBody>
          <a:bodyPr/>
          <a:lstStyle/>
          <a:p>
            <a:fld id="{2F4D5645-23AA-4DCF-893C-4CB75AE73D5B}" type="datetimeFigureOut">
              <a:rPr lang="en-US" smtClean="0"/>
              <a:t>5/9/2025</a:t>
            </a:fld>
            <a:endParaRPr lang="en-US"/>
          </a:p>
        </p:txBody>
      </p:sp>
      <p:sp>
        <p:nvSpPr>
          <p:cNvPr id="5" name="Footer Placeholder 4">
            <a:extLst>
              <a:ext uri="{FF2B5EF4-FFF2-40B4-BE49-F238E27FC236}">
                <a16:creationId xmlns:a16="http://schemas.microsoft.com/office/drawing/2014/main" id="{5C3FFB2A-C15B-4027-9424-502EE2E51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C29A2-F86C-4BAC-8D3B-436F2ED60987}"/>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63760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48029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26195D-2D55-4550-B834-EA3BAEEE9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5B45E7-9B25-4B24-ADEC-430D33F9D5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1B3896-4739-49B7-9E75-53DF501F6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4D5645-23AA-4DCF-893C-4CB75AE73D5B}" type="datetimeFigureOut">
              <a:rPr lang="en-US" smtClean="0"/>
              <a:t>5/9/2025</a:t>
            </a:fld>
            <a:endParaRPr lang="en-US"/>
          </a:p>
        </p:txBody>
      </p:sp>
      <p:sp>
        <p:nvSpPr>
          <p:cNvPr id="5" name="Footer Placeholder 4">
            <a:extLst>
              <a:ext uri="{FF2B5EF4-FFF2-40B4-BE49-F238E27FC236}">
                <a16:creationId xmlns:a16="http://schemas.microsoft.com/office/drawing/2014/main" id="{4FB0AA0A-F9D4-42B4-8028-46DB159B9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E7C39B-6132-4232-B090-D331833644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E49F46-903B-4DEA-A244-FFDEE93D2D96}" type="slidenum">
              <a:rPr lang="en-US" smtClean="0"/>
              <a:t>‹#›</a:t>
            </a:fld>
            <a:endParaRPr lang="en-US"/>
          </a:p>
        </p:txBody>
      </p:sp>
    </p:spTree>
    <p:extLst>
      <p:ext uri="{BB962C8B-B14F-4D97-AF65-F5344CB8AC3E}">
        <p14:creationId xmlns:p14="http://schemas.microsoft.com/office/powerpoint/2010/main" val="52117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on.Brodziak@NOAA.GOV"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IFSCstockassessments/2024-WCNPO-MLS-Rebuilding" TargetMode="External"/><Relationship Id="rId2" Type="http://schemas.openxmlformats.org/officeDocument/2006/relationships/hyperlink" Target="https://drive.google.com/drive/folders/1vNBZWGnTDX9_wl-RByhKqA40jsHUOJCy" TargetMode="External"/><Relationship Id="rId1" Type="http://schemas.openxmlformats.org/officeDocument/2006/relationships/slideLayout" Target="../slideLayouts/slideLayout2.xml"/><Relationship Id="rId4" Type="http://schemas.openxmlformats.org/officeDocument/2006/relationships/hyperlink" Target="https://github.com/PIFSCstockassessments/2024-WCNPO-MLS-Rebuilding/tree/main/2025-MLS-projections/output/Base%20Runs"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cmm.wcpfc.int/measure/cmm-2024-06"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05728-16B3-4EC5-A349-B7A27D1984B0}"/>
              </a:ext>
            </a:extLst>
          </p:cNvPr>
          <p:cNvSpPr>
            <a:spLocks noGrp="1"/>
          </p:cNvSpPr>
          <p:nvPr>
            <p:ph type="ctrTitle"/>
          </p:nvPr>
        </p:nvSpPr>
        <p:spPr>
          <a:xfrm>
            <a:off x="893052" y="73573"/>
            <a:ext cx="10405896" cy="2858814"/>
          </a:xfrm>
        </p:spPr>
        <p:txBody>
          <a:bodyPr>
            <a:normAutofit/>
          </a:bodyPr>
          <a:lstStyle/>
          <a:p>
            <a:r>
              <a:rPr lang="en-US" dirty="0"/>
              <a:t>Stock Projections to Rebuild </a:t>
            </a:r>
            <a:br>
              <a:rPr lang="en-US" dirty="0"/>
            </a:br>
            <a:r>
              <a:rPr lang="en-US" dirty="0"/>
              <a:t>WCNPO Striped Marlin </a:t>
            </a:r>
            <a:br>
              <a:rPr lang="en-US" dirty="0"/>
            </a:br>
            <a:r>
              <a:rPr lang="en-US" dirty="0"/>
              <a:t>Under WCPFC CMM 2024-06</a:t>
            </a:r>
          </a:p>
        </p:txBody>
      </p:sp>
      <p:sp>
        <p:nvSpPr>
          <p:cNvPr id="3" name="Subtitle 2">
            <a:extLst>
              <a:ext uri="{FF2B5EF4-FFF2-40B4-BE49-F238E27FC236}">
                <a16:creationId xmlns:a16="http://schemas.microsoft.com/office/drawing/2014/main" id="{233BD301-D1B6-4894-9ADA-28EDAC7853A8}"/>
              </a:ext>
            </a:extLst>
          </p:cNvPr>
          <p:cNvSpPr>
            <a:spLocks noGrp="1"/>
          </p:cNvSpPr>
          <p:nvPr>
            <p:ph type="subTitle" idx="1"/>
          </p:nvPr>
        </p:nvSpPr>
        <p:spPr/>
        <p:txBody>
          <a:bodyPr>
            <a:normAutofit lnSpcReduction="10000"/>
          </a:bodyPr>
          <a:lstStyle/>
          <a:p>
            <a:r>
              <a:rPr lang="en-US" dirty="0"/>
              <a:t>ISC Billfish Working Group</a:t>
            </a:r>
          </a:p>
          <a:p>
            <a:r>
              <a:rPr lang="en-US" dirty="0"/>
              <a:t>Jon </a:t>
            </a:r>
            <a:r>
              <a:rPr lang="en-US" dirty="0" err="1"/>
              <a:t>Brodziak</a:t>
            </a:r>
            <a:endParaRPr lang="en-US" dirty="0"/>
          </a:p>
          <a:p>
            <a:r>
              <a:rPr lang="en-US" dirty="0">
                <a:hlinkClick r:id="rId3"/>
              </a:rPr>
              <a:t>Jon.Brodziak@NOAA.GOV</a:t>
            </a:r>
            <a:r>
              <a:rPr lang="en-US" dirty="0"/>
              <a:t> </a:t>
            </a:r>
          </a:p>
          <a:p>
            <a:r>
              <a:rPr lang="en-US" dirty="0"/>
              <a:t>12-May-2025</a:t>
            </a:r>
          </a:p>
        </p:txBody>
      </p:sp>
    </p:spTree>
    <p:extLst>
      <p:ext uri="{BB962C8B-B14F-4D97-AF65-F5344CB8AC3E}">
        <p14:creationId xmlns:p14="http://schemas.microsoft.com/office/powerpoint/2010/main" val="259834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937F0-185D-434E-9081-C2F3E94FF607}"/>
              </a:ext>
            </a:extLst>
          </p:cNvPr>
          <p:cNvSpPr>
            <a:spLocks noGrp="1"/>
          </p:cNvSpPr>
          <p:nvPr>
            <p:ph type="title"/>
          </p:nvPr>
        </p:nvSpPr>
        <p:spPr>
          <a:xfrm>
            <a:off x="0" y="94542"/>
            <a:ext cx="12192000" cy="964824"/>
          </a:xfrm>
        </p:spPr>
        <p:txBody>
          <a:bodyPr>
            <a:normAutofit fontScale="90000"/>
          </a:bodyPr>
          <a:lstStyle/>
          <a:p>
            <a:pPr algn="ctr"/>
            <a:r>
              <a:rPr lang="en-US" dirty="0"/>
              <a:t>Open Science with Documentation and Reproducibility </a:t>
            </a:r>
            <a:br>
              <a:rPr lang="en-US" dirty="0"/>
            </a:br>
            <a:r>
              <a:rPr lang="en-US" dirty="0"/>
              <a:t>for the ISC Billfish Working Group</a:t>
            </a:r>
          </a:p>
        </p:txBody>
      </p:sp>
      <p:sp>
        <p:nvSpPr>
          <p:cNvPr id="3" name="Content Placeholder 2">
            <a:extLst>
              <a:ext uri="{FF2B5EF4-FFF2-40B4-BE49-F238E27FC236}">
                <a16:creationId xmlns:a16="http://schemas.microsoft.com/office/drawing/2014/main" id="{E723D5FF-3CCA-41F4-9642-B867467454DA}"/>
              </a:ext>
            </a:extLst>
          </p:cNvPr>
          <p:cNvSpPr>
            <a:spLocks noGrp="1"/>
          </p:cNvSpPr>
          <p:nvPr>
            <p:ph idx="1"/>
          </p:nvPr>
        </p:nvSpPr>
        <p:spPr>
          <a:xfrm>
            <a:off x="0" y="1460938"/>
            <a:ext cx="12192000" cy="5397061"/>
          </a:xfrm>
        </p:spPr>
        <p:txBody>
          <a:bodyPr>
            <a:normAutofit/>
          </a:bodyPr>
          <a:lstStyle/>
          <a:p>
            <a:r>
              <a:rPr lang="en-US" dirty="0"/>
              <a:t>This presentation (2025 MLS projections for CMM 24-06.pptx) is on the BILLWG google drive at: </a:t>
            </a:r>
            <a:r>
              <a:rPr lang="en-US" dirty="0">
                <a:hlinkClick r:id="rId2"/>
              </a:rPr>
              <a:t>https://drive.google.com/drive/folders/1vNBZWGnTDX9_wl-RByhKqA40jsHUOJCy</a:t>
            </a:r>
            <a:r>
              <a:rPr lang="en-US" dirty="0"/>
              <a:t> </a:t>
            </a:r>
          </a:p>
          <a:p>
            <a:pPr marL="0" indent="0">
              <a:buNone/>
            </a:pPr>
            <a:endParaRPr lang="en-US" dirty="0"/>
          </a:p>
          <a:p>
            <a:r>
              <a:rPr lang="en-US" dirty="0"/>
              <a:t>To access the projection analyses, clone or download the GitHub repository:</a:t>
            </a:r>
          </a:p>
          <a:p>
            <a:pPr marL="0" indent="0">
              <a:buNone/>
            </a:pPr>
            <a:r>
              <a:rPr lang="en-US" dirty="0">
                <a:hlinkClick r:id="rId3"/>
              </a:rPr>
              <a:t>https://github.com/PIFSCstockassessments/2024-WCNPO-MLS-Rebuilding</a:t>
            </a:r>
            <a:endParaRPr lang="en-US" dirty="0"/>
          </a:p>
          <a:p>
            <a:pPr marL="0" indent="0">
              <a:buNone/>
            </a:pPr>
            <a:endParaRPr lang="en-US" dirty="0"/>
          </a:p>
          <a:p>
            <a:r>
              <a:rPr lang="en-US" dirty="0"/>
              <a:t>Base case CMM 2024-06 projection results are in the folder:</a:t>
            </a:r>
          </a:p>
          <a:p>
            <a:pPr marL="0" indent="0">
              <a:buNone/>
            </a:pPr>
            <a:r>
              <a:rPr lang="en-US" dirty="0">
                <a:hlinkClick r:id="rId4"/>
              </a:rPr>
              <a:t>https://github.com/PIFSCstockassessments/2024-WCNPO-MLS-Rebuilding/tree/main/2025-MLS-projections/output/Base%20Runs</a:t>
            </a:r>
            <a:r>
              <a:rPr lang="en-US" dirty="0"/>
              <a:t> </a:t>
            </a:r>
          </a:p>
          <a:p>
            <a:endParaRPr lang="en-US" dirty="0"/>
          </a:p>
        </p:txBody>
      </p:sp>
    </p:spTree>
    <p:extLst>
      <p:ext uri="{BB962C8B-B14F-4D97-AF65-F5344CB8AC3E}">
        <p14:creationId xmlns:p14="http://schemas.microsoft.com/office/powerpoint/2010/main" val="359719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838200" y="0"/>
            <a:ext cx="10515600" cy="737811"/>
          </a:xfrm>
        </p:spPr>
        <p:txBody>
          <a:bodyPr>
            <a:normAutofit/>
          </a:bodyPr>
          <a:lstStyle/>
          <a:p>
            <a:pPr algn="ctr"/>
            <a:r>
              <a:rPr lang="en-US" sz="4000" dirty="0"/>
              <a:t>Rebuilding Target</a:t>
            </a:r>
          </a:p>
        </p:txBody>
      </p:sp>
      <p:pic>
        <p:nvPicPr>
          <p:cNvPr id="3" name="Picture 2">
            <a:extLst>
              <a:ext uri="{FF2B5EF4-FFF2-40B4-BE49-F238E27FC236}">
                <a16:creationId xmlns:a16="http://schemas.microsoft.com/office/drawing/2014/main" id="{CA7487DF-7D1F-46DA-A425-22024D7D1A8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3523" y="887637"/>
            <a:ext cx="8785782" cy="5802198"/>
          </a:xfrm>
          <a:prstGeom prst="rect">
            <a:avLst/>
          </a:prstGeom>
          <a:noFill/>
          <a:ln>
            <a:noFill/>
          </a:ln>
        </p:spPr>
      </p:pic>
    </p:spTree>
    <p:extLst>
      <p:ext uri="{BB962C8B-B14F-4D97-AF65-F5344CB8AC3E}">
        <p14:creationId xmlns:p14="http://schemas.microsoft.com/office/powerpoint/2010/main" val="3773540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838200" y="0"/>
            <a:ext cx="10515600" cy="737811"/>
          </a:xfrm>
        </p:spPr>
        <p:txBody>
          <a:bodyPr>
            <a:normAutofit/>
          </a:bodyPr>
          <a:lstStyle/>
          <a:p>
            <a:pPr algn="ctr"/>
            <a:r>
              <a:rPr lang="en-US" sz="4000" dirty="0"/>
              <a:t>Fishing Mortality</a:t>
            </a:r>
          </a:p>
        </p:txBody>
      </p:sp>
      <p:pic>
        <p:nvPicPr>
          <p:cNvPr id="3" name="Picture 2">
            <a:extLst>
              <a:ext uri="{FF2B5EF4-FFF2-40B4-BE49-F238E27FC236}">
                <a16:creationId xmlns:a16="http://schemas.microsoft.com/office/drawing/2014/main" id="{96C81780-C6B2-4F8D-9BA2-CBD78411A72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0457" y="933254"/>
            <a:ext cx="8182465" cy="5924746"/>
          </a:xfrm>
          <a:prstGeom prst="rect">
            <a:avLst/>
          </a:prstGeom>
          <a:noFill/>
          <a:ln>
            <a:noFill/>
          </a:ln>
        </p:spPr>
      </p:pic>
    </p:spTree>
    <p:extLst>
      <p:ext uri="{BB962C8B-B14F-4D97-AF65-F5344CB8AC3E}">
        <p14:creationId xmlns:p14="http://schemas.microsoft.com/office/powerpoint/2010/main" val="2164088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199697" y="0"/>
            <a:ext cx="11771586" cy="737811"/>
          </a:xfrm>
        </p:spPr>
        <p:txBody>
          <a:bodyPr>
            <a:normAutofit fontScale="90000"/>
          </a:bodyPr>
          <a:lstStyle/>
          <a:p>
            <a:pPr algn="ctr"/>
            <a:r>
              <a:rPr lang="en-US" sz="4000" dirty="0"/>
              <a:t>Long-Term Stock-Recruitment Curve from 2023 Assessment</a:t>
            </a:r>
          </a:p>
        </p:txBody>
      </p:sp>
      <p:pic>
        <p:nvPicPr>
          <p:cNvPr id="3" name="Picture 2">
            <a:extLst>
              <a:ext uri="{FF2B5EF4-FFF2-40B4-BE49-F238E27FC236}">
                <a16:creationId xmlns:a16="http://schemas.microsoft.com/office/drawing/2014/main" id="{AEC51A9B-63E9-4D5E-9498-324C646663C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1093" y="923828"/>
            <a:ext cx="8210746" cy="5934172"/>
          </a:xfrm>
          <a:prstGeom prst="rect">
            <a:avLst/>
          </a:prstGeom>
          <a:noFill/>
          <a:ln>
            <a:noFill/>
          </a:ln>
        </p:spPr>
      </p:pic>
    </p:spTree>
    <p:extLst>
      <p:ext uri="{BB962C8B-B14F-4D97-AF65-F5344CB8AC3E}">
        <p14:creationId xmlns:p14="http://schemas.microsoft.com/office/powerpoint/2010/main" val="2961916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838200" y="0"/>
            <a:ext cx="10515600" cy="737811"/>
          </a:xfrm>
        </p:spPr>
        <p:txBody>
          <a:bodyPr>
            <a:normAutofit fontScale="90000"/>
          </a:bodyPr>
          <a:lstStyle/>
          <a:p>
            <a:pPr algn="ctr"/>
            <a:r>
              <a:rPr lang="en-US" sz="4000" dirty="0"/>
              <a:t>Stock-Recruitment Relationship from 2023 Assessment</a:t>
            </a:r>
          </a:p>
        </p:txBody>
      </p:sp>
      <p:pic>
        <p:nvPicPr>
          <p:cNvPr id="3" name="Picture 2">
            <a:extLst>
              <a:ext uri="{FF2B5EF4-FFF2-40B4-BE49-F238E27FC236}">
                <a16:creationId xmlns:a16="http://schemas.microsoft.com/office/drawing/2014/main" id="{AEC51A9B-63E9-4D5E-9498-324C646663C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1093" y="923828"/>
            <a:ext cx="8210746" cy="5934172"/>
          </a:xfrm>
          <a:prstGeom prst="rect">
            <a:avLst/>
          </a:prstGeom>
          <a:noFill/>
          <a:ln>
            <a:noFill/>
          </a:ln>
        </p:spPr>
      </p:pic>
    </p:spTree>
    <p:extLst>
      <p:ext uri="{BB962C8B-B14F-4D97-AF65-F5344CB8AC3E}">
        <p14:creationId xmlns:p14="http://schemas.microsoft.com/office/powerpoint/2010/main" val="980148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415600" y="162442"/>
            <a:ext cx="11360800" cy="763600"/>
          </a:xfrm>
          <a:prstGeom prst="rect">
            <a:avLst/>
          </a:prstGeom>
        </p:spPr>
        <p:txBody>
          <a:bodyPr spcFirstLastPara="1" vert="horz" wrap="square" lIns="121900" tIns="121900" rIns="121900" bIns="121900" rtlCol="0" anchor="t" anchorCtr="0">
            <a:normAutofit/>
          </a:bodyPr>
          <a:lstStyle/>
          <a:p>
            <a:pPr algn="ctr"/>
            <a:r>
              <a:rPr lang="en" sz="3200" dirty="0"/>
              <a:t>CMM 2024-06 Revision to CMM 2010-01 for WCNPO Striped Marlin</a:t>
            </a:r>
            <a:endParaRPr sz="3200" dirty="0"/>
          </a:p>
        </p:txBody>
      </p:sp>
      <p:sp>
        <p:nvSpPr>
          <p:cNvPr id="55" name="Google Shape;55;p13"/>
          <p:cNvSpPr txBox="1">
            <a:spLocks noGrp="1"/>
          </p:cNvSpPr>
          <p:nvPr>
            <p:ph type="body" idx="1"/>
          </p:nvPr>
        </p:nvSpPr>
        <p:spPr>
          <a:xfrm>
            <a:off x="0" y="926041"/>
            <a:ext cx="7837715" cy="5931959"/>
          </a:xfrm>
          <a:prstGeom prst="rect">
            <a:avLst/>
          </a:prstGeom>
        </p:spPr>
        <p:txBody>
          <a:bodyPr spcFirstLastPara="1" vert="horz" wrap="square" lIns="121900" tIns="121900" rIns="121900" bIns="121900" rtlCol="0" anchor="t" anchorCtr="0">
            <a:normAutofit fontScale="92500" lnSpcReduction="20000"/>
          </a:bodyPr>
          <a:lstStyle/>
          <a:p>
            <a:pPr indent="-445758">
              <a:buSzPct val="100000"/>
            </a:pPr>
            <a:r>
              <a:rPr lang="en" dirty="0"/>
              <a:t>Total catch limit of 2400 mt</a:t>
            </a:r>
          </a:p>
          <a:p>
            <a:pPr marL="163827" indent="0">
              <a:buSzPct val="100000"/>
              <a:buNone/>
            </a:pPr>
            <a:endParaRPr dirty="0"/>
          </a:p>
          <a:p>
            <a:pPr indent="-445758">
              <a:buSzPct val="100000"/>
            </a:pPr>
            <a:r>
              <a:rPr lang="en" dirty="0"/>
              <a:t>In 2025-2027, each country can take up to 165 mt of additional catch to their individual limit if the catch limit in 2023-2025 is not reached</a:t>
            </a:r>
            <a:endParaRPr dirty="0"/>
          </a:p>
          <a:p>
            <a:pPr lvl="1" indent="-414432">
              <a:buSzPct val="100000"/>
            </a:pPr>
            <a:r>
              <a:rPr lang="en" dirty="0"/>
              <a:t>In 2023 there was an underage of 826 mt therefore countries are allowed to increase their limit by 165 mt in 2025</a:t>
            </a:r>
            <a:endParaRPr dirty="0"/>
          </a:p>
          <a:p>
            <a:pPr lvl="1" indent="-414432">
              <a:buSzPct val="100000"/>
            </a:pPr>
            <a:r>
              <a:rPr lang="en" dirty="0"/>
              <a:t>Any underage in 2024 can be applied to 2026, and 2025 to 2027</a:t>
            </a:r>
          </a:p>
          <a:p>
            <a:pPr lvl="1" indent="-414432">
              <a:buSzPct val="100000"/>
            </a:pPr>
            <a:endParaRPr dirty="0"/>
          </a:p>
          <a:p>
            <a:pPr indent="-445758">
              <a:buSzPct val="100000"/>
            </a:pPr>
            <a:r>
              <a:rPr lang="en" dirty="0"/>
              <a:t>No country is allowed to increase their catch by more than 165 mt</a:t>
            </a:r>
          </a:p>
          <a:p>
            <a:pPr indent="-445758">
              <a:buSzPct val="100000"/>
            </a:pPr>
            <a:endParaRPr dirty="0"/>
          </a:p>
          <a:p>
            <a:pPr indent="-445758">
              <a:buSzPct val="100000"/>
            </a:pPr>
            <a:r>
              <a:rPr lang="en" dirty="0"/>
              <a:t>If underage is less </a:t>
            </a:r>
            <a:r>
              <a:rPr lang="en"/>
              <a:t>than 826 </a:t>
            </a:r>
            <a:r>
              <a:rPr lang="en" dirty="0"/>
              <a:t>mt, then there will be decisions made about who gets that extra catch </a:t>
            </a:r>
          </a:p>
          <a:p>
            <a:pPr indent="-445758">
              <a:buSzPct val="100000"/>
            </a:pPr>
            <a:endParaRPr lang="en" dirty="0"/>
          </a:p>
          <a:p>
            <a:pPr indent="-445758">
              <a:buSzPct val="100000"/>
            </a:pPr>
            <a:r>
              <a:rPr lang="en" dirty="0"/>
              <a:t>Overage for each country is subtracted from their next year’s individual limit</a:t>
            </a:r>
          </a:p>
          <a:p>
            <a:pPr indent="-445758">
              <a:buSzPct val="100000"/>
            </a:pPr>
            <a:endParaRPr lang="en" dirty="0"/>
          </a:p>
          <a:p>
            <a:pPr indent="-445758">
              <a:buSzPct val="100000"/>
            </a:pPr>
            <a:r>
              <a:rPr lang="en" dirty="0">
                <a:hlinkClick r:id="rId3"/>
              </a:rPr>
              <a:t>Link to CMM 2024-06</a:t>
            </a:r>
            <a:endParaRPr dirty="0"/>
          </a:p>
        </p:txBody>
      </p:sp>
      <p:graphicFrame>
        <p:nvGraphicFramePr>
          <p:cNvPr id="56" name="Google Shape;56;p13"/>
          <p:cNvGraphicFramePr/>
          <p:nvPr>
            <p:extLst>
              <p:ext uri="{D42A27DB-BD31-4B8C-83A1-F6EECF244321}">
                <p14:modId xmlns:p14="http://schemas.microsoft.com/office/powerpoint/2010/main" val="587331159"/>
              </p:ext>
            </p:extLst>
          </p:nvPr>
        </p:nvGraphicFramePr>
        <p:xfrm>
          <a:off x="8098400" y="931002"/>
          <a:ext cx="3678000" cy="5608000"/>
        </p:xfrm>
        <a:graphic>
          <a:graphicData uri="http://schemas.openxmlformats.org/drawingml/2006/table">
            <a:tbl>
              <a:tblPr>
                <a:noFill/>
              </a:tblPr>
              <a:tblGrid>
                <a:gridCol w="1839000">
                  <a:extLst>
                    <a:ext uri="{9D8B030D-6E8A-4147-A177-3AD203B41FA5}">
                      <a16:colId xmlns:a16="http://schemas.microsoft.com/office/drawing/2014/main" val="20000"/>
                    </a:ext>
                  </a:extLst>
                </a:gridCol>
                <a:gridCol w="1839000">
                  <a:extLst>
                    <a:ext uri="{9D8B030D-6E8A-4147-A177-3AD203B41FA5}">
                      <a16:colId xmlns:a16="http://schemas.microsoft.com/office/drawing/2014/main" val="20001"/>
                    </a:ext>
                  </a:extLst>
                </a:gridCol>
              </a:tblGrid>
              <a:tr h="609560">
                <a:tc>
                  <a:txBody>
                    <a:bodyPr/>
                    <a:lstStyle/>
                    <a:p>
                      <a:pPr marL="0" lvl="0" indent="0" algn="l" rtl="0">
                        <a:spcBef>
                          <a:spcPts val="0"/>
                        </a:spcBef>
                        <a:spcAft>
                          <a:spcPts val="0"/>
                        </a:spcAft>
                        <a:buNone/>
                      </a:pPr>
                      <a:r>
                        <a:rPr lang="en" sz="2400" b="1" dirty="0"/>
                        <a:t>Country</a:t>
                      </a:r>
                      <a:endParaRPr sz="2400" b="1" dirty="0"/>
                    </a:p>
                  </a:txBody>
                  <a:tcPr marL="121900" marR="121900" marT="121900" marB="121900"/>
                </a:tc>
                <a:tc>
                  <a:txBody>
                    <a:bodyPr/>
                    <a:lstStyle/>
                    <a:p>
                      <a:pPr marL="0" lvl="0" indent="0" algn="ctr" rtl="0">
                        <a:spcBef>
                          <a:spcPts val="0"/>
                        </a:spcBef>
                        <a:spcAft>
                          <a:spcPts val="0"/>
                        </a:spcAft>
                        <a:buNone/>
                      </a:pPr>
                      <a:r>
                        <a:rPr lang="en" sz="2400" b="1" dirty="0"/>
                        <a:t>Catch Limit</a:t>
                      </a:r>
                      <a:endParaRPr sz="2400" b="1" dirty="0"/>
                    </a:p>
                  </a:txBody>
                  <a:tcPr marL="121900" marR="121900" marT="121900" marB="121900"/>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r" rtl="0">
                        <a:spcBef>
                          <a:spcPts val="0"/>
                        </a:spcBef>
                        <a:spcAft>
                          <a:spcPts val="0"/>
                        </a:spcAft>
                        <a:buNone/>
                      </a:pPr>
                      <a:r>
                        <a:rPr lang="en" sz="2400"/>
                        <a:t>1454.4mt</a:t>
                      </a:r>
                      <a:endParaRPr sz="2400"/>
                    </a:p>
                  </a:txBody>
                  <a:tcPr marL="121900" marR="121900" marT="121900" marB="121900"/>
                </a:tc>
                <a:extLst>
                  <a:ext uri="{0D108BD9-81ED-4DB2-BD59-A6C34878D82A}">
                    <a16:rowId xmlns:a16="http://schemas.microsoft.com/office/drawing/2014/main" val="10001"/>
                  </a:ext>
                </a:extLst>
              </a:tr>
              <a:tr h="975320">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r" rtl="0">
                        <a:spcBef>
                          <a:spcPts val="0"/>
                        </a:spcBef>
                        <a:spcAft>
                          <a:spcPts val="0"/>
                        </a:spcAft>
                        <a:buNone/>
                      </a:pPr>
                      <a:r>
                        <a:rPr lang="en" sz="2400"/>
                        <a:t>358.4mt</a:t>
                      </a:r>
                      <a:endParaRPr sz="2400"/>
                    </a:p>
                  </a:txBody>
                  <a:tcPr marL="121900" marR="121900" marT="121900" marB="121900"/>
                </a:tc>
                <a:extLst>
                  <a:ext uri="{0D108BD9-81ED-4DB2-BD59-A6C34878D82A}">
                    <a16:rowId xmlns:a16="http://schemas.microsoft.com/office/drawing/2014/main" val="10002"/>
                  </a:ext>
                </a:extLst>
              </a:tr>
              <a:tr h="609560">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r" rtl="0">
                        <a:spcBef>
                          <a:spcPts val="0"/>
                        </a:spcBef>
                        <a:spcAft>
                          <a:spcPts val="0"/>
                        </a:spcAft>
                        <a:buNone/>
                      </a:pPr>
                      <a:r>
                        <a:rPr lang="en" sz="2400"/>
                        <a:t>214.8mt</a:t>
                      </a:r>
                      <a:endParaRPr sz="2400"/>
                    </a:p>
                  </a:txBody>
                  <a:tcPr marL="121900" marR="121900" marT="121900" marB="121900"/>
                </a:tc>
                <a:extLst>
                  <a:ext uri="{0D108BD9-81ED-4DB2-BD59-A6C34878D82A}">
                    <a16:rowId xmlns:a16="http://schemas.microsoft.com/office/drawing/2014/main" val="10003"/>
                  </a:ext>
                </a:extLst>
              </a:tr>
              <a:tr h="975320">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r" rtl="0">
                        <a:spcBef>
                          <a:spcPts val="0"/>
                        </a:spcBef>
                        <a:spcAft>
                          <a:spcPts val="0"/>
                        </a:spcAft>
                        <a:buNone/>
                      </a:pPr>
                      <a:r>
                        <a:rPr lang="en" sz="2400"/>
                        <a:t>228.4mt</a:t>
                      </a:r>
                      <a:endParaRPr sz="2400"/>
                    </a:p>
                  </a:txBody>
                  <a:tcPr marL="121900" marR="121900" marT="121900" marB="121900"/>
                </a:tc>
                <a:extLst>
                  <a:ext uri="{0D108BD9-81ED-4DB2-BD59-A6C34878D82A}">
                    <a16:rowId xmlns:a16="http://schemas.microsoft.com/office/drawing/2014/main" val="10004"/>
                  </a:ext>
                </a:extLst>
              </a:tr>
              <a:tr h="60956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r" rtl="0">
                        <a:spcBef>
                          <a:spcPts val="0"/>
                        </a:spcBef>
                        <a:spcAft>
                          <a:spcPts val="0"/>
                        </a:spcAft>
                        <a:buNone/>
                      </a:pPr>
                      <a:r>
                        <a:rPr lang="en" sz="2400"/>
                        <a:t>68.8 mt</a:t>
                      </a:r>
                      <a:endParaRPr sz="2400"/>
                    </a:p>
                  </a:txBody>
                  <a:tcPr marL="121900" marR="121900" marT="121900" marB="121900"/>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r" rtl="0">
                        <a:spcBef>
                          <a:spcPts val="0"/>
                        </a:spcBef>
                        <a:spcAft>
                          <a:spcPts val="0"/>
                        </a:spcAft>
                        <a:buNone/>
                      </a:pPr>
                      <a:r>
                        <a:rPr lang="en" sz="2400"/>
                        <a:t>75.2 mt</a:t>
                      </a:r>
                      <a:endParaRPr sz="2400"/>
                    </a:p>
                  </a:txBody>
                  <a:tcPr marL="121900" marR="121900" marT="121900" marB="121900"/>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r" rtl="0">
                        <a:spcBef>
                          <a:spcPts val="0"/>
                        </a:spcBef>
                        <a:spcAft>
                          <a:spcPts val="0"/>
                        </a:spcAft>
                        <a:buNone/>
                      </a:pPr>
                      <a:r>
                        <a:rPr lang="en" sz="2400" b="1" dirty="0"/>
                        <a:t>2400 mt</a:t>
                      </a:r>
                      <a:endParaRPr sz="2400" b="1" dirty="0"/>
                    </a:p>
                  </a:txBody>
                  <a:tcPr marL="121900" marR="121900" marT="121900" marB="121900"/>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415600" y="0"/>
            <a:ext cx="11360800" cy="763600"/>
          </a:xfrm>
          <a:prstGeom prst="rect">
            <a:avLst/>
          </a:prstGeom>
        </p:spPr>
        <p:txBody>
          <a:bodyPr spcFirstLastPara="1" vert="horz" wrap="square" lIns="121900" tIns="121900" rIns="121900" bIns="121900" rtlCol="0" anchor="t" anchorCtr="0">
            <a:normAutofit/>
          </a:bodyPr>
          <a:lstStyle/>
          <a:p>
            <a:pPr algn="ctr"/>
            <a:r>
              <a:rPr lang="en" sz="3200" b="1" dirty="0"/>
              <a:t>Scenario 1</a:t>
            </a:r>
            <a:r>
              <a:rPr lang="en" sz="3200" dirty="0"/>
              <a:t>. Baseline CMM 2024-06 Catch Limits at 2,400 mt</a:t>
            </a:r>
            <a:endParaRPr sz="3200" dirty="0"/>
          </a:p>
        </p:txBody>
      </p:sp>
      <p:graphicFrame>
        <p:nvGraphicFramePr>
          <p:cNvPr id="62" name="Google Shape;62;p14"/>
          <p:cNvGraphicFramePr/>
          <p:nvPr>
            <p:extLst>
              <p:ext uri="{D42A27DB-BD31-4B8C-83A1-F6EECF244321}">
                <p14:modId xmlns:p14="http://schemas.microsoft.com/office/powerpoint/2010/main" val="3814249860"/>
              </p:ext>
            </p:extLst>
          </p:nvPr>
        </p:nvGraphicFramePr>
        <p:xfrm>
          <a:off x="1665534" y="763600"/>
          <a:ext cx="8860932" cy="4876480"/>
        </p:xfrm>
        <a:graphic>
          <a:graphicData uri="http://schemas.openxmlformats.org/drawingml/2006/table">
            <a:tbl>
              <a:tblPr>
                <a:noFill/>
              </a:tblPr>
              <a:tblGrid>
                <a:gridCol w="2215233">
                  <a:extLst>
                    <a:ext uri="{9D8B030D-6E8A-4147-A177-3AD203B41FA5}">
                      <a16:colId xmlns:a16="http://schemas.microsoft.com/office/drawing/2014/main" val="20000"/>
                    </a:ext>
                  </a:extLst>
                </a:gridCol>
                <a:gridCol w="2215233">
                  <a:extLst>
                    <a:ext uri="{9D8B030D-6E8A-4147-A177-3AD203B41FA5}">
                      <a16:colId xmlns:a16="http://schemas.microsoft.com/office/drawing/2014/main" val="20001"/>
                    </a:ext>
                  </a:extLst>
                </a:gridCol>
                <a:gridCol w="2215233">
                  <a:extLst>
                    <a:ext uri="{9D8B030D-6E8A-4147-A177-3AD203B41FA5}">
                      <a16:colId xmlns:a16="http://schemas.microsoft.com/office/drawing/2014/main" val="20002"/>
                    </a:ext>
                  </a:extLst>
                </a:gridCol>
                <a:gridCol w="2215233">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ctr" rtl="0">
                        <a:spcBef>
                          <a:spcPts val="0"/>
                        </a:spcBef>
                        <a:spcAft>
                          <a:spcPts val="0"/>
                        </a:spcAft>
                        <a:buNone/>
                      </a:pPr>
                      <a:r>
                        <a:rPr lang="en" sz="2400" b="1" dirty="0"/>
                        <a:t>2025</a:t>
                      </a:r>
                      <a:endParaRPr sz="2400" b="1" dirty="0"/>
                    </a:p>
                  </a:txBody>
                  <a:tcPr marL="121900" marR="121900" marT="121900" marB="121900"/>
                </a:tc>
                <a:tc>
                  <a:txBody>
                    <a:bodyPr/>
                    <a:lstStyle/>
                    <a:p>
                      <a:pPr marL="0" lvl="0" indent="0" algn="ctr"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2400" b="1" dirty="0"/>
                        <a:t>2027</a:t>
                      </a:r>
                      <a:endParaRPr sz="2400" b="1" dirty="0"/>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r" rtl="0">
                        <a:spcBef>
                          <a:spcPts val="0"/>
                        </a:spcBef>
                        <a:spcAft>
                          <a:spcPts val="0"/>
                        </a:spcAft>
                        <a:buNone/>
                      </a:pPr>
                      <a:r>
                        <a:rPr lang="en" sz="2400" dirty="0"/>
                        <a:t>1454.4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09560">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r" rtl="0">
                        <a:spcBef>
                          <a:spcPts val="0"/>
                        </a:spcBef>
                        <a:spcAft>
                          <a:spcPts val="0"/>
                        </a:spcAft>
                        <a:buNone/>
                      </a:pPr>
                      <a:r>
                        <a:rPr lang="en" sz="2400" dirty="0"/>
                        <a:t>358.4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609560">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r" rtl="0">
                        <a:spcBef>
                          <a:spcPts val="0"/>
                        </a:spcBef>
                        <a:spcAft>
                          <a:spcPts val="0"/>
                        </a:spcAft>
                        <a:buNone/>
                      </a:pPr>
                      <a:r>
                        <a:rPr lang="en" sz="2400" dirty="0"/>
                        <a:t>214.8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09560">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r" rtl="0">
                        <a:spcBef>
                          <a:spcPts val="0"/>
                        </a:spcBef>
                        <a:spcAft>
                          <a:spcPts val="0"/>
                        </a:spcAft>
                        <a:buNone/>
                      </a:pPr>
                      <a:r>
                        <a:rPr lang="en" sz="2400" dirty="0"/>
                        <a:t>228.4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60956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r" rtl="0">
                        <a:spcBef>
                          <a:spcPts val="0"/>
                        </a:spcBef>
                        <a:spcAft>
                          <a:spcPts val="0"/>
                        </a:spcAft>
                        <a:buNone/>
                      </a:pPr>
                      <a:r>
                        <a:rPr lang="en" sz="2400"/>
                        <a:t>68.8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r"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r" rtl="0">
                        <a:spcBef>
                          <a:spcPts val="0"/>
                        </a:spcBef>
                        <a:spcAft>
                          <a:spcPts val="0"/>
                        </a:spcAft>
                        <a:buNone/>
                      </a:pPr>
                      <a:r>
                        <a:rPr lang="en" sz="2400" b="1"/>
                        <a:t>2400 mt</a:t>
                      </a:r>
                      <a:endParaRPr sz="2400" b="1"/>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b="1"/>
                        <a:t>2400 mt</a:t>
                      </a:r>
                      <a:endParaRPr sz="2400" b="1"/>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63" name="Google Shape;63;p14"/>
          <p:cNvSpPr txBox="1"/>
          <p:nvPr/>
        </p:nvSpPr>
        <p:spPr>
          <a:xfrm>
            <a:off x="108401" y="5640080"/>
            <a:ext cx="10418065" cy="1217920"/>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0" y="178675"/>
            <a:ext cx="12192000" cy="763600"/>
          </a:xfrm>
          <a:prstGeom prst="rect">
            <a:avLst/>
          </a:prstGeom>
        </p:spPr>
        <p:txBody>
          <a:bodyPr spcFirstLastPara="1" vert="horz" wrap="square" lIns="121900" tIns="121900" rIns="121900" bIns="121900" rtlCol="0" anchor="t" anchorCtr="0">
            <a:normAutofit/>
          </a:bodyPr>
          <a:lstStyle/>
          <a:p>
            <a:pPr algn="ctr"/>
            <a:r>
              <a:rPr lang="en" sz="3200" b="1" dirty="0"/>
              <a:t>Scenario 2</a:t>
            </a:r>
            <a:r>
              <a:rPr lang="en" sz="3200" dirty="0"/>
              <a:t>. CMM 2024-06 Catch Limits with 2025 Carryover Catch</a:t>
            </a:r>
            <a:endParaRPr sz="3200" dirty="0"/>
          </a:p>
        </p:txBody>
      </p:sp>
      <p:graphicFrame>
        <p:nvGraphicFramePr>
          <p:cNvPr id="69" name="Google Shape;69;p15"/>
          <p:cNvGraphicFramePr/>
          <p:nvPr>
            <p:extLst>
              <p:ext uri="{D42A27DB-BD31-4B8C-83A1-F6EECF244321}">
                <p14:modId xmlns:p14="http://schemas.microsoft.com/office/powerpoint/2010/main" val="1245288719"/>
              </p:ext>
            </p:extLst>
          </p:nvPr>
        </p:nvGraphicFramePr>
        <p:xfrm>
          <a:off x="1519487" y="1308926"/>
          <a:ext cx="8549423" cy="4876480"/>
        </p:xfrm>
        <a:graphic>
          <a:graphicData uri="http://schemas.openxmlformats.org/drawingml/2006/table">
            <a:tbl>
              <a:tblPr>
                <a:noFill/>
              </a:tblPr>
              <a:tblGrid>
                <a:gridCol w="2215233">
                  <a:extLst>
                    <a:ext uri="{9D8B030D-6E8A-4147-A177-3AD203B41FA5}">
                      <a16:colId xmlns:a16="http://schemas.microsoft.com/office/drawing/2014/main" val="20000"/>
                    </a:ext>
                  </a:extLst>
                </a:gridCol>
                <a:gridCol w="2802715">
                  <a:extLst>
                    <a:ext uri="{9D8B030D-6E8A-4147-A177-3AD203B41FA5}">
                      <a16:colId xmlns:a16="http://schemas.microsoft.com/office/drawing/2014/main" val="20001"/>
                    </a:ext>
                  </a:extLst>
                </a:gridCol>
                <a:gridCol w="1755227">
                  <a:extLst>
                    <a:ext uri="{9D8B030D-6E8A-4147-A177-3AD203B41FA5}">
                      <a16:colId xmlns:a16="http://schemas.microsoft.com/office/drawing/2014/main" val="20002"/>
                    </a:ext>
                  </a:extLst>
                </a:gridCol>
                <a:gridCol w="1776248">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ctr" rtl="0">
                        <a:spcBef>
                          <a:spcPts val="0"/>
                        </a:spcBef>
                        <a:spcAft>
                          <a:spcPts val="0"/>
                        </a:spcAft>
                        <a:buNone/>
                      </a:pPr>
                      <a:r>
                        <a:rPr lang="en" sz="2400" b="1"/>
                        <a:t>2025</a:t>
                      </a:r>
                      <a:endParaRPr sz="2400" b="1"/>
                    </a:p>
                  </a:txBody>
                  <a:tcPr marL="121900" marR="121900" marT="121900" marB="121900"/>
                </a:tc>
                <a:tc>
                  <a:txBody>
                    <a:bodyPr/>
                    <a:lstStyle/>
                    <a:p>
                      <a:pPr marL="0" lvl="0" indent="0" algn="ctr" rtl="0">
                        <a:spcBef>
                          <a:spcPts val="0"/>
                        </a:spcBef>
                        <a:spcAft>
                          <a:spcPts val="0"/>
                        </a:spcAft>
                        <a:buNone/>
                      </a:pPr>
                      <a:r>
                        <a:rPr lang="en" sz="2400" b="1" dirty="0"/>
                        <a:t>2026</a:t>
                      </a:r>
                      <a:endParaRPr sz="2400" b="1" dirty="0"/>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2400" b="1" dirty="0"/>
                        <a:t>2027</a:t>
                      </a:r>
                      <a:endParaRPr sz="2400" b="1" dirty="0"/>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82976">
                <a:tc>
                  <a:txBody>
                    <a:bodyPr/>
                    <a:lstStyle/>
                    <a:p>
                      <a:pPr marL="0" lvl="0" indent="0" algn="l" rtl="0">
                        <a:spcBef>
                          <a:spcPts val="0"/>
                        </a:spcBef>
                        <a:spcAft>
                          <a:spcPts val="0"/>
                        </a:spcAft>
                        <a:buNone/>
                      </a:pPr>
                      <a:r>
                        <a:rPr lang="en" sz="2400" dirty="0"/>
                        <a:t>Japan</a:t>
                      </a:r>
                      <a:endParaRPr sz="2400" dirty="0"/>
                    </a:p>
                  </a:txBody>
                  <a:tcPr marL="121900" marR="121900" marT="121900" marB="121900"/>
                </a:tc>
                <a:tc>
                  <a:txBody>
                    <a:bodyPr/>
                    <a:lstStyle/>
                    <a:p>
                      <a:pPr marL="0" lvl="0" indent="0" algn="r" rtl="0">
                        <a:spcBef>
                          <a:spcPts val="0"/>
                        </a:spcBef>
                        <a:spcAft>
                          <a:spcPts val="0"/>
                        </a:spcAft>
                        <a:buNone/>
                      </a:pPr>
                      <a:r>
                        <a:rPr lang="en" sz="2400" dirty="0"/>
                        <a:t>1454.4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72506">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r" rtl="0">
                        <a:spcBef>
                          <a:spcPts val="0"/>
                        </a:spcBef>
                        <a:spcAft>
                          <a:spcPts val="0"/>
                        </a:spcAft>
                        <a:buNone/>
                      </a:pPr>
                      <a:r>
                        <a:rPr lang="en" sz="2400"/>
                        <a:t>358.4mt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93567">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r" rtl="0">
                        <a:spcBef>
                          <a:spcPts val="0"/>
                        </a:spcBef>
                        <a:spcAft>
                          <a:spcPts val="0"/>
                        </a:spcAft>
                        <a:buNone/>
                      </a:pPr>
                      <a:r>
                        <a:rPr lang="en" sz="2400"/>
                        <a:t>214.8mt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04117">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r" rtl="0">
                        <a:spcBef>
                          <a:spcPts val="0"/>
                        </a:spcBef>
                        <a:spcAft>
                          <a:spcPts val="0"/>
                        </a:spcAft>
                        <a:buNone/>
                      </a:pPr>
                      <a:r>
                        <a:rPr lang="en" sz="2400"/>
                        <a:t>228.4mt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83136">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r" rtl="0">
                        <a:spcBef>
                          <a:spcPts val="0"/>
                        </a:spcBef>
                        <a:spcAft>
                          <a:spcPts val="0"/>
                        </a:spcAft>
                        <a:buNone/>
                      </a:pPr>
                      <a:r>
                        <a:rPr lang="en" sz="2400"/>
                        <a:t>68.8 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r"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r" rtl="0">
                        <a:spcBef>
                          <a:spcPts val="0"/>
                        </a:spcBef>
                        <a:spcAft>
                          <a:spcPts val="0"/>
                        </a:spcAft>
                        <a:buNone/>
                      </a:pPr>
                      <a:r>
                        <a:rPr lang="en" sz="2400" b="1" dirty="0"/>
                        <a:t>3225 mt</a:t>
                      </a:r>
                      <a:endParaRPr sz="2400" b="1"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0" y="147767"/>
            <a:ext cx="12192000" cy="763600"/>
          </a:xfrm>
          <a:prstGeom prst="rect">
            <a:avLst/>
          </a:prstGeom>
        </p:spPr>
        <p:txBody>
          <a:bodyPr spcFirstLastPara="1" vert="horz" wrap="square" lIns="121900" tIns="121900" rIns="121900" bIns="121900" rtlCol="0" anchor="t" anchorCtr="0">
            <a:noAutofit/>
          </a:bodyPr>
          <a:lstStyle/>
          <a:p>
            <a:pPr algn="ctr">
              <a:buSzPts val="990"/>
            </a:pPr>
            <a:r>
              <a:rPr lang="en" sz="3200" b="1" dirty="0"/>
              <a:t>Scenario 3</a:t>
            </a:r>
            <a:r>
              <a:rPr lang="en" sz="3200" dirty="0"/>
              <a:t>. CMM 2024-06 Catch Limits with 2025-2026 Carryover Catch</a:t>
            </a:r>
            <a:endParaRPr sz="3200" dirty="0"/>
          </a:p>
        </p:txBody>
      </p:sp>
      <p:graphicFrame>
        <p:nvGraphicFramePr>
          <p:cNvPr id="76" name="Google Shape;76;p16"/>
          <p:cNvGraphicFramePr/>
          <p:nvPr>
            <p:extLst>
              <p:ext uri="{D42A27DB-BD31-4B8C-83A1-F6EECF244321}">
                <p14:modId xmlns:p14="http://schemas.microsoft.com/office/powerpoint/2010/main" val="2474463538"/>
              </p:ext>
            </p:extLst>
          </p:nvPr>
        </p:nvGraphicFramePr>
        <p:xfrm>
          <a:off x="1248473" y="1256458"/>
          <a:ext cx="9695053" cy="4876480"/>
        </p:xfrm>
        <a:graphic>
          <a:graphicData uri="http://schemas.openxmlformats.org/drawingml/2006/table">
            <a:tbl>
              <a:tblPr>
                <a:noFill/>
              </a:tblPr>
              <a:tblGrid>
                <a:gridCol w="2423763">
                  <a:extLst>
                    <a:ext uri="{9D8B030D-6E8A-4147-A177-3AD203B41FA5}">
                      <a16:colId xmlns:a16="http://schemas.microsoft.com/office/drawing/2014/main" val="20000"/>
                    </a:ext>
                  </a:extLst>
                </a:gridCol>
                <a:gridCol w="2875709">
                  <a:extLst>
                    <a:ext uri="{9D8B030D-6E8A-4147-A177-3AD203B41FA5}">
                      <a16:colId xmlns:a16="http://schemas.microsoft.com/office/drawing/2014/main" val="20001"/>
                    </a:ext>
                  </a:extLst>
                </a:gridCol>
                <a:gridCol w="2713926">
                  <a:extLst>
                    <a:ext uri="{9D8B030D-6E8A-4147-A177-3AD203B41FA5}">
                      <a16:colId xmlns:a16="http://schemas.microsoft.com/office/drawing/2014/main" val="20002"/>
                    </a:ext>
                  </a:extLst>
                </a:gridCol>
                <a:gridCol w="1681655">
                  <a:extLst>
                    <a:ext uri="{9D8B030D-6E8A-4147-A177-3AD203B41FA5}">
                      <a16:colId xmlns:a16="http://schemas.microsoft.com/office/drawing/2014/main" val="20003"/>
                    </a:ext>
                  </a:extLst>
                </a:gridCol>
              </a:tblGrid>
              <a:tr h="607648">
                <a:tc>
                  <a:txBody>
                    <a:bodyPr/>
                    <a:lstStyle/>
                    <a:p>
                      <a:pPr marL="0" lvl="0" indent="0" algn="l" rtl="0">
                        <a:spcBef>
                          <a:spcPts val="0"/>
                        </a:spcBef>
                        <a:spcAft>
                          <a:spcPts val="0"/>
                        </a:spcAft>
                        <a:buNone/>
                      </a:pPr>
                      <a:r>
                        <a:rPr lang="en" sz="2400" b="1" dirty="0"/>
                        <a:t>Country</a:t>
                      </a:r>
                      <a:endParaRPr sz="2400" b="1" dirty="0"/>
                    </a:p>
                  </a:txBody>
                  <a:tcPr marL="121900" marR="121900" marT="121900" marB="121900"/>
                </a:tc>
                <a:tc>
                  <a:txBody>
                    <a:bodyPr/>
                    <a:lstStyle/>
                    <a:p>
                      <a:pPr marL="0" lvl="0" indent="0" algn="ctr" rtl="0">
                        <a:spcBef>
                          <a:spcPts val="0"/>
                        </a:spcBef>
                        <a:spcAft>
                          <a:spcPts val="0"/>
                        </a:spcAft>
                        <a:buNone/>
                      </a:pPr>
                      <a:r>
                        <a:rPr lang="en" sz="2400" b="1"/>
                        <a:t>2025</a:t>
                      </a:r>
                      <a:endParaRPr sz="2400" b="1"/>
                    </a:p>
                  </a:txBody>
                  <a:tcPr marL="121900" marR="121900" marT="121900" marB="121900"/>
                </a:tc>
                <a:tc>
                  <a:txBody>
                    <a:bodyPr/>
                    <a:lstStyle/>
                    <a:p>
                      <a:pPr marL="0" lvl="0" indent="0" algn="ctr"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2400" b="1" dirty="0"/>
                        <a:t>2027</a:t>
                      </a:r>
                      <a:endParaRPr sz="2400" b="1" dirty="0"/>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607648">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r" rtl="0">
                        <a:spcBef>
                          <a:spcPts val="0"/>
                        </a:spcBef>
                        <a:spcAft>
                          <a:spcPts val="0"/>
                        </a:spcAft>
                        <a:buNone/>
                      </a:pPr>
                      <a:r>
                        <a:rPr lang="en" sz="2400" dirty="0"/>
                        <a:t>1454.4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1454.4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07648">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r" rtl="0">
                        <a:spcBef>
                          <a:spcPts val="0"/>
                        </a:spcBef>
                        <a:spcAft>
                          <a:spcPts val="0"/>
                        </a:spcAft>
                        <a:buNone/>
                      </a:pPr>
                      <a:r>
                        <a:rPr lang="en" sz="2400" dirty="0"/>
                        <a:t>358.4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358.4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607648">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r" rtl="0">
                        <a:spcBef>
                          <a:spcPts val="0"/>
                        </a:spcBef>
                        <a:spcAft>
                          <a:spcPts val="0"/>
                        </a:spcAft>
                        <a:buNone/>
                      </a:pPr>
                      <a:r>
                        <a:rPr lang="en" sz="2400" dirty="0"/>
                        <a:t>214.8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214.8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07648">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r" rtl="0">
                        <a:spcBef>
                          <a:spcPts val="0"/>
                        </a:spcBef>
                        <a:spcAft>
                          <a:spcPts val="0"/>
                        </a:spcAft>
                        <a:buNone/>
                      </a:pPr>
                      <a:r>
                        <a:rPr lang="en" sz="2400" dirty="0"/>
                        <a:t>228.4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dirty="0"/>
                        <a:t>228.4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607648">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r" rtl="0">
                        <a:spcBef>
                          <a:spcPts val="0"/>
                        </a:spcBef>
                        <a:spcAft>
                          <a:spcPts val="0"/>
                        </a:spcAft>
                        <a:buNone/>
                      </a:pPr>
                      <a:r>
                        <a:rPr lang="en" sz="2400"/>
                        <a:t>68.8 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a:t>68.8 mt + 165mt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7648">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r"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7648">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r" rtl="0">
                        <a:spcBef>
                          <a:spcPts val="0"/>
                        </a:spcBef>
                        <a:spcAft>
                          <a:spcPts val="0"/>
                        </a:spcAft>
                        <a:buNone/>
                      </a:pPr>
                      <a:r>
                        <a:rPr lang="en" sz="2400" b="1" dirty="0"/>
                        <a:t>3225 mt</a:t>
                      </a:r>
                      <a:endParaRPr sz="2400" b="1"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r" rtl="0">
                        <a:spcBef>
                          <a:spcPts val="0"/>
                        </a:spcBef>
                        <a:spcAft>
                          <a:spcPts val="0"/>
                        </a:spcAft>
                        <a:buNone/>
                      </a:pPr>
                      <a:r>
                        <a:rPr lang="en" sz="2400" b="1" dirty="0"/>
                        <a:t>3225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r"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66DB1-2DD5-4165-9C7F-C0E9F055117D}"/>
              </a:ext>
            </a:extLst>
          </p:cNvPr>
          <p:cNvSpPr>
            <a:spLocks noGrp="1"/>
          </p:cNvSpPr>
          <p:nvPr>
            <p:ph type="title"/>
          </p:nvPr>
        </p:nvSpPr>
        <p:spPr>
          <a:xfrm>
            <a:off x="693683" y="365125"/>
            <a:ext cx="10815145" cy="1325563"/>
          </a:xfrm>
        </p:spPr>
        <p:txBody>
          <a:bodyPr/>
          <a:lstStyle/>
          <a:p>
            <a:r>
              <a:rPr lang="en-US" dirty="0"/>
              <a:t>CMM 2024-06 Projection Model Configuration</a:t>
            </a:r>
          </a:p>
        </p:txBody>
      </p:sp>
      <p:sp>
        <p:nvSpPr>
          <p:cNvPr id="3" name="Content Placeholder 2">
            <a:extLst>
              <a:ext uri="{FF2B5EF4-FFF2-40B4-BE49-F238E27FC236}">
                <a16:creationId xmlns:a16="http://schemas.microsoft.com/office/drawing/2014/main" id="{23CB317F-814E-41A5-B36F-CAA114906DE7}"/>
              </a:ext>
            </a:extLst>
          </p:cNvPr>
          <p:cNvSpPr>
            <a:spLocks noGrp="1"/>
          </p:cNvSpPr>
          <p:nvPr>
            <p:ph idx="1"/>
          </p:nvPr>
        </p:nvSpPr>
        <p:spPr>
          <a:xfrm>
            <a:off x="409903" y="1608083"/>
            <a:ext cx="10943897" cy="4884792"/>
          </a:xfrm>
        </p:spPr>
        <p:txBody>
          <a:bodyPr>
            <a:normAutofit/>
          </a:bodyPr>
          <a:lstStyle/>
          <a:p>
            <a:r>
              <a:rPr lang="en-US" dirty="0"/>
              <a:t>Initial Conditions – same as in 2024 rebuilding projections</a:t>
            </a:r>
          </a:p>
          <a:p>
            <a:r>
              <a:rPr lang="en-US" dirty="0"/>
              <a:t>Future Recruitment – same as in 2024 rebuilding projections</a:t>
            </a:r>
          </a:p>
          <a:p>
            <a:r>
              <a:rPr lang="en-US" dirty="0"/>
              <a:t>Process Error – same as in 2024 rebuilding projections</a:t>
            </a:r>
          </a:p>
          <a:p>
            <a:r>
              <a:rPr lang="en-US" dirty="0"/>
              <a:t>Fishing Fleets and </a:t>
            </a:r>
            <a:r>
              <a:rPr lang="en-US" dirty="0" err="1"/>
              <a:t>Selectivities</a:t>
            </a:r>
            <a:r>
              <a:rPr lang="en-US" dirty="0"/>
              <a:t> – same as in 2024 rebuilding projections</a:t>
            </a:r>
          </a:p>
          <a:p>
            <a:r>
              <a:rPr lang="en-US" dirty="0"/>
              <a:t>Catch</a:t>
            </a:r>
          </a:p>
          <a:p>
            <a:pPr lvl="1"/>
            <a:r>
              <a:rPr lang="en-US" dirty="0"/>
              <a:t>Use observed catch in 2021-2024 instead of a status quo fishing mortality</a:t>
            </a:r>
          </a:p>
          <a:p>
            <a:pPr lvl="1"/>
            <a:r>
              <a:rPr lang="en-US" dirty="0"/>
              <a:t>Use catch by Scenario in 2025-2027</a:t>
            </a:r>
          </a:p>
          <a:p>
            <a:pPr lvl="1"/>
            <a:r>
              <a:rPr lang="en-US" dirty="0"/>
              <a:t>Set catch in 2028-2034 to meet rebuilding goal in 2034, noting that </a:t>
            </a:r>
          </a:p>
          <a:p>
            <a:pPr marL="457200" lvl="1" indent="0">
              <a:buNone/>
            </a:pPr>
            <a:r>
              <a:rPr lang="en-US" dirty="0"/>
              <a:t>“</a:t>
            </a:r>
            <a:r>
              <a:rPr lang="en-US" i="1" dirty="0"/>
              <a:t>this CMM shall be reviewed and amended in 2027, pending the completion of a new stock assessment conducted by the ISC.</a:t>
            </a:r>
            <a:r>
              <a:rPr lang="en-US" dirty="0"/>
              <a:t>”</a:t>
            </a:r>
          </a:p>
        </p:txBody>
      </p:sp>
    </p:spTree>
    <p:extLst>
      <p:ext uri="{BB962C8B-B14F-4D97-AF65-F5344CB8AC3E}">
        <p14:creationId xmlns:p14="http://schemas.microsoft.com/office/powerpoint/2010/main" val="903289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0" y="0"/>
            <a:ext cx="12192000" cy="1030014"/>
          </a:xfrm>
        </p:spPr>
        <p:txBody>
          <a:bodyPr>
            <a:normAutofit fontScale="90000"/>
          </a:bodyPr>
          <a:lstStyle/>
          <a:p>
            <a:pPr algn="ctr"/>
            <a:r>
              <a:rPr lang="en-US" sz="4000" dirty="0"/>
              <a:t>Initial Conditions</a:t>
            </a:r>
            <a:br>
              <a:rPr lang="en-US" sz="4000" dirty="0"/>
            </a:br>
            <a:r>
              <a:rPr lang="en-US" sz="4000" dirty="0"/>
              <a:t>Bootstrap Distribution of Initial Population Size</a:t>
            </a:r>
          </a:p>
        </p:txBody>
      </p:sp>
      <p:pic>
        <p:nvPicPr>
          <p:cNvPr id="3" name="Picture 2">
            <a:extLst>
              <a:ext uri="{FF2B5EF4-FFF2-40B4-BE49-F238E27FC236}">
                <a16:creationId xmlns:a16="http://schemas.microsoft.com/office/drawing/2014/main" id="{A3C937BD-999D-4987-B486-FCB8A9731E3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2200" y="1471448"/>
            <a:ext cx="7187599" cy="5386552"/>
          </a:xfrm>
          <a:prstGeom prst="rect">
            <a:avLst/>
          </a:prstGeom>
          <a:noFill/>
          <a:ln>
            <a:noFill/>
          </a:ln>
        </p:spPr>
      </p:pic>
    </p:spTree>
    <p:extLst>
      <p:ext uri="{BB962C8B-B14F-4D97-AF65-F5344CB8AC3E}">
        <p14:creationId xmlns:p14="http://schemas.microsoft.com/office/powerpoint/2010/main" val="1541252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C51A9B-63E9-4D5E-9498-324C646663C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1093" y="923828"/>
            <a:ext cx="8210746" cy="5934172"/>
          </a:xfrm>
          <a:prstGeom prst="rect">
            <a:avLst/>
          </a:prstGeom>
          <a:noFill/>
          <a:ln>
            <a:noFill/>
          </a:ln>
        </p:spPr>
      </p:pic>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838200" y="1"/>
            <a:ext cx="10515600" cy="1189756"/>
          </a:xfrm>
        </p:spPr>
        <p:txBody>
          <a:bodyPr>
            <a:normAutofit/>
          </a:bodyPr>
          <a:lstStyle/>
          <a:p>
            <a:pPr algn="ctr"/>
            <a:r>
              <a:rPr lang="en-US" sz="4000" dirty="0"/>
              <a:t>Recruitment</a:t>
            </a:r>
            <a:br>
              <a:rPr lang="en-US" sz="4000" dirty="0"/>
            </a:br>
            <a:r>
              <a:rPr lang="en-US" sz="4000" dirty="0"/>
              <a:t>Stock-Recruitment Pattern from 2023 Assessment</a:t>
            </a:r>
          </a:p>
        </p:txBody>
      </p:sp>
    </p:spTree>
    <p:extLst>
      <p:ext uri="{BB962C8B-B14F-4D97-AF65-F5344CB8AC3E}">
        <p14:creationId xmlns:p14="http://schemas.microsoft.com/office/powerpoint/2010/main" val="3645237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329938" y="0"/>
            <a:ext cx="11510128" cy="737811"/>
          </a:xfrm>
        </p:spPr>
        <p:txBody>
          <a:bodyPr>
            <a:normAutofit fontScale="90000"/>
          </a:bodyPr>
          <a:lstStyle/>
          <a:p>
            <a:pPr algn="ctr"/>
            <a:r>
              <a:rPr lang="en-US" sz="4000" dirty="0"/>
              <a:t>Recruitment Trend for Short- and Medium-Term Models</a:t>
            </a:r>
          </a:p>
        </p:txBody>
      </p:sp>
      <p:graphicFrame>
        <p:nvGraphicFramePr>
          <p:cNvPr id="5" name="Object 4">
            <a:extLst>
              <a:ext uri="{FF2B5EF4-FFF2-40B4-BE49-F238E27FC236}">
                <a16:creationId xmlns:a16="http://schemas.microsoft.com/office/drawing/2014/main" id="{4A083903-3CCA-4365-B50F-6E18BA476650}"/>
              </a:ext>
            </a:extLst>
          </p:cNvPr>
          <p:cNvGraphicFramePr>
            <a:graphicFrameLocks noChangeAspect="1"/>
          </p:cNvGraphicFramePr>
          <p:nvPr>
            <p:extLst>
              <p:ext uri="{D42A27DB-BD31-4B8C-83A1-F6EECF244321}">
                <p14:modId xmlns:p14="http://schemas.microsoft.com/office/powerpoint/2010/main" val="1068562208"/>
              </p:ext>
            </p:extLst>
          </p:nvPr>
        </p:nvGraphicFramePr>
        <p:xfrm>
          <a:off x="2284798" y="865997"/>
          <a:ext cx="7600407" cy="5839603"/>
        </p:xfrm>
        <a:graphic>
          <a:graphicData uri="http://schemas.openxmlformats.org/presentationml/2006/ole">
            <mc:AlternateContent xmlns:mc="http://schemas.openxmlformats.org/markup-compatibility/2006">
              <mc:Choice xmlns:v="urn:schemas-microsoft-com:vml" Requires="v">
                <p:oleObj spid="_x0000_s1093" name="SPW 15.0 Graph" r:id="rId3" imgW="5542957" imgH="4259471" progId="SigmaPlotGraphicObject.15">
                  <p:embed/>
                </p:oleObj>
              </mc:Choice>
              <mc:Fallback>
                <p:oleObj name="SPW 15.0 Graph" r:id="rId3" imgW="5542957" imgH="4259471" progId="SigmaPlotGraphicObject.15">
                  <p:embed/>
                  <p:pic>
                    <p:nvPicPr>
                      <p:cNvPr id="0" name=""/>
                      <p:cNvPicPr/>
                      <p:nvPr/>
                    </p:nvPicPr>
                    <p:blipFill>
                      <a:blip r:embed="rId4"/>
                      <a:stretch>
                        <a:fillRect/>
                      </a:stretch>
                    </p:blipFill>
                    <p:spPr>
                      <a:xfrm>
                        <a:off x="2284798" y="865997"/>
                        <a:ext cx="7600407" cy="5839603"/>
                      </a:xfrm>
                      <a:prstGeom prst="rect">
                        <a:avLst/>
                      </a:prstGeom>
                    </p:spPr>
                  </p:pic>
                </p:oleObj>
              </mc:Fallback>
            </mc:AlternateContent>
          </a:graphicData>
        </a:graphic>
      </p:graphicFrame>
    </p:spTree>
    <p:extLst>
      <p:ext uri="{BB962C8B-B14F-4D97-AF65-F5344CB8AC3E}">
        <p14:creationId xmlns:p14="http://schemas.microsoft.com/office/powerpoint/2010/main" val="588636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329938" y="0"/>
            <a:ext cx="11510128" cy="1198179"/>
          </a:xfrm>
        </p:spPr>
        <p:txBody>
          <a:bodyPr>
            <a:normAutofit/>
          </a:bodyPr>
          <a:lstStyle/>
          <a:p>
            <a:pPr algn="ctr"/>
            <a:r>
              <a:rPr lang="en-US" sz="4000" dirty="0"/>
              <a:t>Process Error</a:t>
            </a:r>
            <a:br>
              <a:rPr lang="en-US" sz="4000" dirty="0"/>
            </a:br>
            <a:r>
              <a:rPr lang="en-US" sz="4000" dirty="0"/>
              <a:t>Simulated Natural Mortality at Age</a:t>
            </a:r>
          </a:p>
        </p:txBody>
      </p:sp>
      <p:pic>
        <p:nvPicPr>
          <p:cNvPr id="3" name="Picture 2">
            <a:extLst>
              <a:ext uri="{FF2B5EF4-FFF2-40B4-BE49-F238E27FC236}">
                <a16:creationId xmlns:a16="http://schemas.microsoft.com/office/drawing/2014/main" id="{F158CE21-235C-4CA3-9C38-81E391342948}"/>
              </a:ext>
            </a:extLst>
          </p:cNvPr>
          <p:cNvPicPr>
            <a:picLocks noChangeAspect="1"/>
          </p:cNvPicPr>
          <p:nvPr/>
        </p:nvPicPr>
        <p:blipFill>
          <a:blip r:embed="rId2"/>
          <a:stretch>
            <a:fillRect/>
          </a:stretch>
        </p:blipFill>
        <p:spPr>
          <a:xfrm>
            <a:off x="2432054" y="1278028"/>
            <a:ext cx="7327891" cy="5579972"/>
          </a:xfrm>
          <a:prstGeom prst="rect">
            <a:avLst/>
          </a:prstGeom>
        </p:spPr>
      </p:pic>
    </p:spTree>
    <p:extLst>
      <p:ext uri="{BB962C8B-B14F-4D97-AF65-F5344CB8AC3E}">
        <p14:creationId xmlns:p14="http://schemas.microsoft.com/office/powerpoint/2010/main" val="3716500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1923393" y="106952"/>
            <a:ext cx="8744607" cy="1377973"/>
          </a:xfrm>
        </p:spPr>
        <p:txBody>
          <a:bodyPr>
            <a:normAutofit fontScale="90000"/>
          </a:bodyPr>
          <a:lstStyle/>
          <a:p>
            <a:pPr algn="ctr"/>
            <a:r>
              <a:rPr lang="en-US" sz="3600" b="1" dirty="0"/>
              <a:t>Fleet Groups</a:t>
            </a:r>
            <a:br>
              <a:rPr lang="en-US" sz="3600" b="1" dirty="0"/>
            </a:br>
            <a:r>
              <a:rPr lang="en-US" sz="3600" b="1" dirty="0"/>
              <a:t>Japanese Longline Quarter 2 – Area 1 </a:t>
            </a:r>
            <a:br>
              <a:rPr lang="en-US" sz="3600" b="1" dirty="0"/>
            </a:br>
            <a:r>
              <a:rPr lang="en-US" sz="3600" b="1" dirty="0"/>
              <a:t>Fleet Group 3</a:t>
            </a:r>
          </a:p>
        </p:txBody>
      </p:sp>
      <p:pic>
        <p:nvPicPr>
          <p:cNvPr id="5" name="Picture 4">
            <a:extLst>
              <a:ext uri="{FF2B5EF4-FFF2-40B4-BE49-F238E27FC236}">
                <a16:creationId xmlns:a16="http://schemas.microsoft.com/office/drawing/2014/main" id="{2EE07C25-9C2C-4A0D-A69F-9598CA855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549" y="1366345"/>
            <a:ext cx="11178902" cy="5491655"/>
          </a:xfrm>
          <a:prstGeom prst="rect">
            <a:avLst/>
          </a:prstGeom>
        </p:spPr>
      </p:pic>
    </p:spTree>
    <p:extLst>
      <p:ext uri="{BB962C8B-B14F-4D97-AF65-F5344CB8AC3E}">
        <p14:creationId xmlns:p14="http://schemas.microsoft.com/office/powerpoint/2010/main" val="3372255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5C467B5-16ED-45F9-B401-82C457EE463B}"/>
              </a:ext>
            </a:extLst>
          </p:cNvPr>
          <p:cNvSpPr>
            <a:spLocks noGrp="1"/>
          </p:cNvSpPr>
          <p:nvPr>
            <p:ph type="title"/>
          </p:nvPr>
        </p:nvSpPr>
        <p:spPr>
          <a:xfrm>
            <a:off x="2958662" y="0"/>
            <a:ext cx="6274676" cy="1030014"/>
          </a:xfrm>
        </p:spPr>
        <p:txBody>
          <a:bodyPr>
            <a:normAutofit fontScale="90000"/>
          </a:bodyPr>
          <a:lstStyle/>
          <a:p>
            <a:pPr algn="ctr"/>
            <a:r>
              <a:rPr lang="en-US" sz="3600" b="1" dirty="0"/>
              <a:t>Japanese Driftnet</a:t>
            </a:r>
            <a:br>
              <a:rPr lang="en-US" sz="3600" b="1" dirty="0"/>
            </a:br>
            <a:r>
              <a:rPr lang="en-US" sz="3600" b="1" dirty="0"/>
              <a:t>Fleet Group 7</a:t>
            </a:r>
          </a:p>
        </p:txBody>
      </p:sp>
      <p:pic>
        <p:nvPicPr>
          <p:cNvPr id="5" name="Picture 4">
            <a:extLst>
              <a:ext uri="{FF2B5EF4-FFF2-40B4-BE49-F238E27FC236}">
                <a16:creationId xmlns:a16="http://schemas.microsoft.com/office/drawing/2014/main" id="{925D5257-4073-4CC0-99A3-36679F3E9F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7662" y="1030014"/>
            <a:ext cx="5436675" cy="5827986"/>
          </a:xfrm>
          <a:prstGeom prst="rect">
            <a:avLst/>
          </a:prstGeom>
        </p:spPr>
      </p:pic>
    </p:spTree>
    <p:extLst>
      <p:ext uri="{BB962C8B-B14F-4D97-AF65-F5344CB8AC3E}">
        <p14:creationId xmlns:p14="http://schemas.microsoft.com/office/powerpoint/2010/main" val="3955818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E9F419-2265-4795-8318-1A6B03EFD4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3959" y="889521"/>
            <a:ext cx="6124082" cy="5968479"/>
          </a:xfrm>
          <a:prstGeom prst="rect">
            <a:avLst/>
          </a:prstGeom>
        </p:spPr>
      </p:pic>
      <p:sp>
        <p:nvSpPr>
          <p:cNvPr id="7" name="Title 1">
            <a:extLst>
              <a:ext uri="{FF2B5EF4-FFF2-40B4-BE49-F238E27FC236}">
                <a16:creationId xmlns:a16="http://schemas.microsoft.com/office/drawing/2014/main" id="{39A94E77-FEE6-4A09-8CD4-D5CD8749E4C1}"/>
              </a:ext>
            </a:extLst>
          </p:cNvPr>
          <p:cNvSpPr>
            <a:spLocks noGrp="1"/>
          </p:cNvSpPr>
          <p:nvPr>
            <p:ph type="title"/>
          </p:nvPr>
        </p:nvSpPr>
        <p:spPr>
          <a:xfrm>
            <a:off x="2958662" y="0"/>
            <a:ext cx="6274676" cy="1030014"/>
          </a:xfrm>
        </p:spPr>
        <p:txBody>
          <a:bodyPr>
            <a:normAutofit fontScale="90000"/>
          </a:bodyPr>
          <a:lstStyle/>
          <a:p>
            <a:pPr algn="ctr"/>
            <a:r>
              <a:rPr lang="en-US" sz="3600" b="1" dirty="0"/>
              <a:t>Hawaii Longline </a:t>
            </a:r>
            <a:br>
              <a:rPr lang="en-US" sz="3600" b="1" dirty="0"/>
            </a:br>
            <a:r>
              <a:rPr lang="en-US" sz="3600" b="1" dirty="0"/>
              <a:t>Fleet Group 8</a:t>
            </a:r>
          </a:p>
        </p:txBody>
      </p:sp>
    </p:spTree>
    <p:extLst>
      <p:ext uri="{BB962C8B-B14F-4D97-AF65-F5344CB8AC3E}">
        <p14:creationId xmlns:p14="http://schemas.microsoft.com/office/powerpoint/2010/main" val="327374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9A94E77-FEE6-4A09-8CD4-D5CD8749E4C1}"/>
              </a:ext>
            </a:extLst>
          </p:cNvPr>
          <p:cNvSpPr>
            <a:spLocks noGrp="1"/>
          </p:cNvSpPr>
          <p:nvPr>
            <p:ph type="title"/>
          </p:nvPr>
        </p:nvSpPr>
        <p:spPr>
          <a:xfrm>
            <a:off x="2958662" y="0"/>
            <a:ext cx="6274676" cy="1030014"/>
          </a:xfrm>
        </p:spPr>
        <p:txBody>
          <a:bodyPr>
            <a:normAutofit fontScale="90000"/>
          </a:bodyPr>
          <a:lstStyle/>
          <a:p>
            <a:pPr algn="ctr"/>
            <a:r>
              <a:rPr lang="en-US" sz="3600" b="1" dirty="0"/>
              <a:t>Taiwanese Longline </a:t>
            </a:r>
            <a:br>
              <a:rPr lang="en-US" sz="3600" b="1" dirty="0"/>
            </a:br>
            <a:r>
              <a:rPr lang="en-US" sz="3600" b="1" dirty="0"/>
              <a:t>Fleet Group 8</a:t>
            </a:r>
          </a:p>
        </p:txBody>
      </p:sp>
      <p:pic>
        <p:nvPicPr>
          <p:cNvPr id="4" name="Picture 3">
            <a:extLst>
              <a:ext uri="{FF2B5EF4-FFF2-40B4-BE49-F238E27FC236}">
                <a16:creationId xmlns:a16="http://schemas.microsoft.com/office/drawing/2014/main" id="{9B172489-DA02-4B6B-9868-E3ACB15740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1056" y="1082475"/>
            <a:ext cx="7409887" cy="5775525"/>
          </a:xfrm>
          <a:prstGeom prst="rect">
            <a:avLst/>
          </a:prstGeom>
        </p:spPr>
      </p:pic>
    </p:spTree>
    <p:extLst>
      <p:ext uri="{BB962C8B-B14F-4D97-AF65-F5344CB8AC3E}">
        <p14:creationId xmlns:p14="http://schemas.microsoft.com/office/powerpoint/2010/main" val="861198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DD3E14-CF22-4236-8246-47A1B960A8D4}"/>
              </a:ext>
            </a:extLst>
          </p:cNvPr>
          <p:cNvSpPr txBox="1">
            <a:spLocks/>
          </p:cNvSpPr>
          <p:nvPr/>
        </p:nvSpPr>
        <p:spPr>
          <a:xfrm>
            <a:off x="0" y="28795"/>
            <a:ext cx="121920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Apportion Projected Taiwanese Catch in 2025-2027 to Fleet Groups</a:t>
            </a:r>
          </a:p>
        </p:txBody>
      </p:sp>
      <p:pic>
        <p:nvPicPr>
          <p:cNvPr id="7" name="Picture 6">
            <a:extLst>
              <a:ext uri="{FF2B5EF4-FFF2-40B4-BE49-F238E27FC236}">
                <a16:creationId xmlns:a16="http://schemas.microsoft.com/office/drawing/2014/main" id="{027D59E2-669C-4329-8149-87239D72201D}"/>
              </a:ext>
            </a:extLst>
          </p:cNvPr>
          <p:cNvPicPr>
            <a:picLocks noChangeAspect="1"/>
          </p:cNvPicPr>
          <p:nvPr/>
        </p:nvPicPr>
        <p:blipFill>
          <a:blip r:embed="rId2"/>
          <a:stretch>
            <a:fillRect/>
          </a:stretch>
        </p:blipFill>
        <p:spPr>
          <a:xfrm>
            <a:off x="3376422" y="964853"/>
            <a:ext cx="5439156" cy="5864352"/>
          </a:xfrm>
          <a:prstGeom prst="rect">
            <a:avLst/>
          </a:prstGeom>
        </p:spPr>
      </p:pic>
    </p:spTree>
    <p:extLst>
      <p:ext uri="{BB962C8B-B14F-4D97-AF65-F5344CB8AC3E}">
        <p14:creationId xmlns:p14="http://schemas.microsoft.com/office/powerpoint/2010/main" val="3824768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DD3E14-CF22-4236-8246-47A1B960A8D4}"/>
              </a:ext>
            </a:extLst>
          </p:cNvPr>
          <p:cNvSpPr txBox="1">
            <a:spLocks/>
          </p:cNvSpPr>
          <p:nvPr/>
        </p:nvSpPr>
        <p:spPr>
          <a:xfrm>
            <a:off x="0" y="28795"/>
            <a:ext cx="121920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Apportion Projected Japanese Catch in 2025-2027 to Fleet Groups</a:t>
            </a:r>
          </a:p>
        </p:txBody>
      </p:sp>
      <p:pic>
        <p:nvPicPr>
          <p:cNvPr id="3" name="Picture 2">
            <a:extLst>
              <a:ext uri="{FF2B5EF4-FFF2-40B4-BE49-F238E27FC236}">
                <a16:creationId xmlns:a16="http://schemas.microsoft.com/office/drawing/2014/main" id="{457EF2D6-7C14-4428-BE50-58ED3C5230D5}"/>
              </a:ext>
            </a:extLst>
          </p:cNvPr>
          <p:cNvPicPr>
            <a:picLocks noChangeAspect="1"/>
          </p:cNvPicPr>
          <p:nvPr/>
        </p:nvPicPr>
        <p:blipFill>
          <a:blip r:embed="rId2"/>
          <a:stretch>
            <a:fillRect/>
          </a:stretch>
        </p:blipFill>
        <p:spPr>
          <a:xfrm>
            <a:off x="3134868" y="682752"/>
            <a:ext cx="5922264" cy="6175248"/>
          </a:xfrm>
          <a:prstGeom prst="rect">
            <a:avLst/>
          </a:prstGeom>
        </p:spPr>
      </p:pic>
    </p:spTree>
    <p:extLst>
      <p:ext uri="{BB962C8B-B14F-4D97-AF65-F5344CB8AC3E}">
        <p14:creationId xmlns:p14="http://schemas.microsoft.com/office/powerpoint/2010/main" val="4211500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0" y="28795"/>
            <a:ext cx="12192000" cy="1158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Striped Marin Catches in 2021-2024</a:t>
            </a:r>
          </a:p>
          <a:p>
            <a:pPr algn="ctr"/>
            <a:r>
              <a:rPr lang="en-US" dirty="0"/>
              <a:t>Reported Yearbook Catch by CCM in the WCPFC Area </a:t>
            </a:r>
          </a:p>
        </p:txBody>
      </p:sp>
      <p:pic>
        <p:nvPicPr>
          <p:cNvPr id="3" name="Picture 2">
            <a:extLst>
              <a:ext uri="{FF2B5EF4-FFF2-40B4-BE49-F238E27FC236}">
                <a16:creationId xmlns:a16="http://schemas.microsoft.com/office/drawing/2014/main" id="{B591D272-E391-4A7D-B8E8-EDEC4CB7A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105" y="1405650"/>
            <a:ext cx="5639488" cy="5452350"/>
          </a:xfrm>
          <a:prstGeom prst="rect">
            <a:avLst/>
          </a:prstGeom>
        </p:spPr>
      </p:pic>
      <p:pic>
        <p:nvPicPr>
          <p:cNvPr id="8" name="Picture 7">
            <a:extLst>
              <a:ext uri="{FF2B5EF4-FFF2-40B4-BE49-F238E27FC236}">
                <a16:creationId xmlns:a16="http://schemas.microsoft.com/office/drawing/2014/main" id="{DF587AAE-180F-409A-B923-67B7F04C94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438" y="2795751"/>
            <a:ext cx="2738564" cy="3547241"/>
          </a:xfrm>
          <a:prstGeom prst="rect">
            <a:avLst/>
          </a:prstGeom>
        </p:spPr>
      </p:pic>
    </p:spTree>
    <p:extLst>
      <p:ext uri="{BB962C8B-B14F-4D97-AF65-F5344CB8AC3E}">
        <p14:creationId xmlns:p14="http://schemas.microsoft.com/office/powerpoint/2010/main" val="703576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0" y="28795"/>
            <a:ext cx="12191999" cy="55978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WCPFC Yearbook Reported MLS Catches with Imputed 2024 Catch</a:t>
            </a:r>
          </a:p>
        </p:txBody>
      </p:sp>
      <p:sp>
        <p:nvSpPr>
          <p:cNvPr id="8" name="TextBox 7">
            <a:extLst>
              <a:ext uri="{FF2B5EF4-FFF2-40B4-BE49-F238E27FC236}">
                <a16:creationId xmlns:a16="http://schemas.microsoft.com/office/drawing/2014/main" id="{A7A22755-40DE-4FC2-A728-ADDF654554FE}"/>
              </a:ext>
            </a:extLst>
          </p:cNvPr>
          <p:cNvSpPr txBox="1"/>
          <p:nvPr/>
        </p:nvSpPr>
        <p:spPr>
          <a:xfrm>
            <a:off x="9480331" y="6550223"/>
            <a:ext cx="2711669" cy="307777"/>
          </a:xfrm>
          <a:prstGeom prst="rect">
            <a:avLst/>
          </a:prstGeom>
          <a:noFill/>
        </p:spPr>
        <p:txBody>
          <a:bodyPr wrap="square">
            <a:spAutoFit/>
          </a:bodyPr>
          <a:lstStyle/>
          <a:p>
            <a:pPr algn="r"/>
            <a:r>
              <a:rPr lang="en-US" sz="1400" dirty="0"/>
              <a:t>Data from XLS_NorthWCPFC.csv</a:t>
            </a:r>
          </a:p>
        </p:txBody>
      </p:sp>
      <p:pic>
        <p:nvPicPr>
          <p:cNvPr id="3" name="Picture 2">
            <a:extLst>
              <a:ext uri="{FF2B5EF4-FFF2-40B4-BE49-F238E27FC236}">
                <a16:creationId xmlns:a16="http://schemas.microsoft.com/office/drawing/2014/main" id="{B890FA04-0058-43DE-B113-E36F8ABB3B00}"/>
              </a:ext>
            </a:extLst>
          </p:cNvPr>
          <p:cNvPicPr>
            <a:picLocks noChangeAspect="1"/>
          </p:cNvPicPr>
          <p:nvPr/>
        </p:nvPicPr>
        <p:blipFill>
          <a:blip r:embed="rId2"/>
          <a:stretch>
            <a:fillRect/>
          </a:stretch>
        </p:blipFill>
        <p:spPr>
          <a:xfrm>
            <a:off x="3026201" y="646015"/>
            <a:ext cx="6139596" cy="6211985"/>
          </a:xfrm>
          <a:prstGeom prst="rect">
            <a:avLst/>
          </a:prstGeom>
        </p:spPr>
      </p:pic>
    </p:spTree>
    <p:extLst>
      <p:ext uri="{BB962C8B-B14F-4D97-AF65-F5344CB8AC3E}">
        <p14:creationId xmlns:p14="http://schemas.microsoft.com/office/powerpoint/2010/main" val="3713511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462456" y="-23757"/>
            <a:ext cx="11729544"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WCPFC Yearbook Reported MLS Catch with Imputed 2024 Catch</a:t>
            </a:r>
          </a:p>
        </p:txBody>
      </p:sp>
      <p:sp>
        <p:nvSpPr>
          <p:cNvPr id="5" name="TextBox 4">
            <a:extLst>
              <a:ext uri="{FF2B5EF4-FFF2-40B4-BE49-F238E27FC236}">
                <a16:creationId xmlns:a16="http://schemas.microsoft.com/office/drawing/2014/main" id="{00C9A2B3-0ED7-4F23-956E-0F7A69D3FA55}"/>
              </a:ext>
            </a:extLst>
          </p:cNvPr>
          <p:cNvSpPr txBox="1"/>
          <p:nvPr/>
        </p:nvSpPr>
        <p:spPr>
          <a:xfrm>
            <a:off x="9480331" y="6550223"/>
            <a:ext cx="2711669" cy="307777"/>
          </a:xfrm>
          <a:prstGeom prst="rect">
            <a:avLst/>
          </a:prstGeom>
          <a:noFill/>
        </p:spPr>
        <p:txBody>
          <a:bodyPr wrap="square">
            <a:spAutoFit/>
          </a:bodyPr>
          <a:lstStyle/>
          <a:p>
            <a:pPr algn="r"/>
            <a:r>
              <a:rPr lang="en-US" sz="1400" dirty="0"/>
              <a:t>Data from XLS_NorthWCPFC.csv</a:t>
            </a:r>
          </a:p>
        </p:txBody>
      </p:sp>
      <p:pic>
        <p:nvPicPr>
          <p:cNvPr id="2" name="Picture 1">
            <a:extLst>
              <a:ext uri="{FF2B5EF4-FFF2-40B4-BE49-F238E27FC236}">
                <a16:creationId xmlns:a16="http://schemas.microsoft.com/office/drawing/2014/main" id="{2F8DA74F-4F99-4E6E-83E9-7B5602FDC266}"/>
              </a:ext>
            </a:extLst>
          </p:cNvPr>
          <p:cNvPicPr>
            <a:picLocks noChangeAspect="1"/>
          </p:cNvPicPr>
          <p:nvPr/>
        </p:nvPicPr>
        <p:blipFill>
          <a:blip r:embed="rId2"/>
          <a:stretch>
            <a:fillRect/>
          </a:stretch>
        </p:blipFill>
        <p:spPr>
          <a:xfrm>
            <a:off x="2432901" y="672662"/>
            <a:ext cx="7326198" cy="6185338"/>
          </a:xfrm>
          <a:prstGeom prst="rect">
            <a:avLst/>
          </a:prstGeom>
        </p:spPr>
      </p:pic>
    </p:spTree>
    <p:extLst>
      <p:ext uri="{BB962C8B-B14F-4D97-AF65-F5344CB8AC3E}">
        <p14:creationId xmlns:p14="http://schemas.microsoft.com/office/powerpoint/2010/main" val="10776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Japan</a:t>
            </a:r>
          </a:p>
        </p:txBody>
      </p:sp>
      <p:sp>
        <p:nvSpPr>
          <p:cNvPr id="5" name="TextBox 4">
            <a:extLst>
              <a:ext uri="{FF2B5EF4-FFF2-40B4-BE49-F238E27FC236}">
                <a16:creationId xmlns:a16="http://schemas.microsoft.com/office/drawing/2014/main" id="{00C9A2B3-0ED7-4F23-956E-0F7A69D3FA55}"/>
              </a:ext>
            </a:extLst>
          </p:cNvPr>
          <p:cNvSpPr txBox="1"/>
          <p:nvPr/>
        </p:nvSpPr>
        <p:spPr>
          <a:xfrm>
            <a:off x="9290165" y="6550224"/>
            <a:ext cx="2901835" cy="307777"/>
          </a:xfrm>
          <a:prstGeom prst="rect">
            <a:avLst/>
          </a:prstGeom>
          <a:noFill/>
        </p:spPr>
        <p:txBody>
          <a:bodyPr wrap="square">
            <a:spAutoFit/>
          </a:bodyPr>
          <a:lstStyle/>
          <a:p>
            <a:pPr algn="r"/>
            <a:r>
              <a:rPr lang="en-US" sz="1400" dirty="0"/>
              <a:t>Data from ISC Billfish Working Group</a:t>
            </a:r>
          </a:p>
        </p:txBody>
      </p:sp>
      <p:pic>
        <p:nvPicPr>
          <p:cNvPr id="4" name="Picture 3">
            <a:extLst>
              <a:ext uri="{FF2B5EF4-FFF2-40B4-BE49-F238E27FC236}">
                <a16:creationId xmlns:a16="http://schemas.microsoft.com/office/drawing/2014/main" id="{E2A9DDB9-F96C-4D78-8F31-D61A87EE6183}"/>
              </a:ext>
            </a:extLst>
          </p:cNvPr>
          <p:cNvPicPr>
            <a:picLocks noChangeAspect="1"/>
          </p:cNvPicPr>
          <p:nvPr/>
        </p:nvPicPr>
        <p:blipFill>
          <a:blip r:embed="rId2"/>
          <a:stretch>
            <a:fillRect/>
          </a:stretch>
        </p:blipFill>
        <p:spPr>
          <a:xfrm>
            <a:off x="3065525" y="621792"/>
            <a:ext cx="6060948" cy="6236208"/>
          </a:xfrm>
          <a:prstGeom prst="rect">
            <a:avLst/>
          </a:prstGeom>
        </p:spPr>
      </p:pic>
    </p:spTree>
    <p:extLst>
      <p:ext uri="{BB962C8B-B14F-4D97-AF65-F5344CB8AC3E}">
        <p14:creationId xmlns:p14="http://schemas.microsoft.com/office/powerpoint/2010/main" val="2681269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the United States</a:t>
            </a:r>
          </a:p>
        </p:txBody>
      </p:sp>
      <p:sp>
        <p:nvSpPr>
          <p:cNvPr id="5" name="TextBox 4">
            <a:extLst>
              <a:ext uri="{FF2B5EF4-FFF2-40B4-BE49-F238E27FC236}">
                <a16:creationId xmlns:a16="http://schemas.microsoft.com/office/drawing/2014/main" id="{00C9A2B3-0ED7-4F23-956E-0F7A69D3FA55}"/>
              </a:ext>
            </a:extLst>
          </p:cNvPr>
          <p:cNvSpPr txBox="1"/>
          <p:nvPr/>
        </p:nvSpPr>
        <p:spPr>
          <a:xfrm>
            <a:off x="9290165" y="6550224"/>
            <a:ext cx="2901835" cy="307777"/>
          </a:xfrm>
          <a:prstGeom prst="rect">
            <a:avLst/>
          </a:prstGeom>
          <a:noFill/>
        </p:spPr>
        <p:txBody>
          <a:bodyPr wrap="square">
            <a:spAutoFit/>
          </a:bodyPr>
          <a:lstStyle/>
          <a:p>
            <a:pPr algn="r"/>
            <a:r>
              <a:rPr lang="en-US" sz="1400" dirty="0"/>
              <a:t>Data from ISC Billfish Working Group</a:t>
            </a:r>
          </a:p>
        </p:txBody>
      </p:sp>
      <p:pic>
        <p:nvPicPr>
          <p:cNvPr id="4" name="Picture 3">
            <a:extLst>
              <a:ext uri="{FF2B5EF4-FFF2-40B4-BE49-F238E27FC236}">
                <a16:creationId xmlns:a16="http://schemas.microsoft.com/office/drawing/2014/main" id="{650F91CB-649B-4697-B34A-AB69CC839C0A}"/>
              </a:ext>
            </a:extLst>
          </p:cNvPr>
          <p:cNvPicPr>
            <a:picLocks noChangeAspect="1"/>
          </p:cNvPicPr>
          <p:nvPr/>
        </p:nvPicPr>
        <p:blipFill>
          <a:blip r:embed="rId2"/>
          <a:stretch>
            <a:fillRect/>
          </a:stretch>
        </p:blipFill>
        <p:spPr>
          <a:xfrm>
            <a:off x="2973459" y="650909"/>
            <a:ext cx="6245079" cy="6178296"/>
          </a:xfrm>
          <a:prstGeom prst="rect">
            <a:avLst/>
          </a:prstGeom>
        </p:spPr>
      </p:pic>
    </p:spTree>
    <p:extLst>
      <p:ext uri="{BB962C8B-B14F-4D97-AF65-F5344CB8AC3E}">
        <p14:creationId xmlns:p14="http://schemas.microsoft.com/office/powerpoint/2010/main" val="3133967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4083" y="28795"/>
            <a:ext cx="12107917"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Initial Catches are Lower for the CMM 2024-06 Projection Scenarios</a:t>
            </a:r>
          </a:p>
        </p:txBody>
      </p:sp>
      <p:pic>
        <p:nvPicPr>
          <p:cNvPr id="2" name="Picture 1">
            <a:extLst>
              <a:ext uri="{FF2B5EF4-FFF2-40B4-BE49-F238E27FC236}">
                <a16:creationId xmlns:a16="http://schemas.microsoft.com/office/drawing/2014/main" id="{9F59DD12-751F-4653-8F3E-03972E0FBAFE}"/>
              </a:ext>
            </a:extLst>
          </p:cNvPr>
          <p:cNvPicPr>
            <a:picLocks noChangeAspect="1"/>
          </p:cNvPicPr>
          <p:nvPr/>
        </p:nvPicPr>
        <p:blipFill>
          <a:blip r:embed="rId2"/>
          <a:stretch>
            <a:fillRect/>
          </a:stretch>
        </p:blipFill>
        <p:spPr>
          <a:xfrm>
            <a:off x="2722038" y="954380"/>
            <a:ext cx="6747923" cy="5903620"/>
          </a:xfrm>
          <a:prstGeom prst="rect">
            <a:avLst/>
          </a:prstGeom>
        </p:spPr>
      </p:pic>
    </p:spTree>
    <p:extLst>
      <p:ext uri="{BB962C8B-B14F-4D97-AF65-F5344CB8AC3E}">
        <p14:creationId xmlns:p14="http://schemas.microsoft.com/office/powerpoint/2010/main" val="3217927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4083" y="28795"/>
            <a:ext cx="12107917"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Initial Fishing Mortalities are Lower for the CMM 2024-06 Scenarios</a:t>
            </a:r>
          </a:p>
        </p:txBody>
      </p:sp>
      <p:pic>
        <p:nvPicPr>
          <p:cNvPr id="3" name="Picture 2">
            <a:extLst>
              <a:ext uri="{FF2B5EF4-FFF2-40B4-BE49-F238E27FC236}">
                <a16:creationId xmlns:a16="http://schemas.microsoft.com/office/drawing/2014/main" id="{4C637E69-7AED-4964-BA0B-9DAFDE845F82}"/>
              </a:ext>
            </a:extLst>
          </p:cNvPr>
          <p:cNvPicPr>
            <a:picLocks noChangeAspect="1"/>
          </p:cNvPicPr>
          <p:nvPr/>
        </p:nvPicPr>
        <p:blipFill>
          <a:blip r:embed="rId2"/>
          <a:stretch>
            <a:fillRect/>
          </a:stretch>
        </p:blipFill>
        <p:spPr>
          <a:xfrm>
            <a:off x="2816397" y="925018"/>
            <a:ext cx="6559205" cy="5932982"/>
          </a:xfrm>
          <a:prstGeom prst="rect">
            <a:avLst/>
          </a:prstGeom>
        </p:spPr>
      </p:pic>
    </p:spTree>
    <p:extLst>
      <p:ext uri="{BB962C8B-B14F-4D97-AF65-F5344CB8AC3E}">
        <p14:creationId xmlns:p14="http://schemas.microsoft.com/office/powerpoint/2010/main" val="13626390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A9BD18-74E2-466B-B059-FCF5305EFC4F}"/>
              </a:ext>
            </a:extLst>
          </p:cNvPr>
          <p:cNvPicPr>
            <a:picLocks noChangeAspect="1"/>
          </p:cNvPicPr>
          <p:nvPr/>
        </p:nvPicPr>
        <p:blipFill>
          <a:blip r:embed="rId2"/>
          <a:stretch>
            <a:fillRect/>
          </a:stretch>
        </p:blipFill>
        <p:spPr>
          <a:xfrm>
            <a:off x="6999891" y="1573422"/>
            <a:ext cx="5192109" cy="4569873"/>
          </a:xfrm>
          <a:prstGeom prst="rect">
            <a:avLst/>
          </a:prstGeom>
        </p:spPr>
      </p:pic>
      <p:pic>
        <p:nvPicPr>
          <p:cNvPr id="7" name="Picture 6">
            <a:extLst>
              <a:ext uri="{FF2B5EF4-FFF2-40B4-BE49-F238E27FC236}">
                <a16:creationId xmlns:a16="http://schemas.microsoft.com/office/drawing/2014/main" id="{FA211A78-C4F3-433E-AB20-00BEB1D279C1}"/>
              </a:ext>
            </a:extLst>
          </p:cNvPr>
          <p:cNvPicPr>
            <a:picLocks noChangeAspect="1"/>
          </p:cNvPicPr>
          <p:nvPr/>
        </p:nvPicPr>
        <p:blipFill>
          <a:blip r:embed="rId3"/>
          <a:stretch>
            <a:fillRect/>
          </a:stretch>
        </p:blipFill>
        <p:spPr>
          <a:xfrm>
            <a:off x="0" y="1573422"/>
            <a:ext cx="6999890" cy="3974904"/>
          </a:xfrm>
          <a:prstGeom prst="rect">
            <a:avLst/>
          </a:prstGeom>
        </p:spPr>
      </p:pic>
      <p:sp>
        <p:nvSpPr>
          <p:cNvPr id="4" name="Title 1">
            <a:extLst>
              <a:ext uri="{FF2B5EF4-FFF2-40B4-BE49-F238E27FC236}">
                <a16:creationId xmlns:a16="http://schemas.microsoft.com/office/drawing/2014/main" id="{7446172D-C745-4776-97C8-F8D578C89963}"/>
              </a:ext>
            </a:extLst>
          </p:cNvPr>
          <p:cNvSpPr txBox="1">
            <a:spLocks/>
          </p:cNvSpPr>
          <p:nvPr/>
        </p:nvSpPr>
        <p:spPr>
          <a:xfrm>
            <a:off x="0" y="28795"/>
            <a:ext cx="12192000" cy="126397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Striped Marlin Catch in 2025-2027</a:t>
            </a:r>
          </a:p>
          <a:p>
            <a:pPr algn="ctr"/>
            <a:r>
              <a:rPr lang="en-US" dirty="0"/>
              <a:t>Catch Limits with No Carryover</a:t>
            </a:r>
          </a:p>
        </p:txBody>
      </p:sp>
    </p:spTree>
    <p:extLst>
      <p:ext uri="{BB962C8B-B14F-4D97-AF65-F5344CB8AC3E}">
        <p14:creationId xmlns:p14="http://schemas.microsoft.com/office/powerpoint/2010/main" val="1929823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6B2DB9-54ED-462C-A1B1-2BD7E3748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633043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313C70-E9D8-4380-9DDC-9A0510FABF2F}"/>
              </a:ext>
            </a:extLst>
          </p:cNvPr>
          <p:cNvPicPr>
            <a:picLocks noChangeAspect="1"/>
          </p:cNvPicPr>
          <p:nvPr/>
        </p:nvPicPr>
        <p:blipFill>
          <a:blip r:embed="rId2"/>
          <a:stretch>
            <a:fillRect/>
          </a:stretch>
        </p:blipFill>
        <p:spPr>
          <a:xfrm>
            <a:off x="0" y="1587543"/>
            <a:ext cx="7033152" cy="4014951"/>
          </a:xfrm>
          <a:prstGeom prst="rect">
            <a:avLst/>
          </a:prstGeom>
        </p:spPr>
      </p:pic>
      <p:pic>
        <p:nvPicPr>
          <p:cNvPr id="3" name="Picture 2">
            <a:extLst>
              <a:ext uri="{FF2B5EF4-FFF2-40B4-BE49-F238E27FC236}">
                <a16:creationId xmlns:a16="http://schemas.microsoft.com/office/drawing/2014/main" id="{AB63EFB0-8B1E-4379-BECF-02D51699BBC6}"/>
              </a:ext>
            </a:extLst>
          </p:cNvPr>
          <p:cNvPicPr>
            <a:picLocks noChangeAspect="1"/>
          </p:cNvPicPr>
          <p:nvPr/>
        </p:nvPicPr>
        <p:blipFill>
          <a:blip r:embed="rId3"/>
          <a:stretch>
            <a:fillRect/>
          </a:stretch>
        </p:blipFill>
        <p:spPr>
          <a:xfrm>
            <a:off x="7033152" y="1587543"/>
            <a:ext cx="5146214" cy="4529477"/>
          </a:xfrm>
          <a:prstGeom prst="rect">
            <a:avLst/>
          </a:prstGeom>
        </p:spPr>
      </p:pic>
      <p:sp>
        <p:nvSpPr>
          <p:cNvPr id="4" name="Title 1">
            <a:extLst>
              <a:ext uri="{FF2B5EF4-FFF2-40B4-BE49-F238E27FC236}">
                <a16:creationId xmlns:a16="http://schemas.microsoft.com/office/drawing/2014/main" id="{04F509C2-1C3C-4EEB-910B-5B726BC3F750}"/>
              </a:ext>
            </a:extLst>
          </p:cNvPr>
          <p:cNvSpPr txBox="1">
            <a:spLocks/>
          </p:cNvSpPr>
          <p:nvPr/>
        </p:nvSpPr>
        <p:spPr>
          <a:xfrm>
            <a:off x="0" y="28795"/>
            <a:ext cx="12192000" cy="8540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Striped Marlin Catch in 2025-2027</a:t>
            </a:r>
          </a:p>
          <a:p>
            <a:pPr algn="ctr"/>
            <a:r>
              <a:rPr lang="en-US" dirty="0"/>
              <a:t>Catch Limits with Carryover in 2025</a:t>
            </a:r>
          </a:p>
        </p:txBody>
      </p:sp>
    </p:spTree>
    <p:extLst>
      <p:ext uri="{BB962C8B-B14F-4D97-AF65-F5344CB8AC3E}">
        <p14:creationId xmlns:p14="http://schemas.microsoft.com/office/powerpoint/2010/main" val="40729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5E24EF-27B8-4188-81E7-E6B8221A19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41917967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484C8B-A0DC-4C16-B17A-A3F43E03DF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594476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44C1C-8CDB-4229-8CB5-01FBA19B3146}"/>
              </a:ext>
            </a:extLst>
          </p:cNvPr>
          <p:cNvSpPr>
            <a:spLocks noGrp="1"/>
          </p:cNvSpPr>
          <p:nvPr>
            <p:ph type="title"/>
          </p:nvPr>
        </p:nvSpPr>
        <p:spPr/>
        <p:txBody>
          <a:bodyPr/>
          <a:lstStyle/>
          <a:p>
            <a:r>
              <a:rPr lang="en-US" dirty="0"/>
              <a:t>CMM 2024-06 Projection Results</a:t>
            </a:r>
          </a:p>
        </p:txBody>
      </p:sp>
      <p:sp>
        <p:nvSpPr>
          <p:cNvPr id="3" name="Content Placeholder 2">
            <a:extLst>
              <a:ext uri="{FF2B5EF4-FFF2-40B4-BE49-F238E27FC236}">
                <a16:creationId xmlns:a16="http://schemas.microsoft.com/office/drawing/2014/main" id="{C20291C7-AE1E-48DE-9787-FE7BD534136C}"/>
              </a:ext>
            </a:extLst>
          </p:cNvPr>
          <p:cNvSpPr>
            <a:spLocks noGrp="1"/>
          </p:cNvSpPr>
          <p:nvPr>
            <p:ph idx="1"/>
          </p:nvPr>
        </p:nvSpPr>
        <p:spPr/>
        <p:txBody>
          <a:bodyPr/>
          <a:lstStyle/>
          <a:p>
            <a:r>
              <a:rPr lang="en-US" dirty="0"/>
              <a:t>Spawning Biomass Distributions</a:t>
            </a:r>
          </a:p>
          <a:p>
            <a:r>
              <a:rPr lang="en-US" dirty="0"/>
              <a:t>Rebuilding Probabilities</a:t>
            </a:r>
          </a:p>
          <a:p>
            <a:r>
              <a:rPr lang="en-US" dirty="0"/>
              <a:t>Fishing Mortality Distributions</a:t>
            </a:r>
          </a:p>
          <a:p>
            <a:r>
              <a:rPr lang="en-US" dirty="0"/>
              <a:t>Overfishing Probabilities</a:t>
            </a:r>
          </a:p>
          <a:p>
            <a:r>
              <a:rPr lang="en-US" dirty="0"/>
              <a:t>Three Periods</a:t>
            </a:r>
          </a:p>
          <a:p>
            <a:pPr lvl="1"/>
            <a:r>
              <a:rPr lang="en-US" dirty="0"/>
              <a:t>Initialization: 2021-2024</a:t>
            </a:r>
          </a:p>
          <a:p>
            <a:pPr lvl="1"/>
            <a:r>
              <a:rPr lang="en-US" dirty="0"/>
              <a:t>CMM 2024-06: 2025-2027</a:t>
            </a:r>
          </a:p>
          <a:p>
            <a:pPr lvl="1"/>
            <a:r>
              <a:rPr lang="en-US" dirty="0"/>
              <a:t>Post CMM 2024-06: 2028-2034 </a:t>
            </a:r>
          </a:p>
        </p:txBody>
      </p:sp>
    </p:spTree>
    <p:extLst>
      <p:ext uri="{BB962C8B-B14F-4D97-AF65-F5344CB8AC3E}">
        <p14:creationId xmlns:p14="http://schemas.microsoft.com/office/powerpoint/2010/main" val="38899162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12AD4E-9D73-4C4C-B259-23F82DB40C0F}"/>
              </a:ext>
            </a:extLst>
          </p:cNvPr>
          <p:cNvPicPr>
            <a:picLocks noChangeAspect="1"/>
          </p:cNvPicPr>
          <p:nvPr/>
        </p:nvPicPr>
        <p:blipFill>
          <a:blip r:embed="rId2"/>
          <a:stretch>
            <a:fillRect/>
          </a:stretch>
        </p:blipFill>
        <p:spPr>
          <a:xfrm>
            <a:off x="1849821" y="336331"/>
            <a:ext cx="8698998" cy="6521669"/>
          </a:xfrm>
          <a:prstGeom prst="rect">
            <a:avLst/>
          </a:prstGeom>
        </p:spPr>
      </p:pic>
    </p:spTree>
    <p:extLst>
      <p:ext uri="{BB962C8B-B14F-4D97-AF65-F5344CB8AC3E}">
        <p14:creationId xmlns:p14="http://schemas.microsoft.com/office/powerpoint/2010/main" val="577987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215A8F-B464-44CA-8CED-D899C27469CB}"/>
              </a:ext>
            </a:extLst>
          </p:cNvPr>
          <p:cNvPicPr>
            <a:picLocks noChangeAspect="1"/>
          </p:cNvPicPr>
          <p:nvPr/>
        </p:nvPicPr>
        <p:blipFill>
          <a:blip r:embed="rId2"/>
          <a:stretch>
            <a:fillRect/>
          </a:stretch>
        </p:blipFill>
        <p:spPr>
          <a:xfrm>
            <a:off x="1797148" y="407167"/>
            <a:ext cx="8597703" cy="6450833"/>
          </a:xfrm>
          <a:prstGeom prst="rect">
            <a:avLst/>
          </a:prstGeom>
        </p:spPr>
      </p:pic>
    </p:spTree>
    <p:extLst>
      <p:ext uri="{BB962C8B-B14F-4D97-AF65-F5344CB8AC3E}">
        <p14:creationId xmlns:p14="http://schemas.microsoft.com/office/powerpoint/2010/main" val="34357446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FA12F7-ACA5-4A5D-BF85-173FE7E82946}"/>
              </a:ext>
            </a:extLst>
          </p:cNvPr>
          <p:cNvPicPr>
            <a:picLocks noChangeAspect="1"/>
          </p:cNvPicPr>
          <p:nvPr/>
        </p:nvPicPr>
        <p:blipFill>
          <a:blip r:embed="rId2"/>
          <a:stretch>
            <a:fillRect/>
          </a:stretch>
        </p:blipFill>
        <p:spPr>
          <a:xfrm>
            <a:off x="1763943" y="357352"/>
            <a:ext cx="8664113" cy="6500648"/>
          </a:xfrm>
          <a:prstGeom prst="rect">
            <a:avLst/>
          </a:prstGeom>
        </p:spPr>
      </p:pic>
    </p:spTree>
    <p:extLst>
      <p:ext uri="{BB962C8B-B14F-4D97-AF65-F5344CB8AC3E}">
        <p14:creationId xmlns:p14="http://schemas.microsoft.com/office/powerpoint/2010/main" val="34462185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57968B-FCB9-4633-A183-34935CC6547F}"/>
              </a:ext>
            </a:extLst>
          </p:cNvPr>
          <p:cNvPicPr>
            <a:picLocks noChangeAspect="1"/>
          </p:cNvPicPr>
          <p:nvPr/>
        </p:nvPicPr>
        <p:blipFill>
          <a:blip r:embed="rId2"/>
          <a:stretch>
            <a:fillRect/>
          </a:stretch>
        </p:blipFill>
        <p:spPr>
          <a:xfrm>
            <a:off x="1755227" y="346840"/>
            <a:ext cx="8681545" cy="6511160"/>
          </a:xfrm>
          <a:prstGeom prst="rect">
            <a:avLst/>
          </a:prstGeom>
        </p:spPr>
      </p:pic>
    </p:spTree>
    <p:extLst>
      <p:ext uri="{BB962C8B-B14F-4D97-AF65-F5344CB8AC3E}">
        <p14:creationId xmlns:p14="http://schemas.microsoft.com/office/powerpoint/2010/main" val="3998426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5F1C88-2CFC-4CFF-9AE9-A74C9A4E9E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0483" y="354724"/>
            <a:ext cx="8671034" cy="6503276"/>
          </a:xfrm>
          <a:prstGeom prst="rect">
            <a:avLst/>
          </a:prstGeom>
        </p:spPr>
      </p:pic>
    </p:spTree>
    <p:extLst>
      <p:ext uri="{BB962C8B-B14F-4D97-AF65-F5344CB8AC3E}">
        <p14:creationId xmlns:p14="http://schemas.microsoft.com/office/powerpoint/2010/main" val="24859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FBE467-6AB0-4D7E-AF0F-E46E4F3C3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pic>
        <p:nvPicPr>
          <p:cNvPr id="5" name="Picture 4">
            <a:extLst>
              <a:ext uri="{FF2B5EF4-FFF2-40B4-BE49-F238E27FC236}">
                <a16:creationId xmlns:a16="http://schemas.microsoft.com/office/drawing/2014/main" id="{7D72D1C0-92E5-48F7-A54B-6E1E9E11E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9241" y="367862"/>
            <a:ext cx="8653517" cy="6490138"/>
          </a:xfrm>
          <a:prstGeom prst="rect">
            <a:avLst/>
          </a:prstGeom>
        </p:spPr>
      </p:pic>
    </p:spTree>
    <p:extLst>
      <p:ext uri="{BB962C8B-B14F-4D97-AF65-F5344CB8AC3E}">
        <p14:creationId xmlns:p14="http://schemas.microsoft.com/office/powerpoint/2010/main" val="1458542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5E1F26-34AF-44D5-91DA-85F5C1B30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3696" y="299544"/>
            <a:ext cx="8744607" cy="6558456"/>
          </a:xfrm>
          <a:prstGeom prst="rect">
            <a:avLst/>
          </a:prstGeom>
        </p:spPr>
      </p:pic>
    </p:spTree>
    <p:extLst>
      <p:ext uri="{BB962C8B-B14F-4D97-AF65-F5344CB8AC3E}">
        <p14:creationId xmlns:p14="http://schemas.microsoft.com/office/powerpoint/2010/main" val="1731947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DDF58E6-EE7C-42BC-AE1A-52657CAF9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9972" y="338959"/>
            <a:ext cx="8692055" cy="6519041"/>
          </a:xfrm>
          <a:prstGeom prst="rect">
            <a:avLst/>
          </a:prstGeom>
        </p:spPr>
      </p:pic>
    </p:spTree>
    <p:extLst>
      <p:ext uri="{BB962C8B-B14F-4D97-AF65-F5344CB8AC3E}">
        <p14:creationId xmlns:p14="http://schemas.microsoft.com/office/powerpoint/2010/main" val="12239129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DA1954-73AB-4E02-B1E8-DB8932361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9971" y="338958"/>
            <a:ext cx="8692057" cy="6519042"/>
          </a:xfrm>
          <a:prstGeom prst="rect">
            <a:avLst/>
          </a:prstGeom>
        </p:spPr>
      </p:pic>
    </p:spTree>
    <p:extLst>
      <p:ext uri="{BB962C8B-B14F-4D97-AF65-F5344CB8AC3E}">
        <p14:creationId xmlns:p14="http://schemas.microsoft.com/office/powerpoint/2010/main" val="22011206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64529E-5EC9-4C06-8DA7-B6E3DAA7D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0483" y="354724"/>
            <a:ext cx="8671034" cy="6503276"/>
          </a:xfrm>
          <a:prstGeom prst="rect">
            <a:avLst/>
          </a:prstGeom>
        </p:spPr>
      </p:pic>
    </p:spTree>
    <p:extLst>
      <p:ext uri="{BB962C8B-B14F-4D97-AF65-F5344CB8AC3E}">
        <p14:creationId xmlns:p14="http://schemas.microsoft.com/office/powerpoint/2010/main" val="17623446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B37A0D-145F-487C-97BE-84BA881A2B0B}"/>
              </a:ext>
            </a:extLst>
          </p:cNvPr>
          <p:cNvPicPr>
            <a:picLocks noChangeAspect="1"/>
          </p:cNvPicPr>
          <p:nvPr/>
        </p:nvPicPr>
        <p:blipFill>
          <a:blip r:embed="rId2"/>
          <a:stretch>
            <a:fillRect/>
          </a:stretch>
        </p:blipFill>
        <p:spPr>
          <a:xfrm>
            <a:off x="1805788" y="417587"/>
            <a:ext cx="8580424" cy="6440413"/>
          </a:xfrm>
          <a:prstGeom prst="rect">
            <a:avLst/>
          </a:prstGeom>
        </p:spPr>
      </p:pic>
    </p:spTree>
    <p:extLst>
      <p:ext uri="{BB962C8B-B14F-4D97-AF65-F5344CB8AC3E}">
        <p14:creationId xmlns:p14="http://schemas.microsoft.com/office/powerpoint/2010/main" val="11563663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3D15DA-7ED1-4572-8DEF-1266F7E4C3FF}"/>
              </a:ext>
            </a:extLst>
          </p:cNvPr>
          <p:cNvPicPr>
            <a:picLocks noChangeAspect="1"/>
          </p:cNvPicPr>
          <p:nvPr/>
        </p:nvPicPr>
        <p:blipFill>
          <a:blip r:embed="rId2"/>
          <a:stretch>
            <a:fillRect/>
          </a:stretch>
        </p:blipFill>
        <p:spPr>
          <a:xfrm>
            <a:off x="1760353" y="349356"/>
            <a:ext cx="8671293" cy="6508644"/>
          </a:xfrm>
          <a:prstGeom prst="rect">
            <a:avLst/>
          </a:prstGeom>
        </p:spPr>
      </p:pic>
    </p:spTree>
    <p:extLst>
      <p:ext uri="{BB962C8B-B14F-4D97-AF65-F5344CB8AC3E}">
        <p14:creationId xmlns:p14="http://schemas.microsoft.com/office/powerpoint/2010/main" val="4713182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D078B5-C6AB-41B4-83ED-CF7B06BA8892}"/>
              </a:ext>
            </a:extLst>
          </p:cNvPr>
          <p:cNvPicPr>
            <a:picLocks noChangeAspect="1"/>
          </p:cNvPicPr>
          <p:nvPr/>
        </p:nvPicPr>
        <p:blipFill>
          <a:blip r:embed="rId2"/>
          <a:stretch>
            <a:fillRect/>
          </a:stretch>
        </p:blipFill>
        <p:spPr>
          <a:xfrm>
            <a:off x="1744717" y="331074"/>
            <a:ext cx="8702565" cy="6526926"/>
          </a:xfrm>
          <a:prstGeom prst="rect">
            <a:avLst/>
          </a:prstGeom>
        </p:spPr>
      </p:pic>
    </p:spTree>
    <p:extLst>
      <p:ext uri="{BB962C8B-B14F-4D97-AF65-F5344CB8AC3E}">
        <p14:creationId xmlns:p14="http://schemas.microsoft.com/office/powerpoint/2010/main" val="5581179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05399B5-1616-466B-AD32-B912AA930F37}"/>
              </a:ext>
            </a:extLst>
          </p:cNvPr>
          <p:cNvPicPr>
            <a:picLocks noChangeAspect="1"/>
          </p:cNvPicPr>
          <p:nvPr/>
        </p:nvPicPr>
        <p:blipFill>
          <a:blip r:embed="rId2"/>
          <a:stretch>
            <a:fillRect/>
          </a:stretch>
        </p:blipFill>
        <p:spPr>
          <a:xfrm>
            <a:off x="1765738" y="357464"/>
            <a:ext cx="8660524" cy="6500536"/>
          </a:xfrm>
          <a:prstGeom prst="rect">
            <a:avLst/>
          </a:prstGeom>
        </p:spPr>
      </p:pic>
    </p:spTree>
    <p:extLst>
      <p:ext uri="{BB962C8B-B14F-4D97-AF65-F5344CB8AC3E}">
        <p14:creationId xmlns:p14="http://schemas.microsoft.com/office/powerpoint/2010/main" val="20244981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35E1EA-8C2F-4FCF-8597-6CF2F5CCA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6248" y="378373"/>
            <a:ext cx="8639503" cy="6479627"/>
          </a:xfrm>
          <a:prstGeom prst="rect">
            <a:avLst/>
          </a:prstGeom>
        </p:spPr>
      </p:pic>
    </p:spTree>
    <p:extLst>
      <p:ext uri="{BB962C8B-B14F-4D97-AF65-F5344CB8AC3E}">
        <p14:creationId xmlns:p14="http://schemas.microsoft.com/office/powerpoint/2010/main" val="35851626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B61416-53D2-4435-81BF-414A383D7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0482" y="354724"/>
            <a:ext cx="8671036" cy="6503276"/>
          </a:xfrm>
          <a:prstGeom prst="rect">
            <a:avLst/>
          </a:prstGeom>
        </p:spPr>
      </p:pic>
    </p:spTree>
    <p:extLst>
      <p:ext uri="{BB962C8B-B14F-4D97-AF65-F5344CB8AC3E}">
        <p14:creationId xmlns:p14="http://schemas.microsoft.com/office/powerpoint/2010/main" val="3161407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5EAE8A-BA13-473D-9DF5-51A8837E0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9972" y="338959"/>
            <a:ext cx="8692056" cy="6519041"/>
          </a:xfrm>
          <a:prstGeom prst="rect">
            <a:avLst/>
          </a:prstGeom>
        </p:spPr>
      </p:pic>
    </p:spTree>
    <p:extLst>
      <p:ext uri="{BB962C8B-B14F-4D97-AF65-F5344CB8AC3E}">
        <p14:creationId xmlns:p14="http://schemas.microsoft.com/office/powerpoint/2010/main" val="28496048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3F1BE-A9AF-4DDC-ABA9-161E46419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4207" y="315310"/>
            <a:ext cx="8723586" cy="6542690"/>
          </a:xfrm>
          <a:prstGeom prst="rect">
            <a:avLst/>
          </a:prstGeom>
        </p:spPr>
      </p:pic>
    </p:spTree>
    <p:extLst>
      <p:ext uri="{BB962C8B-B14F-4D97-AF65-F5344CB8AC3E}">
        <p14:creationId xmlns:p14="http://schemas.microsoft.com/office/powerpoint/2010/main" val="1337347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7327EF-95B5-4D63-A7E4-A5C2894B3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9462" y="323193"/>
            <a:ext cx="8713076" cy="6534807"/>
          </a:xfrm>
          <a:prstGeom prst="rect">
            <a:avLst/>
          </a:prstGeom>
        </p:spPr>
      </p:pic>
    </p:spTree>
    <p:extLst>
      <p:ext uri="{BB962C8B-B14F-4D97-AF65-F5344CB8AC3E}">
        <p14:creationId xmlns:p14="http://schemas.microsoft.com/office/powerpoint/2010/main" val="39310932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A62858-0229-49E5-AB6C-DBEAE1EFA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2523" y="417785"/>
            <a:ext cx="8586954" cy="6440215"/>
          </a:xfrm>
          <a:prstGeom prst="rect">
            <a:avLst/>
          </a:prstGeom>
        </p:spPr>
      </p:pic>
    </p:spTree>
    <p:extLst>
      <p:ext uri="{BB962C8B-B14F-4D97-AF65-F5344CB8AC3E}">
        <p14:creationId xmlns:p14="http://schemas.microsoft.com/office/powerpoint/2010/main" val="5251376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66DB1-2DD5-4165-9C7F-C0E9F055117D}"/>
              </a:ext>
            </a:extLst>
          </p:cNvPr>
          <p:cNvSpPr>
            <a:spLocks noGrp="1"/>
          </p:cNvSpPr>
          <p:nvPr>
            <p:ph type="title"/>
          </p:nvPr>
        </p:nvSpPr>
        <p:spPr>
          <a:xfrm>
            <a:off x="693683" y="365125"/>
            <a:ext cx="10815145" cy="1325563"/>
          </a:xfrm>
        </p:spPr>
        <p:txBody>
          <a:bodyPr/>
          <a:lstStyle/>
          <a:p>
            <a:r>
              <a:rPr lang="en-US" dirty="0"/>
              <a:t>Summary of CMM 2024-06 Projection Results</a:t>
            </a:r>
          </a:p>
        </p:txBody>
      </p:sp>
      <p:sp>
        <p:nvSpPr>
          <p:cNvPr id="3" name="Content Placeholder 2">
            <a:extLst>
              <a:ext uri="{FF2B5EF4-FFF2-40B4-BE49-F238E27FC236}">
                <a16:creationId xmlns:a16="http://schemas.microsoft.com/office/drawing/2014/main" id="{23CB317F-814E-41A5-B36F-CAA114906DE7}"/>
              </a:ext>
            </a:extLst>
          </p:cNvPr>
          <p:cNvSpPr>
            <a:spLocks noGrp="1"/>
          </p:cNvSpPr>
          <p:nvPr>
            <p:ph idx="1"/>
          </p:nvPr>
        </p:nvSpPr>
        <p:spPr>
          <a:xfrm>
            <a:off x="0" y="1608082"/>
            <a:ext cx="12192000" cy="5249918"/>
          </a:xfrm>
        </p:spPr>
        <p:txBody>
          <a:bodyPr>
            <a:normAutofit fontScale="92500"/>
          </a:bodyPr>
          <a:lstStyle/>
          <a:p>
            <a:r>
              <a:rPr lang="en-US" dirty="0"/>
              <a:t>WCNPO striped marlin likely achieved biomass target in 2023 and very likely achieved target in 2024 under each scenario</a:t>
            </a:r>
          </a:p>
          <a:p>
            <a:endParaRPr lang="en-US" dirty="0"/>
          </a:p>
          <a:p>
            <a:r>
              <a:rPr lang="en-US" dirty="0"/>
              <a:t>Factors affecting rebuilding results in comparison to 2024 rebuilding projections</a:t>
            </a:r>
          </a:p>
          <a:p>
            <a:pPr lvl="1"/>
            <a:r>
              <a:rPr lang="en-US" dirty="0"/>
              <a:t>Reduction in 2021-2024 catches of about 50% from the predicted catches in 2024 projections</a:t>
            </a:r>
          </a:p>
          <a:p>
            <a:pPr lvl="1"/>
            <a:r>
              <a:rPr lang="en-US" dirty="0"/>
              <a:t>Spawning biomass increase due to above-average 2018-2020 year classes maturing in 2021-2024</a:t>
            </a:r>
          </a:p>
          <a:p>
            <a:endParaRPr lang="en-US" dirty="0"/>
          </a:p>
          <a:p>
            <a:r>
              <a:rPr lang="en-US" dirty="0"/>
              <a:t>Allowance for carryover catches under CMM 2024-06 increases uncertainty in projected outcomes</a:t>
            </a:r>
          </a:p>
          <a:p>
            <a:endParaRPr lang="en-US" dirty="0"/>
          </a:p>
          <a:p>
            <a:r>
              <a:rPr lang="en-US" dirty="0"/>
              <a:t>Lastly noting that CMM 2024-06 states that “</a:t>
            </a:r>
            <a:r>
              <a:rPr lang="en-US" i="1" dirty="0"/>
              <a:t>this CMM shall be reviewed and amended in 2027, pending the completion of a new stock assessment conducted by the ISC.</a:t>
            </a:r>
            <a:r>
              <a:rPr lang="en-US" dirty="0"/>
              <a:t>”</a:t>
            </a:r>
          </a:p>
        </p:txBody>
      </p:sp>
    </p:spTree>
    <p:extLst>
      <p:ext uri="{BB962C8B-B14F-4D97-AF65-F5344CB8AC3E}">
        <p14:creationId xmlns:p14="http://schemas.microsoft.com/office/powerpoint/2010/main" val="12872805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F3F80-FFC2-4113-9313-4B95E8FA9111}"/>
              </a:ext>
            </a:extLst>
          </p:cNvPr>
          <p:cNvSpPr>
            <a:spLocks noGrp="1"/>
          </p:cNvSpPr>
          <p:nvPr>
            <p:ph type="title"/>
          </p:nvPr>
        </p:nvSpPr>
        <p:spPr/>
        <p:txBody>
          <a:bodyPr/>
          <a:lstStyle/>
          <a:p>
            <a:pPr algn="ctr"/>
            <a:r>
              <a:rPr lang="en-US"/>
              <a:t>Auxiliary Slides</a:t>
            </a:r>
            <a:endParaRPr lang="en-US" dirty="0"/>
          </a:p>
        </p:txBody>
      </p:sp>
    </p:spTree>
    <p:extLst>
      <p:ext uri="{BB962C8B-B14F-4D97-AF65-F5344CB8AC3E}">
        <p14:creationId xmlns:p14="http://schemas.microsoft.com/office/powerpoint/2010/main" val="10778052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560988" y="0"/>
            <a:ext cx="11070022"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MLS Year Classes in 2018-2020 Were Above Short-Term Average </a:t>
            </a:r>
          </a:p>
        </p:txBody>
      </p:sp>
      <p:pic>
        <p:nvPicPr>
          <p:cNvPr id="2" name="Picture 1">
            <a:extLst>
              <a:ext uri="{FF2B5EF4-FFF2-40B4-BE49-F238E27FC236}">
                <a16:creationId xmlns:a16="http://schemas.microsoft.com/office/drawing/2014/main" id="{DA71D41D-30A5-491D-AD6B-4EBEC3B94C1C}"/>
              </a:ext>
            </a:extLst>
          </p:cNvPr>
          <p:cNvPicPr>
            <a:picLocks noChangeAspect="1"/>
          </p:cNvPicPr>
          <p:nvPr/>
        </p:nvPicPr>
        <p:blipFill>
          <a:blip r:embed="rId2"/>
          <a:stretch>
            <a:fillRect/>
          </a:stretch>
        </p:blipFill>
        <p:spPr>
          <a:xfrm>
            <a:off x="1881351" y="732070"/>
            <a:ext cx="8429296" cy="6125930"/>
          </a:xfrm>
          <a:prstGeom prst="rect">
            <a:avLst/>
          </a:prstGeom>
        </p:spPr>
      </p:pic>
    </p:spTree>
    <p:extLst>
      <p:ext uri="{BB962C8B-B14F-4D97-AF65-F5344CB8AC3E}">
        <p14:creationId xmlns:p14="http://schemas.microsoft.com/office/powerpoint/2010/main" val="29874773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FF6910-B1B5-4D4E-B81B-1E7048974DA6}"/>
              </a:ext>
            </a:extLst>
          </p:cNvPr>
          <p:cNvPicPr>
            <a:picLocks noChangeAspect="1"/>
          </p:cNvPicPr>
          <p:nvPr/>
        </p:nvPicPr>
        <p:blipFill>
          <a:blip r:embed="rId2"/>
          <a:stretch>
            <a:fillRect/>
          </a:stretch>
        </p:blipFill>
        <p:spPr>
          <a:xfrm>
            <a:off x="1908695" y="869436"/>
            <a:ext cx="8374609" cy="5959769"/>
          </a:xfrm>
          <a:prstGeom prst="rect">
            <a:avLst/>
          </a:prstGeom>
        </p:spPr>
      </p:pic>
      <p:sp>
        <p:nvSpPr>
          <p:cNvPr id="5" name="Title 1">
            <a:extLst>
              <a:ext uri="{FF2B5EF4-FFF2-40B4-BE49-F238E27FC236}">
                <a16:creationId xmlns:a16="http://schemas.microsoft.com/office/drawing/2014/main" id="{05669D09-2F3D-4274-9902-F37BF03B6178}"/>
              </a:ext>
            </a:extLst>
          </p:cNvPr>
          <p:cNvSpPr txBox="1">
            <a:spLocks/>
          </p:cNvSpPr>
          <p:nvPr/>
        </p:nvSpPr>
        <p:spPr>
          <a:xfrm>
            <a:off x="560988" y="0"/>
            <a:ext cx="11070022"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MLS Catches in 2021-2023 Were the Lowest Observed Since 1977 </a:t>
            </a:r>
          </a:p>
        </p:txBody>
      </p:sp>
    </p:spTree>
    <p:extLst>
      <p:ext uri="{BB962C8B-B14F-4D97-AF65-F5344CB8AC3E}">
        <p14:creationId xmlns:p14="http://schemas.microsoft.com/office/powerpoint/2010/main" val="7256708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What is the Abundance of the 2020 Year Class ?</a:t>
            </a:r>
          </a:p>
        </p:txBody>
      </p:sp>
      <p:pic>
        <p:nvPicPr>
          <p:cNvPr id="2" name="Picture 1">
            <a:extLst>
              <a:ext uri="{FF2B5EF4-FFF2-40B4-BE49-F238E27FC236}">
                <a16:creationId xmlns:a16="http://schemas.microsoft.com/office/drawing/2014/main" id="{4849D61F-9475-496F-AAEC-4CB3A0DC1D5C}"/>
              </a:ext>
            </a:extLst>
          </p:cNvPr>
          <p:cNvPicPr>
            <a:picLocks noChangeAspect="1"/>
          </p:cNvPicPr>
          <p:nvPr/>
        </p:nvPicPr>
        <p:blipFill>
          <a:blip r:embed="rId2"/>
          <a:stretch>
            <a:fillRect/>
          </a:stretch>
        </p:blipFill>
        <p:spPr>
          <a:xfrm>
            <a:off x="2617077" y="764305"/>
            <a:ext cx="7032730" cy="5943377"/>
          </a:xfrm>
          <a:prstGeom prst="rect">
            <a:avLst/>
          </a:prstGeom>
        </p:spPr>
      </p:pic>
    </p:spTree>
    <p:extLst>
      <p:ext uri="{BB962C8B-B14F-4D97-AF65-F5344CB8AC3E}">
        <p14:creationId xmlns:p14="http://schemas.microsoft.com/office/powerpoint/2010/main" val="8031408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F34FD8-F1E2-487E-8C89-4730F25731AE}"/>
              </a:ext>
            </a:extLst>
          </p:cNvPr>
          <p:cNvPicPr>
            <a:picLocks noChangeAspect="1"/>
          </p:cNvPicPr>
          <p:nvPr/>
        </p:nvPicPr>
        <p:blipFill>
          <a:blip r:embed="rId2"/>
          <a:stretch>
            <a:fillRect/>
          </a:stretch>
        </p:blipFill>
        <p:spPr>
          <a:xfrm>
            <a:off x="3358896" y="1110996"/>
            <a:ext cx="5474208" cy="4636008"/>
          </a:xfrm>
          <a:prstGeom prst="rect">
            <a:avLst/>
          </a:prstGeom>
        </p:spPr>
      </p:pic>
      <p:sp>
        <p:nvSpPr>
          <p:cNvPr id="5" name="Title 1">
            <a:extLst>
              <a:ext uri="{FF2B5EF4-FFF2-40B4-BE49-F238E27FC236}">
                <a16:creationId xmlns:a16="http://schemas.microsoft.com/office/drawing/2014/main" id="{1BDD3E14-CF22-4236-8246-47A1B960A8D4}"/>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What is the Abundance of the 2020 Year Class ?</a:t>
            </a:r>
          </a:p>
        </p:txBody>
      </p:sp>
    </p:spTree>
    <p:extLst>
      <p:ext uri="{BB962C8B-B14F-4D97-AF65-F5344CB8AC3E}">
        <p14:creationId xmlns:p14="http://schemas.microsoft.com/office/powerpoint/2010/main" val="12345242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2272FD61-77D9-4A4B-8691-D3A889E04F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3473" y="712592"/>
            <a:ext cx="6325054" cy="6145407"/>
          </a:xfrm>
          <a:prstGeom prst="rect">
            <a:avLst/>
          </a:prstGeom>
        </p:spPr>
      </p:pic>
    </p:spTree>
    <p:extLst>
      <p:ext uri="{BB962C8B-B14F-4D97-AF65-F5344CB8AC3E}">
        <p14:creationId xmlns:p14="http://schemas.microsoft.com/office/powerpoint/2010/main" val="36385551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5" name="Picture 4">
            <a:extLst>
              <a:ext uri="{FF2B5EF4-FFF2-40B4-BE49-F238E27FC236}">
                <a16:creationId xmlns:a16="http://schemas.microsoft.com/office/drawing/2014/main" id="{964F877C-5450-4B03-A382-DCF90E17D3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750" y="714703"/>
            <a:ext cx="6758748" cy="6143296"/>
          </a:xfrm>
          <a:prstGeom prst="rect">
            <a:avLst/>
          </a:prstGeom>
        </p:spPr>
      </p:pic>
    </p:spTree>
    <p:extLst>
      <p:ext uri="{BB962C8B-B14F-4D97-AF65-F5344CB8AC3E}">
        <p14:creationId xmlns:p14="http://schemas.microsoft.com/office/powerpoint/2010/main" val="12817248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5" name="Picture 4">
            <a:extLst>
              <a:ext uri="{FF2B5EF4-FFF2-40B4-BE49-F238E27FC236}">
                <a16:creationId xmlns:a16="http://schemas.microsoft.com/office/drawing/2014/main" id="{CB327DC8-7700-40E5-A1F5-36A722B75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4806" y="714705"/>
            <a:ext cx="8521153" cy="6143295"/>
          </a:xfrm>
          <a:prstGeom prst="rect">
            <a:avLst/>
          </a:prstGeom>
        </p:spPr>
      </p:pic>
    </p:spTree>
    <p:extLst>
      <p:ext uri="{BB962C8B-B14F-4D97-AF65-F5344CB8AC3E}">
        <p14:creationId xmlns:p14="http://schemas.microsoft.com/office/powerpoint/2010/main" val="11668511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2001740E-17D6-4970-8F96-554ECCB12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3865" y="714703"/>
            <a:ext cx="6303664" cy="6279189"/>
          </a:xfrm>
          <a:prstGeom prst="rect">
            <a:avLst/>
          </a:prstGeom>
        </p:spPr>
      </p:pic>
    </p:spTree>
    <p:extLst>
      <p:ext uri="{BB962C8B-B14F-4D97-AF65-F5344CB8AC3E}">
        <p14:creationId xmlns:p14="http://schemas.microsoft.com/office/powerpoint/2010/main" val="30781116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DFE642F4-A00F-488B-858F-C68E585A08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4693" y="851630"/>
            <a:ext cx="5100159" cy="6006369"/>
          </a:xfrm>
          <a:prstGeom prst="rect">
            <a:avLst/>
          </a:prstGeom>
        </p:spPr>
      </p:pic>
    </p:spTree>
    <p:extLst>
      <p:ext uri="{BB962C8B-B14F-4D97-AF65-F5344CB8AC3E}">
        <p14:creationId xmlns:p14="http://schemas.microsoft.com/office/powerpoint/2010/main" val="18256213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F4CF1743-6A4F-44AB-AA27-7F8FC70EA8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4158" y="631732"/>
            <a:ext cx="5071022" cy="6226268"/>
          </a:xfrm>
          <a:prstGeom prst="rect">
            <a:avLst/>
          </a:prstGeom>
        </p:spPr>
      </p:pic>
    </p:spTree>
    <p:extLst>
      <p:ext uri="{BB962C8B-B14F-4D97-AF65-F5344CB8AC3E}">
        <p14:creationId xmlns:p14="http://schemas.microsoft.com/office/powerpoint/2010/main" val="42278446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4A2D3D-AA9B-478F-BF0A-1DB4807037F7}"/>
              </a:ext>
            </a:extLst>
          </p:cNvPr>
          <p:cNvPicPr>
            <a:picLocks noChangeAspect="1"/>
          </p:cNvPicPr>
          <p:nvPr/>
        </p:nvPicPr>
        <p:blipFill>
          <a:blip r:embed="rId2"/>
          <a:stretch>
            <a:fillRect/>
          </a:stretch>
        </p:blipFill>
        <p:spPr>
          <a:xfrm>
            <a:off x="12634" y="679512"/>
            <a:ext cx="7020917" cy="4018612"/>
          </a:xfrm>
          <a:prstGeom prst="rect">
            <a:avLst/>
          </a:prstGeom>
        </p:spPr>
      </p:pic>
      <p:pic>
        <p:nvPicPr>
          <p:cNvPr id="5" name="Picture 4">
            <a:extLst>
              <a:ext uri="{FF2B5EF4-FFF2-40B4-BE49-F238E27FC236}">
                <a16:creationId xmlns:a16="http://schemas.microsoft.com/office/drawing/2014/main" id="{D6ADEE82-6307-429E-B0DF-E48920E40773}"/>
              </a:ext>
            </a:extLst>
          </p:cNvPr>
          <p:cNvPicPr>
            <a:picLocks noChangeAspect="1"/>
          </p:cNvPicPr>
          <p:nvPr/>
        </p:nvPicPr>
        <p:blipFill>
          <a:blip r:embed="rId3"/>
          <a:stretch>
            <a:fillRect/>
          </a:stretch>
        </p:blipFill>
        <p:spPr>
          <a:xfrm>
            <a:off x="7033551" y="1406555"/>
            <a:ext cx="5160781" cy="4542299"/>
          </a:xfrm>
          <a:prstGeom prst="rect">
            <a:avLst/>
          </a:prstGeom>
        </p:spPr>
      </p:pic>
    </p:spTree>
    <p:extLst>
      <p:ext uri="{BB962C8B-B14F-4D97-AF65-F5344CB8AC3E}">
        <p14:creationId xmlns:p14="http://schemas.microsoft.com/office/powerpoint/2010/main" val="3310258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33B37E-7AA2-4F63-892D-46C1E765F2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0482" y="354723"/>
            <a:ext cx="8671036" cy="6503277"/>
          </a:xfrm>
          <a:prstGeom prst="rect">
            <a:avLst/>
          </a:prstGeom>
        </p:spPr>
      </p:pic>
    </p:spTree>
    <p:extLst>
      <p:ext uri="{BB962C8B-B14F-4D97-AF65-F5344CB8AC3E}">
        <p14:creationId xmlns:p14="http://schemas.microsoft.com/office/powerpoint/2010/main" val="31232754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FBA505-0A1C-4571-887B-E2147BA11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pic>
        <p:nvPicPr>
          <p:cNvPr id="5" name="Picture 4">
            <a:extLst>
              <a:ext uri="{FF2B5EF4-FFF2-40B4-BE49-F238E27FC236}">
                <a16:creationId xmlns:a16="http://schemas.microsoft.com/office/drawing/2014/main" id="{4C1A08A5-0309-43EF-8BA8-7F6255B6EF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1503" y="386255"/>
            <a:ext cx="8628994" cy="6471745"/>
          </a:xfrm>
          <a:prstGeom prst="rect">
            <a:avLst/>
          </a:prstGeom>
        </p:spPr>
      </p:pic>
    </p:spTree>
    <p:extLst>
      <p:ext uri="{BB962C8B-B14F-4D97-AF65-F5344CB8AC3E}">
        <p14:creationId xmlns:p14="http://schemas.microsoft.com/office/powerpoint/2010/main" val="20387720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DC551A-32A5-4DD3-A153-EDFD9203C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9972" y="338959"/>
            <a:ext cx="8692055" cy="6519041"/>
          </a:xfrm>
          <a:prstGeom prst="rect">
            <a:avLst/>
          </a:prstGeom>
        </p:spPr>
      </p:pic>
    </p:spTree>
    <p:extLst>
      <p:ext uri="{BB962C8B-B14F-4D97-AF65-F5344CB8AC3E}">
        <p14:creationId xmlns:p14="http://schemas.microsoft.com/office/powerpoint/2010/main" val="21952108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AF6C84-C43D-4F27-BB95-DB863F83D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8936257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A8F631-589B-43A2-880F-5078E94FB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8171" y="832938"/>
            <a:ext cx="7315215" cy="5486411"/>
          </a:xfrm>
          <a:prstGeom prst="rect">
            <a:avLst/>
          </a:prstGeom>
        </p:spPr>
      </p:pic>
    </p:spTree>
    <p:extLst>
      <p:ext uri="{BB962C8B-B14F-4D97-AF65-F5344CB8AC3E}">
        <p14:creationId xmlns:p14="http://schemas.microsoft.com/office/powerpoint/2010/main" val="28497885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FDF0F8-D838-4750-BA3E-ABF7D0A60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482908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AE2EC8-007F-4B1C-80FC-4574CD9CA437}"/>
              </a:ext>
            </a:extLst>
          </p:cNvPr>
          <p:cNvPicPr>
            <a:picLocks noChangeAspect="1"/>
          </p:cNvPicPr>
          <p:nvPr/>
        </p:nvPicPr>
        <p:blipFill>
          <a:blip r:embed="rId2"/>
          <a:stretch>
            <a:fillRect/>
          </a:stretch>
        </p:blipFill>
        <p:spPr>
          <a:xfrm>
            <a:off x="2764698" y="714702"/>
            <a:ext cx="6652570" cy="5465381"/>
          </a:xfrm>
          <a:prstGeom prst="rect">
            <a:avLst/>
          </a:prstGeom>
        </p:spPr>
      </p:pic>
    </p:spTree>
    <p:extLst>
      <p:ext uri="{BB962C8B-B14F-4D97-AF65-F5344CB8AC3E}">
        <p14:creationId xmlns:p14="http://schemas.microsoft.com/office/powerpoint/2010/main" val="13692711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1FFC9E-595F-483D-875C-DCE4FB05879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5972" y="1008993"/>
            <a:ext cx="11740055" cy="5596759"/>
          </a:xfrm>
          <a:prstGeom prst="rect">
            <a:avLst/>
          </a:prstGeom>
          <a:noFill/>
          <a:ln>
            <a:noFill/>
          </a:ln>
        </p:spPr>
      </p:pic>
      <p:sp>
        <p:nvSpPr>
          <p:cNvPr id="4" name="Title 1">
            <a:extLst>
              <a:ext uri="{FF2B5EF4-FFF2-40B4-BE49-F238E27FC236}">
                <a16:creationId xmlns:a16="http://schemas.microsoft.com/office/drawing/2014/main" id="{992E170D-8CFF-4E57-9FED-43ED07947793}"/>
              </a:ext>
            </a:extLst>
          </p:cNvPr>
          <p:cNvSpPr>
            <a:spLocks noGrp="1"/>
          </p:cNvSpPr>
          <p:nvPr>
            <p:ph type="title"/>
          </p:nvPr>
        </p:nvSpPr>
        <p:spPr>
          <a:xfrm>
            <a:off x="0" y="0"/>
            <a:ext cx="12192000" cy="738188"/>
          </a:xfrm>
        </p:spPr>
        <p:txBody>
          <a:bodyPr>
            <a:normAutofit fontScale="90000"/>
          </a:bodyPr>
          <a:lstStyle/>
          <a:p>
            <a:pPr algn="ctr"/>
            <a:r>
              <a:rPr lang="en-US" sz="4000" dirty="0"/>
              <a:t>Apportion MLS Catch to Fleet Groups from the 2023 Assessment</a:t>
            </a:r>
          </a:p>
        </p:txBody>
      </p:sp>
    </p:spTree>
    <p:extLst>
      <p:ext uri="{BB962C8B-B14F-4D97-AF65-F5344CB8AC3E}">
        <p14:creationId xmlns:p14="http://schemas.microsoft.com/office/powerpoint/2010/main" val="36875769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Japan</a:t>
            </a:r>
          </a:p>
        </p:txBody>
      </p:sp>
      <p:pic>
        <p:nvPicPr>
          <p:cNvPr id="3" name="Picture 2">
            <a:extLst>
              <a:ext uri="{FF2B5EF4-FFF2-40B4-BE49-F238E27FC236}">
                <a16:creationId xmlns:a16="http://schemas.microsoft.com/office/drawing/2014/main" id="{114C4E13-7F9C-4D9A-AECA-D44E17F833E7}"/>
              </a:ext>
            </a:extLst>
          </p:cNvPr>
          <p:cNvPicPr>
            <a:picLocks noChangeAspect="1"/>
          </p:cNvPicPr>
          <p:nvPr/>
        </p:nvPicPr>
        <p:blipFill>
          <a:blip r:embed="rId2"/>
          <a:stretch>
            <a:fillRect/>
          </a:stretch>
        </p:blipFill>
        <p:spPr>
          <a:xfrm>
            <a:off x="2938231" y="646499"/>
            <a:ext cx="6315538" cy="6211501"/>
          </a:xfrm>
          <a:prstGeom prst="rect">
            <a:avLst/>
          </a:prstGeom>
        </p:spPr>
      </p:pic>
    </p:spTree>
    <p:extLst>
      <p:ext uri="{BB962C8B-B14F-4D97-AF65-F5344CB8AC3E}">
        <p14:creationId xmlns:p14="http://schemas.microsoft.com/office/powerpoint/2010/main" val="11042331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the United States</a:t>
            </a:r>
          </a:p>
        </p:txBody>
      </p:sp>
      <p:pic>
        <p:nvPicPr>
          <p:cNvPr id="5" name="Picture 4">
            <a:extLst>
              <a:ext uri="{FF2B5EF4-FFF2-40B4-BE49-F238E27FC236}">
                <a16:creationId xmlns:a16="http://schemas.microsoft.com/office/drawing/2014/main" id="{6F0F6F5B-C7E6-49B2-B86F-771F24ABFC02}"/>
              </a:ext>
            </a:extLst>
          </p:cNvPr>
          <p:cNvPicPr>
            <a:picLocks noChangeAspect="1"/>
          </p:cNvPicPr>
          <p:nvPr/>
        </p:nvPicPr>
        <p:blipFill>
          <a:blip r:embed="rId2"/>
          <a:stretch>
            <a:fillRect/>
          </a:stretch>
        </p:blipFill>
        <p:spPr>
          <a:xfrm>
            <a:off x="2977540" y="617662"/>
            <a:ext cx="6236917" cy="6240338"/>
          </a:xfrm>
          <a:prstGeom prst="rect">
            <a:avLst/>
          </a:prstGeom>
        </p:spPr>
      </p:pic>
    </p:spTree>
    <p:extLst>
      <p:ext uri="{BB962C8B-B14F-4D97-AF65-F5344CB8AC3E}">
        <p14:creationId xmlns:p14="http://schemas.microsoft.com/office/powerpoint/2010/main" val="3232702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2025</TotalTime>
  <Words>1151</Words>
  <Application>Microsoft Office PowerPoint</Application>
  <PresentationFormat>Widescreen</PresentationFormat>
  <Paragraphs>219</Paragraphs>
  <Slides>77</Slides>
  <Notes>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77</vt:i4>
      </vt:variant>
    </vt:vector>
  </HeadingPairs>
  <TitlesOfParts>
    <vt:vector size="82" baseType="lpstr">
      <vt:lpstr>Arial</vt:lpstr>
      <vt:lpstr>Calibri</vt:lpstr>
      <vt:lpstr>Calibri Light</vt:lpstr>
      <vt:lpstr>Office Theme</vt:lpstr>
      <vt:lpstr>SPW 15.0 Graph</vt:lpstr>
      <vt:lpstr>Stock Projections to Rebuild  WCNPO Striped Marlin  Under WCPFC CMM 2024-06</vt:lpstr>
      <vt:lpstr>Open Science with Documentation and Reproducibility  for the ISC Billfish Working Group</vt:lpstr>
      <vt:lpstr>Rebuilding Target</vt:lpstr>
      <vt:lpstr>Fishing Mortality</vt:lpstr>
      <vt:lpstr>Long-Term Stock-Recruitment Curve from 2023 Assessment</vt:lpstr>
      <vt:lpstr>Stock-Recruitment Relationship from 2023 Assessment</vt:lpstr>
      <vt:lpstr>CMM 2024-06 Revision to CMM 2010-01 for WCNPO Striped Marlin</vt:lpstr>
      <vt:lpstr>Scenario 1. Baseline CMM 2024-06 Catch Limits at 2,400 mt</vt:lpstr>
      <vt:lpstr>Scenario 2. CMM 2024-06 Catch Limits with 2025 Carryover Catch</vt:lpstr>
      <vt:lpstr>Scenario 3. CMM 2024-06 Catch Limits with 2025-2026 Carryover Catch</vt:lpstr>
      <vt:lpstr>CMM 2024-06 Projection Model Configuration</vt:lpstr>
      <vt:lpstr>Initial Conditions Bootstrap Distribution of Initial Population Size</vt:lpstr>
      <vt:lpstr>Recruitment Stock-Recruitment Pattern from 2023 Assessment</vt:lpstr>
      <vt:lpstr>Recruitment Trend for Short- and Medium-Term Models</vt:lpstr>
      <vt:lpstr>Process Error Simulated Natural Mortality at Age</vt:lpstr>
      <vt:lpstr>Fleet Groups Japanese Longline Quarter 2 – Area 1  Fleet Group 3</vt:lpstr>
      <vt:lpstr>Japanese Driftnet Fleet Group 7</vt:lpstr>
      <vt:lpstr>Hawaii Longline  Fleet Group 8</vt:lpstr>
      <vt:lpstr>Taiwanese Longline  Fleet Group 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CMM 2024-06 Projection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of CMM 2024-06 Projection Results</vt:lpstr>
      <vt:lpstr>Auxiliary Slides</vt:lpstr>
      <vt:lpstr>PowerPoint Presentation</vt:lpstr>
      <vt:lpstr>PowerPoint Presentation</vt:lpstr>
      <vt:lpstr>PowerPoint Presentation</vt:lpstr>
      <vt:lpstr>PowerPoint Presentation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Apportion MLS Catch to Fleet Groups from the 2023 Assessment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Brodziak</dc:creator>
  <cp:lastModifiedBy>Jon Brodziak</cp:lastModifiedBy>
  <cp:revision>203</cp:revision>
  <cp:lastPrinted>2025-04-01T02:04:17Z</cp:lastPrinted>
  <dcterms:created xsi:type="dcterms:W3CDTF">2025-03-12T03:22:33Z</dcterms:created>
  <dcterms:modified xsi:type="dcterms:W3CDTF">2025-05-09T23:45:12Z</dcterms:modified>
</cp:coreProperties>
</file>