
<file path=[Content_Types].xml><?xml version="1.0" encoding="utf-8"?>
<Types xmlns="http://schemas.openxmlformats.org/package/2006/content-types">
  <Default Extension="emf" ContentType="image/x-emf"/>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59"/>
  </p:notesMasterIdLst>
  <p:sldIdLst>
    <p:sldId id="256" r:id="rId2"/>
    <p:sldId id="715" r:id="rId3"/>
    <p:sldId id="643" r:id="rId4"/>
    <p:sldId id="318" r:id="rId5"/>
    <p:sldId id="257" r:id="rId6"/>
    <p:sldId id="258" r:id="rId7"/>
    <p:sldId id="259" r:id="rId8"/>
    <p:sldId id="670" r:id="rId9"/>
    <p:sldId id="290" r:id="rId10"/>
    <p:sldId id="295" r:id="rId11"/>
    <p:sldId id="296" r:id="rId12"/>
    <p:sldId id="306" r:id="rId13"/>
    <p:sldId id="324" r:id="rId14"/>
    <p:sldId id="325" r:id="rId15"/>
    <p:sldId id="674" r:id="rId16"/>
    <p:sldId id="675" r:id="rId17"/>
    <p:sldId id="676" r:id="rId18"/>
    <p:sldId id="677" r:id="rId19"/>
    <p:sldId id="678" r:id="rId20"/>
    <p:sldId id="679" r:id="rId21"/>
    <p:sldId id="672" r:id="rId22"/>
    <p:sldId id="680" r:id="rId23"/>
    <p:sldId id="673" r:id="rId24"/>
    <p:sldId id="671" r:id="rId25"/>
    <p:sldId id="684" r:id="rId26"/>
    <p:sldId id="685" r:id="rId27"/>
    <p:sldId id="681" r:id="rId28"/>
    <p:sldId id="321" r:id="rId29"/>
    <p:sldId id="299" r:id="rId30"/>
    <p:sldId id="298" r:id="rId31"/>
    <p:sldId id="319" r:id="rId32"/>
    <p:sldId id="300" r:id="rId33"/>
    <p:sldId id="297" r:id="rId34"/>
    <p:sldId id="305" r:id="rId35"/>
    <p:sldId id="682" r:id="rId36"/>
    <p:sldId id="302" r:id="rId37"/>
    <p:sldId id="308" r:id="rId38"/>
    <p:sldId id="309" r:id="rId39"/>
    <p:sldId id="303" r:id="rId40"/>
    <p:sldId id="304" r:id="rId41"/>
    <p:sldId id="683" r:id="rId42"/>
    <p:sldId id="310" r:id="rId43"/>
    <p:sldId id="315" r:id="rId44"/>
    <p:sldId id="316" r:id="rId45"/>
    <p:sldId id="311" r:id="rId46"/>
    <p:sldId id="312" r:id="rId47"/>
    <p:sldId id="313" r:id="rId48"/>
    <p:sldId id="317" r:id="rId49"/>
    <p:sldId id="279" r:id="rId50"/>
    <p:sldId id="289" r:id="rId51"/>
    <p:sldId id="291" r:id="rId52"/>
    <p:sldId id="292" r:id="rId53"/>
    <p:sldId id="293" r:id="rId54"/>
    <p:sldId id="294" r:id="rId55"/>
    <p:sldId id="307" r:id="rId56"/>
    <p:sldId id="314" r:id="rId57"/>
    <p:sldId id="320" r:id="rId58"/>
  </p:sldIdLst>
  <p:sldSz cx="12192000" cy="6858000"/>
  <p:notesSz cx="7023100" cy="93091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005" autoAdjust="0"/>
    <p:restoredTop sz="94660"/>
  </p:normalViewPr>
  <p:slideViewPr>
    <p:cSldViewPr snapToGrid="0" showGuides="1">
      <p:cViewPr varScale="1">
        <p:scale>
          <a:sx n="52" d="100"/>
          <a:sy n="52" d="100"/>
        </p:scale>
        <p:origin x="751" y="62"/>
      </p:cViewPr>
      <p:guideLst>
        <p:guide orient="horz" pos="2160"/>
        <p:guide pos="3840"/>
      </p:guideLst>
    </p:cSldViewPr>
  </p:slideViewPr>
  <p:notesTextViewPr>
    <p:cViewPr>
      <p:scale>
        <a:sx n="1" d="1"/>
        <a:sy n="1" d="1"/>
      </p:scale>
      <p:origin x="0" y="0"/>
    </p:cViewPr>
  </p:notesTextViewPr>
  <p:sorterViewPr>
    <p:cViewPr>
      <p:scale>
        <a:sx n="42" d="100"/>
        <a:sy n="42" d="100"/>
      </p:scale>
      <p:origin x="0" y="0"/>
    </p:cViewPr>
  </p:sorter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slide" Target="slides/slide54.xml"/><Relationship Id="rId63"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5" Type="http://schemas.openxmlformats.org/officeDocument/2006/relationships/slide" Target="slides/slide4.xml"/><Relationship Id="rId61" Type="http://schemas.openxmlformats.org/officeDocument/2006/relationships/viewProps" Target="viewProps.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notesMaster" Target="notesMasters/notesMaster1.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43343" cy="467072"/>
          </a:xfrm>
          <a:prstGeom prst="rect">
            <a:avLst/>
          </a:prstGeom>
        </p:spPr>
        <p:txBody>
          <a:bodyPr vert="horz" lIns="93324" tIns="46662" rIns="93324" bIns="46662" rtlCol="0"/>
          <a:lstStyle>
            <a:lvl1pPr algn="l">
              <a:defRPr sz="1200"/>
            </a:lvl1pPr>
          </a:lstStyle>
          <a:p>
            <a:endParaRPr lang="en-US"/>
          </a:p>
        </p:txBody>
      </p:sp>
      <p:sp>
        <p:nvSpPr>
          <p:cNvPr id="3" name="Date Placeholder 2"/>
          <p:cNvSpPr>
            <a:spLocks noGrp="1"/>
          </p:cNvSpPr>
          <p:nvPr>
            <p:ph type="dt" idx="1"/>
          </p:nvPr>
        </p:nvSpPr>
        <p:spPr>
          <a:xfrm>
            <a:off x="3978132" y="0"/>
            <a:ext cx="3043343" cy="467072"/>
          </a:xfrm>
          <a:prstGeom prst="rect">
            <a:avLst/>
          </a:prstGeom>
        </p:spPr>
        <p:txBody>
          <a:bodyPr vert="horz" lIns="93324" tIns="46662" rIns="93324" bIns="46662" rtlCol="0"/>
          <a:lstStyle>
            <a:lvl1pPr algn="r">
              <a:defRPr sz="1200"/>
            </a:lvl1pPr>
          </a:lstStyle>
          <a:p>
            <a:fld id="{BC031577-5721-4099-A8DD-A5FBA8B6DDB0}" type="datetimeFigureOut">
              <a:rPr lang="en-US" smtClean="0"/>
              <a:t>4/25/2025</a:t>
            </a:fld>
            <a:endParaRPr lang="en-US"/>
          </a:p>
        </p:txBody>
      </p:sp>
      <p:sp>
        <p:nvSpPr>
          <p:cNvPr id="4" name="Slide Image Placeholder 3"/>
          <p:cNvSpPr>
            <a:spLocks noGrp="1" noRot="1" noChangeAspect="1"/>
          </p:cNvSpPr>
          <p:nvPr>
            <p:ph type="sldImg" idx="2"/>
          </p:nvPr>
        </p:nvSpPr>
        <p:spPr>
          <a:xfrm>
            <a:off x="719138" y="1163638"/>
            <a:ext cx="5584825" cy="3141662"/>
          </a:xfrm>
          <a:prstGeom prst="rect">
            <a:avLst/>
          </a:prstGeom>
          <a:noFill/>
          <a:ln w="12700">
            <a:solidFill>
              <a:prstClr val="black"/>
            </a:solidFill>
          </a:ln>
        </p:spPr>
        <p:txBody>
          <a:bodyPr vert="horz" lIns="93324" tIns="46662" rIns="93324" bIns="46662" rtlCol="0" anchor="ctr"/>
          <a:lstStyle/>
          <a:p>
            <a:endParaRPr lang="en-US"/>
          </a:p>
        </p:txBody>
      </p:sp>
      <p:sp>
        <p:nvSpPr>
          <p:cNvPr id="5" name="Notes Placeholder 4"/>
          <p:cNvSpPr>
            <a:spLocks noGrp="1"/>
          </p:cNvSpPr>
          <p:nvPr>
            <p:ph type="body" sz="quarter" idx="3"/>
          </p:nvPr>
        </p:nvSpPr>
        <p:spPr>
          <a:xfrm>
            <a:off x="702310" y="4480004"/>
            <a:ext cx="5618480" cy="3665458"/>
          </a:xfrm>
          <a:prstGeom prst="rect">
            <a:avLst/>
          </a:prstGeom>
        </p:spPr>
        <p:txBody>
          <a:bodyPr vert="horz" lIns="93324" tIns="46662" rIns="93324" bIns="46662"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842030"/>
            <a:ext cx="3043343" cy="467071"/>
          </a:xfrm>
          <a:prstGeom prst="rect">
            <a:avLst/>
          </a:prstGeom>
        </p:spPr>
        <p:txBody>
          <a:bodyPr vert="horz" lIns="93324" tIns="46662" rIns="93324" bIns="46662" rtlCol="0" anchor="b"/>
          <a:lstStyle>
            <a:lvl1pPr algn="l">
              <a:defRPr sz="1200"/>
            </a:lvl1pPr>
          </a:lstStyle>
          <a:p>
            <a:endParaRPr lang="en-US"/>
          </a:p>
        </p:txBody>
      </p:sp>
      <p:sp>
        <p:nvSpPr>
          <p:cNvPr id="7" name="Slide Number Placeholder 6"/>
          <p:cNvSpPr>
            <a:spLocks noGrp="1"/>
          </p:cNvSpPr>
          <p:nvPr>
            <p:ph type="sldNum" sz="quarter" idx="5"/>
          </p:nvPr>
        </p:nvSpPr>
        <p:spPr>
          <a:xfrm>
            <a:off x="3978132" y="8842030"/>
            <a:ext cx="3043343" cy="467071"/>
          </a:xfrm>
          <a:prstGeom prst="rect">
            <a:avLst/>
          </a:prstGeom>
        </p:spPr>
        <p:txBody>
          <a:bodyPr vert="horz" lIns="93324" tIns="46662" rIns="93324" bIns="46662" rtlCol="0" anchor="b"/>
          <a:lstStyle>
            <a:lvl1pPr algn="r">
              <a:defRPr sz="1200"/>
            </a:lvl1pPr>
          </a:lstStyle>
          <a:p>
            <a:fld id="{E09054BB-462B-4B97-BD91-75B19DEDED3E}" type="slidenum">
              <a:rPr lang="en-US" smtClean="0"/>
              <a:t>‹#›</a:t>
            </a:fld>
            <a:endParaRPr lang="en-US"/>
          </a:p>
        </p:txBody>
      </p:sp>
    </p:spTree>
    <p:extLst>
      <p:ext uri="{BB962C8B-B14F-4D97-AF65-F5344CB8AC3E}">
        <p14:creationId xmlns:p14="http://schemas.microsoft.com/office/powerpoint/2010/main" val="404617576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p:cNvGrpSpPr/>
        <p:nvPr/>
      </p:nvGrpSpPr>
      <p:grpSpPr>
        <a:xfrm>
          <a:off x="0" y="0"/>
          <a:ext cx="0" cy="0"/>
          <a:chOff x="0" y="0"/>
          <a:chExt cx="0" cy="0"/>
        </a:xfrm>
      </p:grpSpPr>
      <p:sp>
        <p:nvSpPr>
          <p:cNvPr id="51" name="Google Shape;51;p:notes"/>
          <p:cNvSpPr>
            <a:spLocks noGrp="1" noRot="1" noChangeAspect="1"/>
          </p:cNvSpPr>
          <p:nvPr>
            <p:ph type="sldImg" idx="2"/>
          </p:nvPr>
        </p:nvSpPr>
        <p:spPr>
          <a:xfrm>
            <a:off x="407988" y="698500"/>
            <a:ext cx="6207125" cy="3490913"/>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p:notes"/>
          <p:cNvSpPr txBox="1">
            <a:spLocks noGrp="1"/>
          </p:cNvSpPr>
          <p:nvPr>
            <p:ph type="body" idx="1"/>
          </p:nvPr>
        </p:nvSpPr>
        <p:spPr>
          <a:xfrm>
            <a:off x="702310" y="4421823"/>
            <a:ext cx="5618480" cy="4189095"/>
          </a:xfrm>
          <a:prstGeom prst="rect">
            <a:avLst/>
          </a:prstGeom>
        </p:spPr>
        <p:txBody>
          <a:bodyPr spcFirstLastPara="1" wrap="square" lIns="93308" tIns="93308" rIns="93308" bIns="93308" anchor="t" anchorCtr="0">
            <a:noAutofit/>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7"/>
        <p:cNvGrpSpPr/>
        <p:nvPr/>
      </p:nvGrpSpPr>
      <p:grpSpPr>
        <a:xfrm>
          <a:off x="0" y="0"/>
          <a:ext cx="0" cy="0"/>
          <a:chOff x="0" y="0"/>
          <a:chExt cx="0" cy="0"/>
        </a:xfrm>
      </p:grpSpPr>
      <p:sp>
        <p:nvSpPr>
          <p:cNvPr id="58" name="Google Shape;58;g324be3cb2ee_0_1:notes"/>
          <p:cNvSpPr>
            <a:spLocks noGrp="1" noRot="1" noChangeAspect="1"/>
          </p:cNvSpPr>
          <p:nvPr>
            <p:ph type="sldImg" idx="2"/>
          </p:nvPr>
        </p:nvSpPr>
        <p:spPr>
          <a:xfrm>
            <a:off x="407988" y="698500"/>
            <a:ext cx="6207125" cy="3490913"/>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9" name="Google Shape;59;g324be3cb2ee_0_1:notes"/>
          <p:cNvSpPr txBox="1">
            <a:spLocks noGrp="1"/>
          </p:cNvSpPr>
          <p:nvPr>
            <p:ph type="body" idx="1"/>
          </p:nvPr>
        </p:nvSpPr>
        <p:spPr>
          <a:xfrm>
            <a:off x="702310" y="4421823"/>
            <a:ext cx="5618480" cy="4189095"/>
          </a:xfrm>
          <a:prstGeom prst="rect">
            <a:avLst/>
          </a:prstGeom>
        </p:spPr>
        <p:txBody>
          <a:bodyPr spcFirstLastPara="1" wrap="square" lIns="93308" tIns="93308" rIns="93308" bIns="93308" anchor="t" anchorCtr="0">
            <a:noAutofit/>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4"/>
        <p:cNvGrpSpPr/>
        <p:nvPr/>
      </p:nvGrpSpPr>
      <p:grpSpPr>
        <a:xfrm>
          <a:off x="0" y="0"/>
          <a:ext cx="0" cy="0"/>
          <a:chOff x="0" y="0"/>
          <a:chExt cx="0" cy="0"/>
        </a:xfrm>
      </p:grpSpPr>
      <p:sp>
        <p:nvSpPr>
          <p:cNvPr id="65" name="Google Shape;65;g324be3cb2ee_0_8:notes"/>
          <p:cNvSpPr>
            <a:spLocks noGrp="1" noRot="1" noChangeAspect="1"/>
          </p:cNvSpPr>
          <p:nvPr>
            <p:ph type="sldImg" idx="2"/>
          </p:nvPr>
        </p:nvSpPr>
        <p:spPr>
          <a:xfrm>
            <a:off x="407988" y="698500"/>
            <a:ext cx="6207125" cy="3490913"/>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6" name="Google Shape;66;g324be3cb2ee_0_8:notes"/>
          <p:cNvSpPr txBox="1">
            <a:spLocks noGrp="1"/>
          </p:cNvSpPr>
          <p:nvPr>
            <p:ph type="body" idx="1"/>
          </p:nvPr>
        </p:nvSpPr>
        <p:spPr>
          <a:xfrm>
            <a:off x="702310" y="4421823"/>
            <a:ext cx="5618480" cy="4189095"/>
          </a:xfrm>
          <a:prstGeom prst="rect">
            <a:avLst/>
          </a:prstGeom>
        </p:spPr>
        <p:txBody>
          <a:bodyPr spcFirstLastPara="1" wrap="square" lIns="93308" tIns="93308" rIns="93308" bIns="93308" anchor="t" anchorCtr="0">
            <a:noAutofit/>
          </a:bodyPr>
          <a:lstStyle/>
          <a:p>
            <a:endParaRPr dirty="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1"/>
        <p:cNvGrpSpPr/>
        <p:nvPr/>
      </p:nvGrpSpPr>
      <p:grpSpPr>
        <a:xfrm>
          <a:off x="0" y="0"/>
          <a:ext cx="0" cy="0"/>
          <a:chOff x="0" y="0"/>
          <a:chExt cx="0" cy="0"/>
        </a:xfrm>
      </p:grpSpPr>
      <p:sp>
        <p:nvSpPr>
          <p:cNvPr id="72" name="Google Shape;72;g324be3cb2ee_0_14:notes"/>
          <p:cNvSpPr>
            <a:spLocks noGrp="1" noRot="1" noChangeAspect="1"/>
          </p:cNvSpPr>
          <p:nvPr>
            <p:ph type="sldImg" idx="2"/>
          </p:nvPr>
        </p:nvSpPr>
        <p:spPr>
          <a:xfrm>
            <a:off x="407988" y="698500"/>
            <a:ext cx="6207125" cy="3490913"/>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3" name="Google Shape;73;g324be3cb2ee_0_14:notes"/>
          <p:cNvSpPr txBox="1">
            <a:spLocks noGrp="1"/>
          </p:cNvSpPr>
          <p:nvPr>
            <p:ph type="body" idx="1"/>
          </p:nvPr>
        </p:nvSpPr>
        <p:spPr>
          <a:xfrm>
            <a:off x="702310" y="4421823"/>
            <a:ext cx="5618480" cy="4189095"/>
          </a:xfrm>
          <a:prstGeom prst="rect">
            <a:avLst/>
          </a:prstGeom>
        </p:spPr>
        <p:txBody>
          <a:bodyPr spcFirstLastPara="1" wrap="square" lIns="93308" tIns="93308" rIns="93308" bIns="93308" anchor="t" anchorCtr="0">
            <a:noAutofit/>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A99B00-7547-4792-A81C-25F15AE8A7DC}"/>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E3BED56E-61C4-45EE-9C06-0C24E410FC22}"/>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73B5DD01-1CBE-48E7-9ED9-50BDD8781D75}"/>
              </a:ext>
            </a:extLst>
          </p:cNvPr>
          <p:cNvSpPr>
            <a:spLocks noGrp="1"/>
          </p:cNvSpPr>
          <p:nvPr>
            <p:ph type="dt" sz="half" idx="10"/>
          </p:nvPr>
        </p:nvSpPr>
        <p:spPr/>
        <p:txBody>
          <a:bodyPr/>
          <a:lstStyle/>
          <a:p>
            <a:fld id="{2F4D5645-23AA-4DCF-893C-4CB75AE73D5B}" type="datetimeFigureOut">
              <a:rPr lang="en-US" smtClean="0"/>
              <a:t>4/25/2025</a:t>
            </a:fld>
            <a:endParaRPr lang="en-US"/>
          </a:p>
        </p:txBody>
      </p:sp>
      <p:sp>
        <p:nvSpPr>
          <p:cNvPr id="5" name="Footer Placeholder 4">
            <a:extLst>
              <a:ext uri="{FF2B5EF4-FFF2-40B4-BE49-F238E27FC236}">
                <a16:creationId xmlns:a16="http://schemas.microsoft.com/office/drawing/2014/main" id="{BC72D369-EAC0-4F21-9FF0-654FB290CBF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4DDB676-CE33-4593-9FFC-8C07CF9A8179}"/>
              </a:ext>
            </a:extLst>
          </p:cNvPr>
          <p:cNvSpPr>
            <a:spLocks noGrp="1"/>
          </p:cNvSpPr>
          <p:nvPr>
            <p:ph type="sldNum" sz="quarter" idx="12"/>
          </p:nvPr>
        </p:nvSpPr>
        <p:spPr/>
        <p:txBody>
          <a:bodyPr/>
          <a:lstStyle/>
          <a:p>
            <a:fld id="{DBE49F46-903B-4DEA-A244-FFDEE93D2D96}" type="slidenum">
              <a:rPr lang="en-US" smtClean="0"/>
              <a:t>‹#›</a:t>
            </a:fld>
            <a:endParaRPr lang="en-US"/>
          </a:p>
        </p:txBody>
      </p:sp>
    </p:spTree>
    <p:extLst>
      <p:ext uri="{BB962C8B-B14F-4D97-AF65-F5344CB8AC3E}">
        <p14:creationId xmlns:p14="http://schemas.microsoft.com/office/powerpoint/2010/main" val="318621548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2DF018-18F0-48EA-AD1A-97675E4767A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42587D3B-E804-47ED-88BB-092661E2F74D}"/>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7B4206B-8C25-4360-8A85-7540149DAE75}"/>
              </a:ext>
            </a:extLst>
          </p:cNvPr>
          <p:cNvSpPr>
            <a:spLocks noGrp="1"/>
          </p:cNvSpPr>
          <p:nvPr>
            <p:ph type="dt" sz="half" idx="10"/>
          </p:nvPr>
        </p:nvSpPr>
        <p:spPr/>
        <p:txBody>
          <a:bodyPr/>
          <a:lstStyle/>
          <a:p>
            <a:fld id="{2F4D5645-23AA-4DCF-893C-4CB75AE73D5B}" type="datetimeFigureOut">
              <a:rPr lang="en-US" smtClean="0"/>
              <a:t>4/25/2025</a:t>
            </a:fld>
            <a:endParaRPr lang="en-US"/>
          </a:p>
        </p:txBody>
      </p:sp>
      <p:sp>
        <p:nvSpPr>
          <p:cNvPr id="5" name="Footer Placeholder 4">
            <a:extLst>
              <a:ext uri="{FF2B5EF4-FFF2-40B4-BE49-F238E27FC236}">
                <a16:creationId xmlns:a16="http://schemas.microsoft.com/office/drawing/2014/main" id="{AA159549-6165-46A4-8E57-CD47DB442BC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2C36106-2642-429E-9D2A-C3084F173282}"/>
              </a:ext>
            </a:extLst>
          </p:cNvPr>
          <p:cNvSpPr>
            <a:spLocks noGrp="1"/>
          </p:cNvSpPr>
          <p:nvPr>
            <p:ph type="sldNum" sz="quarter" idx="12"/>
          </p:nvPr>
        </p:nvSpPr>
        <p:spPr/>
        <p:txBody>
          <a:bodyPr/>
          <a:lstStyle/>
          <a:p>
            <a:fld id="{DBE49F46-903B-4DEA-A244-FFDEE93D2D96}" type="slidenum">
              <a:rPr lang="en-US" smtClean="0"/>
              <a:t>‹#›</a:t>
            </a:fld>
            <a:endParaRPr lang="en-US"/>
          </a:p>
        </p:txBody>
      </p:sp>
    </p:spTree>
    <p:extLst>
      <p:ext uri="{BB962C8B-B14F-4D97-AF65-F5344CB8AC3E}">
        <p14:creationId xmlns:p14="http://schemas.microsoft.com/office/powerpoint/2010/main" val="401315923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722011-7EE7-43E0-ABB6-BD75CAD002C7}"/>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02D1CF69-B52A-47E0-B418-1DC767AE66ED}"/>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87A99CEC-3358-4B09-AFA6-B7DFD07E7FE9}"/>
              </a:ext>
            </a:extLst>
          </p:cNvPr>
          <p:cNvSpPr>
            <a:spLocks noGrp="1"/>
          </p:cNvSpPr>
          <p:nvPr>
            <p:ph type="dt" sz="half" idx="10"/>
          </p:nvPr>
        </p:nvSpPr>
        <p:spPr/>
        <p:txBody>
          <a:bodyPr/>
          <a:lstStyle/>
          <a:p>
            <a:fld id="{2F4D5645-23AA-4DCF-893C-4CB75AE73D5B}" type="datetimeFigureOut">
              <a:rPr lang="en-US" smtClean="0"/>
              <a:t>4/25/2025</a:t>
            </a:fld>
            <a:endParaRPr lang="en-US"/>
          </a:p>
        </p:txBody>
      </p:sp>
      <p:sp>
        <p:nvSpPr>
          <p:cNvPr id="5" name="Footer Placeholder 4">
            <a:extLst>
              <a:ext uri="{FF2B5EF4-FFF2-40B4-BE49-F238E27FC236}">
                <a16:creationId xmlns:a16="http://schemas.microsoft.com/office/drawing/2014/main" id="{259970E1-C59E-4CB0-8B28-D0DBB383711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4B04582-5D85-40DD-B001-F892B2BF4C62}"/>
              </a:ext>
            </a:extLst>
          </p:cNvPr>
          <p:cNvSpPr>
            <a:spLocks noGrp="1"/>
          </p:cNvSpPr>
          <p:nvPr>
            <p:ph type="sldNum" sz="quarter" idx="12"/>
          </p:nvPr>
        </p:nvSpPr>
        <p:spPr/>
        <p:txBody>
          <a:bodyPr/>
          <a:lstStyle/>
          <a:p>
            <a:fld id="{DBE49F46-903B-4DEA-A244-FFDEE93D2D96}" type="slidenum">
              <a:rPr lang="en-US" smtClean="0"/>
              <a:t>‹#›</a:t>
            </a:fld>
            <a:endParaRPr lang="en-US"/>
          </a:p>
        </p:txBody>
      </p:sp>
    </p:spTree>
    <p:extLst>
      <p:ext uri="{BB962C8B-B14F-4D97-AF65-F5344CB8AC3E}">
        <p14:creationId xmlns:p14="http://schemas.microsoft.com/office/powerpoint/2010/main" val="248031502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5E79FF-74E4-416A-872F-E479E90BB2A9}"/>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F14CBD2A-4848-464F-BAB4-FDD90920239D}"/>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96F47ED0-4868-477A-AEC6-293E4B2BAAD8}"/>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1A2858BD-EF64-469E-BD4F-C0CA14FA5151}"/>
              </a:ext>
            </a:extLst>
          </p:cNvPr>
          <p:cNvSpPr>
            <a:spLocks noGrp="1"/>
          </p:cNvSpPr>
          <p:nvPr>
            <p:ph type="dt" sz="half" idx="10"/>
          </p:nvPr>
        </p:nvSpPr>
        <p:spPr/>
        <p:txBody>
          <a:bodyPr/>
          <a:lstStyle/>
          <a:p>
            <a:fld id="{2F4D5645-23AA-4DCF-893C-4CB75AE73D5B}" type="datetimeFigureOut">
              <a:rPr lang="en-US" smtClean="0"/>
              <a:t>4/25/2025</a:t>
            </a:fld>
            <a:endParaRPr lang="en-US"/>
          </a:p>
        </p:txBody>
      </p:sp>
      <p:sp>
        <p:nvSpPr>
          <p:cNvPr id="6" name="Footer Placeholder 5">
            <a:extLst>
              <a:ext uri="{FF2B5EF4-FFF2-40B4-BE49-F238E27FC236}">
                <a16:creationId xmlns:a16="http://schemas.microsoft.com/office/drawing/2014/main" id="{7E31C73C-EF22-413E-AB01-D74CF168C2C0}"/>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490ED99F-E47E-43D8-8136-36E1F88C8C09}"/>
              </a:ext>
            </a:extLst>
          </p:cNvPr>
          <p:cNvSpPr>
            <a:spLocks noGrp="1"/>
          </p:cNvSpPr>
          <p:nvPr>
            <p:ph type="sldNum" sz="quarter" idx="12"/>
          </p:nvPr>
        </p:nvSpPr>
        <p:spPr/>
        <p:txBody>
          <a:bodyPr/>
          <a:lstStyle/>
          <a:p>
            <a:fld id="{DBE49F46-903B-4DEA-A244-FFDEE93D2D96}" type="slidenum">
              <a:rPr lang="en-US" smtClean="0"/>
              <a:t>‹#›</a:t>
            </a:fld>
            <a:endParaRPr lang="en-US"/>
          </a:p>
        </p:txBody>
      </p:sp>
    </p:spTree>
    <p:extLst>
      <p:ext uri="{BB962C8B-B14F-4D97-AF65-F5344CB8AC3E}">
        <p14:creationId xmlns:p14="http://schemas.microsoft.com/office/powerpoint/2010/main" val="185182718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FE2F88D-25DE-4861-8269-BC1AA80804E7}"/>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12123F79-4F45-4657-8C11-9C841F08DDFB}"/>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1493E313-2E2B-4B13-AE00-70A44D1693B5}"/>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1EA1DCF9-02E0-4506-B296-E20DE9D6F3C0}"/>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81309B03-61FC-4A65-AA23-8066A570B49F}"/>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88F01659-2AA1-46ED-BF70-B6F166B133B5}"/>
              </a:ext>
            </a:extLst>
          </p:cNvPr>
          <p:cNvSpPr>
            <a:spLocks noGrp="1"/>
          </p:cNvSpPr>
          <p:nvPr>
            <p:ph type="dt" sz="half" idx="10"/>
          </p:nvPr>
        </p:nvSpPr>
        <p:spPr/>
        <p:txBody>
          <a:bodyPr/>
          <a:lstStyle/>
          <a:p>
            <a:fld id="{2F4D5645-23AA-4DCF-893C-4CB75AE73D5B}" type="datetimeFigureOut">
              <a:rPr lang="en-US" smtClean="0"/>
              <a:t>4/25/2025</a:t>
            </a:fld>
            <a:endParaRPr lang="en-US"/>
          </a:p>
        </p:txBody>
      </p:sp>
      <p:sp>
        <p:nvSpPr>
          <p:cNvPr id="8" name="Footer Placeholder 7">
            <a:extLst>
              <a:ext uri="{FF2B5EF4-FFF2-40B4-BE49-F238E27FC236}">
                <a16:creationId xmlns:a16="http://schemas.microsoft.com/office/drawing/2014/main" id="{FA688C36-85B9-4ABF-95C4-7DA05DF25AE6}"/>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46F7281D-E3E3-4A4E-933B-B61F23B6BDAF}"/>
              </a:ext>
            </a:extLst>
          </p:cNvPr>
          <p:cNvSpPr>
            <a:spLocks noGrp="1"/>
          </p:cNvSpPr>
          <p:nvPr>
            <p:ph type="sldNum" sz="quarter" idx="12"/>
          </p:nvPr>
        </p:nvSpPr>
        <p:spPr/>
        <p:txBody>
          <a:bodyPr/>
          <a:lstStyle/>
          <a:p>
            <a:fld id="{DBE49F46-903B-4DEA-A244-FFDEE93D2D96}" type="slidenum">
              <a:rPr lang="en-US" smtClean="0"/>
              <a:t>‹#›</a:t>
            </a:fld>
            <a:endParaRPr lang="en-US"/>
          </a:p>
        </p:txBody>
      </p:sp>
    </p:spTree>
    <p:extLst>
      <p:ext uri="{BB962C8B-B14F-4D97-AF65-F5344CB8AC3E}">
        <p14:creationId xmlns:p14="http://schemas.microsoft.com/office/powerpoint/2010/main" val="275245553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741DA1F-C216-4059-B3F5-50BFC440F2F1}"/>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CB527C02-2773-4132-9354-607C7B922DAC}"/>
              </a:ext>
            </a:extLst>
          </p:cNvPr>
          <p:cNvSpPr>
            <a:spLocks noGrp="1"/>
          </p:cNvSpPr>
          <p:nvPr>
            <p:ph type="dt" sz="half" idx="10"/>
          </p:nvPr>
        </p:nvSpPr>
        <p:spPr/>
        <p:txBody>
          <a:bodyPr/>
          <a:lstStyle/>
          <a:p>
            <a:fld id="{2F4D5645-23AA-4DCF-893C-4CB75AE73D5B}" type="datetimeFigureOut">
              <a:rPr lang="en-US" smtClean="0"/>
              <a:t>4/25/2025</a:t>
            </a:fld>
            <a:endParaRPr lang="en-US"/>
          </a:p>
        </p:txBody>
      </p:sp>
      <p:sp>
        <p:nvSpPr>
          <p:cNvPr id="4" name="Footer Placeholder 3">
            <a:extLst>
              <a:ext uri="{FF2B5EF4-FFF2-40B4-BE49-F238E27FC236}">
                <a16:creationId xmlns:a16="http://schemas.microsoft.com/office/drawing/2014/main" id="{EB6DC3A1-EC46-4AF5-BC4C-41FEF999F58F}"/>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6BA68303-C715-4516-8C17-A64C9A98C61C}"/>
              </a:ext>
            </a:extLst>
          </p:cNvPr>
          <p:cNvSpPr>
            <a:spLocks noGrp="1"/>
          </p:cNvSpPr>
          <p:nvPr>
            <p:ph type="sldNum" sz="quarter" idx="12"/>
          </p:nvPr>
        </p:nvSpPr>
        <p:spPr/>
        <p:txBody>
          <a:bodyPr/>
          <a:lstStyle/>
          <a:p>
            <a:fld id="{DBE49F46-903B-4DEA-A244-FFDEE93D2D96}" type="slidenum">
              <a:rPr lang="en-US" smtClean="0"/>
              <a:t>‹#›</a:t>
            </a:fld>
            <a:endParaRPr lang="en-US"/>
          </a:p>
        </p:txBody>
      </p:sp>
    </p:spTree>
    <p:extLst>
      <p:ext uri="{BB962C8B-B14F-4D97-AF65-F5344CB8AC3E}">
        <p14:creationId xmlns:p14="http://schemas.microsoft.com/office/powerpoint/2010/main" val="318689369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9E2E674-63DB-4A81-AAC5-A599E8FD2254}"/>
              </a:ext>
            </a:extLst>
          </p:cNvPr>
          <p:cNvSpPr>
            <a:spLocks noGrp="1"/>
          </p:cNvSpPr>
          <p:nvPr>
            <p:ph type="dt" sz="half" idx="10"/>
          </p:nvPr>
        </p:nvSpPr>
        <p:spPr/>
        <p:txBody>
          <a:bodyPr/>
          <a:lstStyle/>
          <a:p>
            <a:fld id="{2F4D5645-23AA-4DCF-893C-4CB75AE73D5B}" type="datetimeFigureOut">
              <a:rPr lang="en-US" smtClean="0"/>
              <a:t>4/25/2025</a:t>
            </a:fld>
            <a:endParaRPr lang="en-US"/>
          </a:p>
        </p:txBody>
      </p:sp>
      <p:sp>
        <p:nvSpPr>
          <p:cNvPr id="3" name="Footer Placeholder 2">
            <a:extLst>
              <a:ext uri="{FF2B5EF4-FFF2-40B4-BE49-F238E27FC236}">
                <a16:creationId xmlns:a16="http://schemas.microsoft.com/office/drawing/2014/main" id="{BF477E99-16A7-4C07-9B2D-FE6D34DC4DDB}"/>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6D8D8D10-8314-418A-8654-0834BE0B3B3B}"/>
              </a:ext>
            </a:extLst>
          </p:cNvPr>
          <p:cNvSpPr>
            <a:spLocks noGrp="1"/>
          </p:cNvSpPr>
          <p:nvPr>
            <p:ph type="sldNum" sz="quarter" idx="12"/>
          </p:nvPr>
        </p:nvSpPr>
        <p:spPr/>
        <p:txBody>
          <a:bodyPr/>
          <a:lstStyle/>
          <a:p>
            <a:fld id="{DBE49F46-903B-4DEA-A244-FFDEE93D2D96}" type="slidenum">
              <a:rPr lang="en-US" smtClean="0"/>
              <a:t>‹#›</a:t>
            </a:fld>
            <a:endParaRPr lang="en-US"/>
          </a:p>
        </p:txBody>
      </p:sp>
    </p:spTree>
    <p:extLst>
      <p:ext uri="{BB962C8B-B14F-4D97-AF65-F5344CB8AC3E}">
        <p14:creationId xmlns:p14="http://schemas.microsoft.com/office/powerpoint/2010/main" val="400054860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8F55FDA-C129-4C48-B32E-0A930D3BBD3A}"/>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ABBC12DC-3A64-4397-8711-82DC608FCFBA}"/>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1FB0F6B9-AB76-4798-BB69-969F32DCE1B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4A2B619-25C2-471E-983A-7BC75C73A601}"/>
              </a:ext>
            </a:extLst>
          </p:cNvPr>
          <p:cNvSpPr>
            <a:spLocks noGrp="1"/>
          </p:cNvSpPr>
          <p:nvPr>
            <p:ph type="dt" sz="half" idx="10"/>
          </p:nvPr>
        </p:nvSpPr>
        <p:spPr/>
        <p:txBody>
          <a:bodyPr/>
          <a:lstStyle/>
          <a:p>
            <a:fld id="{2F4D5645-23AA-4DCF-893C-4CB75AE73D5B}" type="datetimeFigureOut">
              <a:rPr lang="en-US" smtClean="0"/>
              <a:t>4/25/2025</a:t>
            </a:fld>
            <a:endParaRPr lang="en-US"/>
          </a:p>
        </p:txBody>
      </p:sp>
      <p:sp>
        <p:nvSpPr>
          <p:cNvPr id="6" name="Footer Placeholder 5">
            <a:extLst>
              <a:ext uri="{FF2B5EF4-FFF2-40B4-BE49-F238E27FC236}">
                <a16:creationId xmlns:a16="http://schemas.microsoft.com/office/drawing/2014/main" id="{B65F96EF-5716-42F8-956A-C69EFEB1F36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E8E34605-7495-44D4-9DE9-1F2DE3D15449}"/>
              </a:ext>
            </a:extLst>
          </p:cNvPr>
          <p:cNvSpPr>
            <a:spLocks noGrp="1"/>
          </p:cNvSpPr>
          <p:nvPr>
            <p:ph type="sldNum" sz="quarter" idx="12"/>
          </p:nvPr>
        </p:nvSpPr>
        <p:spPr/>
        <p:txBody>
          <a:bodyPr/>
          <a:lstStyle/>
          <a:p>
            <a:fld id="{DBE49F46-903B-4DEA-A244-FFDEE93D2D96}" type="slidenum">
              <a:rPr lang="en-US" smtClean="0"/>
              <a:t>‹#›</a:t>
            </a:fld>
            <a:endParaRPr lang="en-US"/>
          </a:p>
        </p:txBody>
      </p:sp>
    </p:spTree>
    <p:extLst>
      <p:ext uri="{BB962C8B-B14F-4D97-AF65-F5344CB8AC3E}">
        <p14:creationId xmlns:p14="http://schemas.microsoft.com/office/powerpoint/2010/main" val="90150711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C7345C-3AC3-446F-9A05-71EB8F7B1996}"/>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FD59C4F2-8ABE-48F8-BE4C-5C3ECF0691A5}"/>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7A02AB2E-C870-49AB-B857-D8B585EBD2E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380B84E9-12A2-4186-8BBC-6E3B5ACD4DE0}"/>
              </a:ext>
            </a:extLst>
          </p:cNvPr>
          <p:cNvSpPr>
            <a:spLocks noGrp="1"/>
          </p:cNvSpPr>
          <p:nvPr>
            <p:ph type="dt" sz="half" idx="10"/>
          </p:nvPr>
        </p:nvSpPr>
        <p:spPr/>
        <p:txBody>
          <a:bodyPr/>
          <a:lstStyle/>
          <a:p>
            <a:fld id="{2F4D5645-23AA-4DCF-893C-4CB75AE73D5B}" type="datetimeFigureOut">
              <a:rPr lang="en-US" smtClean="0"/>
              <a:t>4/25/2025</a:t>
            </a:fld>
            <a:endParaRPr lang="en-US"/>
          </a:p>
        </p:txBody>
      </p:sp>
      <p:sp>
        <p:nvSpPr>
          <p:cNvPr id="6" name="Footer Placeholder 5">
            <a:extLst>
              <a:ext uri="{FF2B5EF4-FFF2-40B4-BE49-F238E27FC236}">
                <a16:creationId xmlns:a16="http://schemas.microsoft.com/office/drawing/2014/main" id="{7D6CF9BC-B01F-4ACC-B3A1-D543FBE7E619}"/>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03DE915-3C30-4FE0-9B71-A8B16AA9F3A7}"/>
              </a:ext>
            </a:extLst>
          </p:cNvPr>
          <p:cNvSpPr>
            <a:spLocks noGrp="1"/>
          </p:cNvSpPr>
          <p:nvPr>
            <p:ph type="sldNum" sz="quarter" idx="12"/>
          </p:nvPr>
        </p:nvSpPr>
        <p:spPr/>
        <p:txBody>
          <a:bodyPr/>
          <a:lstStyle/>
          <a:p>
            <a:fld id="{DBE49F46-903B-4DEA-A244-FFDEE93D2D96}" type="slidenum">
              <a:rPr lang="en-US" smtClean="0"/>
              <a:t>‹#›</a:t>
            </a:fld>
            <a:endParaRPr lang="en-US"/>
          </a:p>
        </p:txBody>
      </p:sp>
    </p:spTree>
    <p:extLst>
      <p:ext uri="{BB962C8B-B14F-4D97-AF65-F5344CB8AC3E}">
        <p14:creationId xmlns:p14="http://schemas.microsoft.com/office/powerpoint/2010/main" val="37334340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5B3538-2230-4441-AAE3-B9FA1613D78C}"/>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BD644754-BFAA-4BDA-B7FE-0329951EDCBC}"/>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F04D930-A630-4BD1-8758-69063986E595}"/>
              </a:ext>
            </a:extLst>
          </p:cNvPr>
          <p:cNvSpPr>
            <a:spLocks noGrp="1"/>
          </p:cNvSpPr>
          <p:nvPr>
            <p:ph type="dt" sz="half" idx="10"/>
          </p:nvPr>
        </p:nvSpPr>
        <p:spPr/>
        <p:txBody>
          <a:bodyPr/>
          <a:lstStyle/>
          <a:p>
            <a:fld id="{2F4D5645-23AA-4DCF-893C-4CB75AE73D5B}" type="datetimeFigureOut">
              <a:rPr lang="en-US" smtClean="0"/>
              <a:t>4/25/2025</a:t>
            </a:fld>
            <a:endParaRPr lang="en-US"/>
          </a:p>
        </p:txBody>
      </p:sp>
      <p:sp>
        <p:nvSpPr>
          <p:cNvPr id="5" name="Footer Placeholder 4">
            <a:extLst>
              <a:ext uri="{FF2B5EF4-FFF2-40B4-BE49-F238E27FC236}">
                <a16:creationId xmlns:a16="http://schemas.microsoft.com/office/drawing/2014/main" id="{A7A3E5D0-E650-4BCC-8DA6-FC652DE3B4E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C56A9B5-7809-4F98-AD87-C04741281926}"/>
              </a:ext>
            </a:extLst>
          </p:cNvPr>
          <p:cNvSpPr>
            <a:spLocks noGrp="1"/>
          </p:cNvSpPr>
          <p:nvPr>
            <p:ph type="sldNum" sz="quarter" idx="12"/>
          </p:nvPr>
        </p:nvSpPr>
        <p:spPr/>
        <p:txBody>
          <a:bodyPr/>
          <a:lstStyle/>
          <a:p>
            <a:fld id="{DBE49F46-903B-4DEA-A244-FFDEE93D2D96}" type="slidenum">
              <a:rPr lang="en-US" smtClean="0"/>
              <a:t>‹#›</a:t>
            </a:fld>
            <a:endParaRPr lang="en-US"/>
          </a:p>
        </p:txBody>
      </p:sp>
    </p:spTree>
    <p:extLst>
      <p:ext uri="{BB962C8B-B14F-4D97-AF65-F5344CB8AC3E}">
        <p14:creationId xmlns:p14="http://schemas.microsoft.com/office/powerpoint/2010/main" val="6388740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87A51487-EADC-441E-BE71-59BF59E57AEE}"/>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80F626D7-10FE-4F5A-9DB5-975D15AFEA10}"/>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4B926DC-5B8F-4DD1-AB13-A86948C2E114}"/>
              </a:ext>
            </a:extLst>
          </p:cNvPr>
          <p:cNvSpPr>
            <a:spLocks noGrp="1"/>
          </p:cNvSpPr>
          <p:nvPr>
            <p:ph type="dt" sz="half" idx="10"/>
          </p:nvPr>
        </p:nvSpPr>
        <p:spPr/>
        <p:txBody>
          <a:bodyPr/>
          <a:lstStyle/>
          <a:p>
            <a:fld id="{2F4D5645-23AA-4DCF-893C-4CB75AE73D5B}" type="datetimeFigureOut">
              <a:rPr lang="en-US" smtClean="0"/>
              <a:t>4/25/2025</a:t>
            </a:fld>
            <a:endParaRPr lang="en-US"/>
          </a:p>
        </p:txBody>
      </p:sp>
      <p:sp>
        <p:nvSpPr>
          <p:cNvPr id="5" name="Footer Placeholder 4">
            <a:extLst>
              <a:ext uri="{FF2B5EF4-FFF2-40B4-BE49-F238E27FC236}">
                <a16:creationId xmlns:a16="http://schemas.microsoft.com/office/drawing/2014/main" id="{5C3FFB2A-C15B-4027-9424-502EE2E5123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6FC29A2-F86C-4BAC-8D3B-436F2ED60987}"/>
              </a:ext>
            </a:extLst>
          </p:cNvPr>
          <p:cNvSpPr>
            <a:spLocks noGrp="1"/>
          </p:cNvSpPr>
          <p:nvPr>
            <p:ph type="sldNum" sz="quarter" idx="12"/>
          </p:nvPr>
        </p:nvSpPr>
        <p:spPr/>
        <p:txBody>
          <a:bodyPr/>
          <a:lstStyle/>
          <a:p>
            <a:fld id="{DBE49F46-903B-4DEA-A244-FFDEE93D2D96}" type="slidenum">
              <a:rPr lang="en-US" smtClean="0"/>
              <a:t>‹#›</a:t>
            </a:fld>
            <a:endParaRPr lang="en-US"/>
          </a:p>
        </p:txBody>
      </p:sp>
    </p:spTree>
    <p:extLst>
      <p:ext uri="{BB962C8B-B14F-4D97-AF65-F5344CB8AC3E}">
        <p14:creationId xmlns:p14="http://schemas.microsoft.com/office/powerpoint/2010/main" val="63760697"/>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itle and body" type="tx">
  <p:cSld name="Title and body">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415600" y="593367"/>
            <a:ext cx="11360800" cy="7636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18" name="Google Shape;18;p4"/>
          <p:cNvSpPr txBox="1">
            <a:spLocks noGrp="1"/>
          </p:cNvSpPr>
          <p:nvPr>
            <p:ph type="body" idx="1"/>
          </p:nvPr>
        </p:nvSpPr>
        <p:spPr>
          <a:xfrm>
            <a:off x="415600" y="1536633"/>
            <a:ext cx="11360800" cy="4555200"/>
          </a:xfrm>
          <a:prstGeom prst="rect">
            <a:avLst/>
          </a:prstGeom>
        </p:spPr>
        <p:txBody>
          <a:bodyPr spcFirstLastPara="1" wrap="square" lIns="91425" tIns="91425" rIns="91425" bIns="91425" anchor="t" anchorCtr="0">
            <a:normAutofit/>
          </a:bodyPr>
          <a:lstStyle>
            <a:lvl1pPr marL="609585" lvl="0" indent="-457189">
              <a:spcBef>
                <a:spcPts val="0"/>
              </a:spcBef>
              <a:spcAft>
                <a:spcPts val="0"/>
              </a:spcAft>
              <a:buSzPts val="1800"/>
              <a:buChar char="●"/>
              <a:defRPr/>
            </a:lvl1pPr>
            <a:lvl2pPr marL="1219170" lvl="1" indent="-423323">
              <a:spcBef>
                <a:spcPts val="0"/>
              </a:spcBef>
              <a:spcAft>
                <a:spcPts val="0"/>
              </a:spcAft>
              <a:buSzPts val="1400"/>
              <a:buChar char="○"/>
              <a:defRPr/>
            </a:lvl2pPr>
            <a:lvl3pPr marL="1828754" lvl="2" indent="-423323">
              <a:spcBef>
                <a:spcPts val="0"/>
              </a:spcBef>
              <a:spcAft>
                <a:spcPts val="0"/>
              </a:spcAft>
              <a:buSzPts val="1400"/>
              <a:buChar char="■"/>
              <a:defRPr/>
            </a:lvl3pPr>
            <a:lvl4pPr marL="2438339" lvl="3" indent="-423323">
              <a:spcBef>
                <a:spcPts val="0"/>
              </a:spcBef>
              <a:spcAft>
                <a:spcPts val="0"/>
              </a:spcAft>
              <a:buSzPts val="1400"/>
              <a:buChar char="●"/>
              <a:defRPr/>
            </a:lvl4pPr>
            <a:lvl5pPr marL="3047924" lvl="4" indent="-423323">
              <a:spcBef>
                <a:spcPts val="0"/>
              </a:spcBef>
              <a:spcAft>
                <a:spcPts val="0"/>
              </a:spcAft>
              <a:buSzPts val="1400"/>
              <a:buChar char="○"/>
              <a:defRPr/>
            </a:lvl5pPr>
            <a:lvl6pPr marL="3657509" lvl="5" indent="-423323">
              <a:spcBef>
                <a:spcPts val="0"/>
              </a:spcBef>
              <a:spcAft>
                <a:spcPts val="0"/>
              </a:spcAft>
              <a:buSzPts val="1400"/>
              <a:buChar char="■"/>
              <a:defRPr/>
            </a:lvl6pPr>
            <a:lvl7pPr marL="4267093" lvl="6" indent="-423323">
              <a:spcBef>
                <a:spcPts val="0"/>
              </a:spcBef>
              <a:spcAft>
                <a:spcPts val="0"/>
              </a:spcAft>
              <a:buSzPts val="1400"/>
              <a:buChar char="●"/>
              <a:defRPr/>
            </a:lvl7pPr>
            <a:lvl8pPr marL="4876678" lvl="7" indent="-423323">
              <a:spcBef>
                <a:spcPts val="0"/>
              </a:spcBef>
              <a:spcAft>
                <a:spcPts val="0"/>
              </a:spcAft>
              <a:buSzPts val="1400"/>
              <a:buChar char="○"/>
              <a:defRPr/>
            </a:lvl8pPr>
            <a:lvl9pPr marL="5486263" lvl="8" indent="-423323">
              <a:spcBef>
                <a:spcPts val="0"/>
              </a:spcBef>
              <a:spcAft>
                <a:spcPts val="0"/>
              </a:spcAft>
              <a:buSzPts val="1400"/>
              <a:buChar char="■"/>
              <a:defRPr/>
            </a:lvl9pPr>
          </a:lstStyle>
          <a:p>
            <a:endParaRPr/>
          </a:p>
        </p:txBody>
      </p:sp>
      <p:sp>
        <p:nvSpPr>
          <p:cNvPr id="19" name="Google Shape;19;p4"/>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 smtClean="0"/>
              <a:pPr/>
              <a:t>‹#›</a:t>
            </a:fld>
            <a:endParaRPr lang="en"/>
          </a:p>
        </p:txBody>
      </p:sp>
    </p:spTree>
    <p:extLst>
      <p:ext uri="{BB962C8B-B14F-4D97-AF65-F5344CB8AC3E}">
        <p14:creationId xmlns:p14="http://schemas.microsoft.com/office/powerpoint/2010/main" val="334802915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D426195D-2D55-4550-B834-EA3BAEEE93C7}"/>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FB5B45E7-9B25-4B24-ADEC-430D33F9D527}"/>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481B3896-4739-49B7-9E75-53DF501F6B38}"/>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2F4D5645-23AA-4DCF-893C-4CB75AE73D5B}" type="datetimeFigureOut">
              <a:rPr lang="en-US" smtClean="0"/>
              <a:t>4/25/2025</a:t>
            </a:fld>
            <a:endParaRPr lang="en-US"/>
          </a:p>
        </p:txBody>
      </p:sp>
      <p:sp>
        <p:nvSpPr>
          <p:cNvPr id="5" name="Footer Placeholder 4">
            <a:extLst>
              <a:ext uri="{FF2B5EF4-FFF2-40B4-BE49-F238E27FC236}">
                <a16:creationId xmlns:a16="http://schemas.microsoft.com/office/drawing/2014/main" id="{4FB0AA0A-F9D4-42B4-8028-46DB159B9862}"/>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A1E7C39B-6132-4232-B090-D3318336447D}"/>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DBE49F46-903B-4DEA-A244-FFDEE93D2D96}" type="slidenum">
              <a:rPr lang="en-US" smtClean="0"/>
              <a:t>‹#›</a:t>
            </a:fld>
            <a:endParaRPr lang="en-US"/>
          </a:p>
        </p:txBody>
      </p:sp>
    </p:spTree>
    <p:extLst>
      <p:ext uri="{BB962C8B-B14F-4D97-AF65-F5344CB8AC3E}">
        <p14:creationId xmlns:p14="http://schemas.microsoft.com/office/powerpoint/2010/main" val="5211725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hyperlink" Target="mailto:Jon.Brodziak@NOAA.GOV" TargetMode="Externa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hyperlink" Target="https://github.com/PIFSCstockassessments/2024-WCNPO-MLS-Rebuilding" TargetMode="External"/><Relationship Id="rId2" Type="http://schemas.openxmlformats.org/officeDocument/2006/relationships/hyperlink" Target="https://drive.google.com/drive/folders/1vNBZWGnTDX9_wl-RByhKqA40jsHUOJCy" TargetMode="Externa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1.emf"/><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2.xml"/></Relationships>
</file>

<file path=ppt/slides/_rels/slide8.xml.rels><?xml version="1.0" encoding="UTF-8" standalone="yes"?>
<Relationships xmlns="http://schemas.openxmlformats.org/package/2006/relationships"><Relationship Id="rId2" Type="http://schemas.openxmlformats.org/officeDocument/2006/relationships/image" Target="../media/image2.emf"/><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3" Type="http://schemas.openxmlformats.org/officeDocument/2006/relationships/image" Target="../media/image7.jpg"/><Relationship Id="rId2" Type="http://schemas.openxmlformats.org/officeDocument/2006/relationships/image" Target="../media/image6.png"/><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image" Target="../media/image8.emf"/><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image" Target="../media/image9.emf"/><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image" Target="../media/image10.emf"/><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2" Type="http://schemas.openxmlformats.org/officeDocument/2006/relationships/image" Target="../media/image11.emf"/><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2" Type="http://schemas.openxmlformats.org/officeDocument/2006/relationships/image" Target="../media/image12.emf"/><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2" Type="http://schemas.openxmlformats.org/officeDocument/2006/relationships/image" Target="../media/image13.emf"/><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2" Type="http://schemas.openxmlformats.org/officeDocument/2006/relationships/image" Target="../media/image14.emf"/><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2" Type="http://schemas.openxmlformats.org/officeDocument/2006/relationships/image" Target="../media/image15.emf"/><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2" Type="http://schemas.openxmlformats.org/officeDocument/2006/relationships/image" Target="../media/image16.emf"/><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2" Type="http://schemas.openxmlformats.org/officeDocument/2006/relationships/image" Target="../media/image17.emf"/><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2" Type="http://schemas.openxmlformats.org/officeDocument/2006/relationships/image" Target="../media/image18.emf"/><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2" Type="http://schemas.openxmlformats.org/officeDocument/2006/relationships/image" Target="../media/image19.emf"/><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2" Type="http://schemas.openxmlformats.org/officeDocument/2006/relationships/image" Target="../media/image20.emf"/><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2" Type="http://schemas.openxmlformats.org/officeDocument/2006/relationships/image" Target="../media/image21.emf"/><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3" Type="http://schemas.openxmlformats.org/officeDocument/2006/relationships/image" Target="../media/image23.emf"/><Relationship Id="rId2" Type="http://schemas.openxmlformats.org/officeDocument/2006/relationships/image" Target="../media/image22.emf"/><Relationship Id="rId1" Type="http://schemas.openxmlformats.org/officeDocument/2006/relationships/slideLayout" Target="../slideLayouts/slideLayout6.xml"/></Relationships>
</file>

<file path=ppt/slides/_rels/slide28.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image" Target="../media/image27.png"/><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3" Type="http://schemas.openxmlformats.org/officeDocument/2006/relationships/image" Target="../media/image32.emf"/><Relationship Id="rId2" Type="http://schemas.openxmlformats.org/officeDocument/2006/relationships/image" Target="../media/image31.emf"/><Relationship Id="rId1" Type="http://schemas.openxmlformats.org/officeDocument/2006/relationships/slideLayout" Target="../slideLayouts/slideLayout6.xml"/></Relationships>
</file>

<file path=ppt/slides/_rels/slide36.xml.rels><?xml version="1.0" encoding="UTF-8" standalone="yes"?>
<Relationships xmlns="http://schemas.openxmlformats.org/package/2006/relationships"><Relationship Id="rId2" Type="http://schemas.openxmlformats.org/officeDocument/2006/relationships/image" Target="../media/image33.png"/><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2" Type="http://schemas.openxmlformats.org/officeDocument/2006/relationships/image" Target="../media/image35.png"/><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2" Type="http://schemas.openxmlformats.org/officeDocument/2006/relationships/image" Target="../media/image37.png"/><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3" Type="http://schemas.openxmlformats.org/officeDocument/2006/relationships/image" Target="../media/image39.emf"/><Relationship Id="rId2" Type="http://schemas.openxmlformats.org/officeDocument/2006/relationships/image" Target="../media/image38.emf"/><Relationship Id="rId1" Type="http://schemas.openxmlformats.org/officeDocument/2006/relationships/slideLayout" Target="../slideLayouts/slideLayout6.xml"/></Relationships>
</file>

<file path=ppt/slides/_rels/slide42.xml.rels><?xml version="1.0" encoding="UTF-8" standalone="yes"?>
<Relationships xmlns="http://schemas.openxmlformats.org/package/2006/relationships"><Relationship Id="rId2" Type="http://schemas.openxmlformats.org/officeDocument/2006/relationships/image" Target="../media/image40.png"/><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2" Type="http://schemas.openxmlformats.org/officeDocument/2006/relationships/image" Target="../media/image41.png"/><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2" Type="http://schemas.openxmlformats.org/officeDocument/2006/relationships/image" Target="../media/image42.png"/><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2" Type="http://schemas.openxmlformats.org/officeDocument/2006/relationships/image" Target="../media/image43.png"/><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2" Type="http://schemas.openxmlformats.org/officeDocument/2006/relationships/image" Target="../media/image44.png"/><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2" Type="http://schemas.openxmlformats.org/officeDocument/2006/relationships/image" Target="../media/image45.png"/><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2" Type="http://schemas.openxmlformats.org/officeDocument/2006/relationships/image" Target="../media/image46.png"/><Relationship Id="rId1" Type="http://schemas.openxmlformats.org/officeDocument/2006/relationships/slideLayout" Target="../slideLayouts/slideLayout6.xml"/></Relationships>
</file>

<file path=ppt/slides/_rels/slide50.xml.rels><?xml version="1.0" encoding="UTF-8" standalone="yes"?>
<Relationships xmlns="http://schemas.openxmlformats.org/package/2006/relationships"><Relationship Id="rId2" Type="http://schemas.openxmlformats.org/officeDocument/2006/relationships/image" Target="../media/image47.png"/><Relationship Id="rId1" Type="http://schemas.openxmlformats.org/officeDocument/2006/relationships/slideLayout" Target="../slideLayouts/slideLayout6.xml"/></Relationships>
</file>

<file path=ppt/slides/_rels/slide51.xml.rels><?xml version="1.0" encoding="UTF-8" standalone="yes"?>
<Relationships xmlns="http://schemas.openxmlformats.org/package/2006/relationships"><Relationship Id="rId2" Type="http://schemas.openxmlformats.org/officeDocument/2006/relationships/image" Target="../media/image48.png"/><Relationship Id="rId1" Type="http://schemas.openxmlformats.org/officeDocument/2006/relationships/slideLayout" Target="../slideLayouts/slideLayout6.xml"/></Relationships>
</file>

<file path=ppt/slides/_rels/slide52.xml.rels><?xml version="1.0" encoding="UTF-8" standalone="yes"?>
<Relationships xmlns="http://schemas.openxmlformats.org/package/2006/relationships"><Relationship Id="rId2" Type="http://schemas.openxmlformats.org/officeDocument/2006/relationships/image" Target="../media/image49.png"/><Relationship Id="rId1" Type="http://schemas.openxmlformats.org/officeDocument/2006/relationships/slideLayout" Target="../slideLayouts/slideLayout6.xml"/></Relationships>
</file>

<file path=ppt/slides/_rels/slide53.xml.rels><?xml version="1.0" encoding="UTF-8" standalone="yes"?>
<Relationships xmlns="http://schemas.openxmlformats.org/package/2006/relationships"><Relationship Id="rId2" Type="http://schemas.openxmlformats.org/officeDocument/2006/relationships/image" Target="../media/image50.png"/><Relationship Id="rId1" Type="http://schemas.openxmlformats.org/officeDocument/2006/relationships/slideLayout" Target="../slideLayouts/slideLayout6.xml"/></Relationships>
</file>

<file path=ppt/slides/_rels/slide54.xml.rels><?xml version="1.0" encoding="UTF-8" standalone="yes"?>
<Relationships xmlns="http://schemas.openxmlformats.org/package/2006/relationships"><Relationship Id="rId2" Type="http://schemas.openxmlformats.org/officeDocument/2006/relationships/image" Target="../media/image51.png"/><Relationship Id="rId1" Type="http://schemas.openxmlformats.org/officeDocument/2006/relationships/slideLayout" Target="../slideLayouts/slideLayout6.xml"/></Relationships>
</file>

<file path=ppt/slides/_rels/slide55.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image" Target="../media/image52.png"/><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2" Type="http://schemas.openxmlformats.org/officeDocument/2006/relationships/image" Target="../media/image54.png"/><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2" Type="http://schemas.openxmlformats.org/officeDocument/2006/relationships/image" Target="../media/image55.emf"/><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77337B-71E6-4DDF-B454-86FB8D0BC88B}"/>
              </a:ext>
            </a:extLst>
          </p:cNvPr>
          <p:cNvSpPr>
            <a:spLocks noGrp="1"/>
          </p:cNvSpPr>
          <p:nvPr>
            <p:ph type="ctrTitle"/>
          </p:nvPr>
        </p:nvSpPr>
        <p:spPr/>
        <p:txBody>
          <a:bodyPr>
            <a:normAutofit/>
          </a:bodyPr>
          <a:lstStyle/>
          <a:p>
            <a:r>
              <a:rPr lang="en-US" dirty="0"/>
              <a:t>WCNPO Striped Marlin Rebuilding Scenarios</a:t>
            </a:r>
            <a:br>
              <a:rPr lang="en-US" dirty="0"/>
            </a:br>
            <a:r>
              <a:rPr lang="en-US" sz="4000" dirty="0"/>
              <a:t>2025 Projection Scenarios for CMM 24-06</a:t>
            </a:r>
            <a:endParaRPr lang="en-US" dirty="0"/>
          </a:p>
        </p:txBody>
      </p:sp>
      <p:sp>
        <p:nvSpPr>
          <p:cNvPr id="6" name="Subtitle 2">
            <a:extLst>
              <a:ext uri="{FF2B5EF4-FFF2-40B4-BE49-F238E27FC236}">
                <a16:creationId xmlns:a16="http://schemas.microsoft.com/office/drawing/2014/main" id="{75D1B080-4A7C-4AB2-8C92-5A61115EE6DC}"/>
              </a:ext>
            </a:extLst>
          </p:cNvPr>
          <p:cNvSpPr txBox="1">
            <a:spLocks/>
          </p:cNvSpPr>
          <p:nvPr/>
        </p:nvSpPr>
        <p:spPr>
          <a:xfrm>
            <a:off x="1697421" y="4421654"/>
            <a:ext cx="9144000" cy="1655762"/>
          </a:xfrm>
          <a:prstGeom prst="rect">
            <a:avLst/>
          </a:prstGeom>
        </p:spPr>
        <p:txBody>
          <a:bodyPr vert="horz" lIns="91440" tIns="45720" rIns="91440" bIns="45720" rtlCol="0">
            <a:normAutofit lnSpcReduction="10000"/>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en-US" dirty="0"/>
              <a:t>ISC Billfish Working Group</a:t>
            </a:r>
          </a:p>
          <a:p>
            <a:r>
              <a:rPr lang="en-US" dirty="0"/>
              <a:t>Jon Brodziak</a:t>
            </a:r>
          </a:p>
          <a:p>
            <a:r>
              <a:rPr lang="en-US" dirty="0">
                <a:hlinkClick r:id="rId2"/>
              </a:rPr>
              <a:t>Jon.Brodziak@NOAA.GOV</a:t>
            </a:r>
            <a:r>
              <a:rPr lang="en-US" dirty="0"/>
              <a:t> </a:t>
            </a:r>
          </a:p>
          <a:p>
            <a:r>
              <a:rPr lang="en-US" dirty="0"/>
              <a:t>25-April-2025</a:t>
            </a:r>
          </a:p>
        </p:txBody>
      </p:sp>
    </p:spTree>
    <p:extLst>
      <p:ext uri="{BB962C8B-B14F-4D97-AF65-F5344CB8AC3E}">
        <p14:creationId xmlns:p14="http://schemas.microsoft.com/office/powerpoint/2010/main" val="10344568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1F937F0-185D-434E-9081-C2F3E94FF607}"/>
              </a:ext>
            </a:extLst>
          </p:cNvPr>
          <p:cNvSpPr>
            <a:spLocks noGrp="1"/>
          </p:cNvSpPr>
          <p:nvPr>
            <p:ph type="title"/>
          </p:nvPr>
        </p:nvSpPr>
        <p:spPr>
          <a:xfrm>
            <a:off x="0" y="94542"/>
            <a:ext cx="12192000" cy="964824"/>
          </a:xfrm>
        </p:spPr>
        <p:txBody>
          <a:bodyPr>
            <a:normAutofit fontScale="90000"/>
          </a:bodyPr>
          <a:lstStyle/>
          <a:p>
            <a:pPr algn="ctr"/>
            <a:r>
              <a:rPr lang="en-US" dirty="0"/>
              <a:t>Open Science with Documentation and Reproducibility </a:t>
            </a:r>
            <a:br>
              <a:rPr lang="en-US" dirty="0"/>
            </a:br>
            <a:r>
              <a:rPr lang="en-US" dirty="0"/>
              <a:t>for the ISC Billfish Working Group</a:t>
            </a:r>
          </a:p>
        </p:txBody>
      </p:sp>
      <p:sp>
        <p:nvSpPr>
          <p:cNvPr id="3" name="Content Placeholder 2">
            <a:extLst>
              <a:ext uri="{FF2B5EF4-FFF2-40B4-BE49-F238E27FC236}">
                <a16:creationId xmlns:a16="http://schemas.microsoft.com/office/drawing/2014/main" id="{E723D5FF-3CCA-41F4-9642-B867467454DA}"/>
              </a:ext>
            </a:extLst>
          </p:cNvPr>
          <p:cNvSpPr>
            <a:spLocks noGrp="1"/>
          </p:cNvSpPr>
          <p:nvPr>
            <p:ph idx="1"/>
          </p:nvPr>
        </p:nvSpPr>
        <p:spPr>
          <a:xfrm>
            <a:off x="0" y="1460938"/>
            <a:ext cx="12192000" cy="5397061"/>
          </a:xfrm>
        </p:spPr>
        <p:txBody>
          <a:bodyPr>
            <a:normAutofit/>
          </a:bodyPr>
          <a:lstStyle/>
          <a:p>
            <a:r>
              <a:rPr lang="en-US" dirty="0"/>
              <a:t>This presentation (NAME.pptx) is on the BILLWG google drive at: </a:t>
            </a:r>
            <a:r>
              <a:rPr lang="en-US" dirty="0">
                <a:hlinkClick r:id="rId2"/>
              </a:rPr>
              <a:t>https://drive.google.com/drive/folders/1vNBZWGnTDX9_wl-RByhKqA40jsHUOJCy</a:t>
            </a:r>
            <a:r>
              <a:rPr lang="en-US" dirty="0"/>
              <a:t> </a:t>
            </a:r>
          </a:p>
          <a:p>
            <a:r>
              <a:rPr lang="en-US" dirty="0"/>
              <a:t>To access the projection methods and results, clone or download the GitHub repository:</a:t>
            </a:r>
          </a:p>
          <a:p>
            <a:pPr marL="0" indent="0">
              <a:buNone/>
            </a:pPr>
            <a:r>
              <a:rPr lang="en-US" dirty="0">
                <a:hlinkClick r:id="rId3"/>
              </a:rPr>
              <a:t>https://github.com/PIFSCstockassessments/2024-WCNPO-MLS-Rebuilding</a:t>
            </a:r>
            <a:endParaRPr lang="en-US" dirty="0"/>
          </a:p>
          <a:p>
            <a:r>
              <a:rPr lang="en-US" dirty="0"/>
              <a:t>Base case projection input files (3-recruitment models with 2-year out-of-sample weights) are in 2024-WCNPO-MLS-Rebuilding/2024 Results/base-runs</a:t>
            </a:r>
          </a:p>
          <a:p>
            <a:pPr marL="0" indent="0">
              <a:buNone/>
            </a:pPr>
            <a:endParaRPr lang="en-US" dirty="0"/>
          </a:p>
          <a:p>
            <a:endParaRPr lang="en-US" dirty="0"/>
          </a:p>
        </p:txBody>
      </p:sp>
    </p:spTree>
    <p:extLst>
      <p:ext uri="{BB962C8B-B14F-4D97-AF65-F5344CB8AC3E}">
        <p14:creationId xmlns:p14="http://schemas.microsoft.com/office/powerpoint/2010/main" val="359719709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36667B4-5D24-43F0-9DD6-752925AAA6C1}"/>
              </a:ext>
            </a:extLst>
          </p:cNvPr>
          <p:cNvSpPr>
            <a:spLocks noGrp="1"/>
          </p:cNvSpPr>
          <p:nvPr>
            <p:ph type="title"/>
          </p:nvPr>
        </p:nvSpPr>
        <p:spPr>
          <a:xfrm>
            <a:off x="838200" y="0"/>
            <a:ext cx="10515600" cy="737811"/>
          </a:xfrm>
        </p:spPr>
        <p:txBody>
          <a:bodyPr>
            <a:normAutofit/>
          </a:bodyPr>
          <a:lstStyle/>
          <a:p>
            <a:pPr algn="ctr"/>
            <a:r>
              <a:rPr lang="en-US" sz="4000" dirty="0"/>
              <a:t>Rebuilding Target</a:t>
            </a:r>
          </a:p>
        </p:txBody>
      </p:sp>
      <p:pic>
        <p:nvPicPr>
          <p:cNvPr id="3" name="Picture 2">
            <a:extLst>
              <a:ext uri="{FF2B5EF4-FFF2-40B4-BE49-F238E27FC236}">
                <a16:creationId xmlns:a16="http://schemas.microsoft.com/office/drawing/2014/main" id="{CA7487DF-7D1F-46DA-A425-22024D7D1A82}"/>
              </a:ext>
            </a:extLst>
          </p:cNvPr>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593130" y="1055802"/>
            <a:ext cx="8785782" cy="5802198"/>
          </a:xfrm>
          <a:prstGeom prst="rect">
            <a:avLst/>
          </a:prstGeom>
          <a:noFill/>
          <a:ln>
            <a:noFill/>
          </a:ln>
        </p:spPr>
      </p:pic>
    </p:spTree>
    <p:extLst>
      <p:ext uri="{BB962C8B-B14F-4D97-AF65-F5344CB8AC3E}">
        <p14:creationId xmlns:p14="http://schemas.microsoft.com/office/powerpoint/2010/main" val="377354090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53"/>
        <p:cNvGrpSpPr/>
        <p:nvPr/>
      </p:nvGrpSpPr>
      <p:grpSpPr>
        <a:xfrm>
          <a:off x="0" y="0"/>
          <a:ext cx="0" cy="0"/>
          <a:chOff x="0" y="0"/>
          <a:chExt cx="0" cy="0"/>
        </a:xfrm>
      </p:grpSpPr>
      <p:sp>
        <p:nvSpPr>
          <p:cNvPr id="54" name="Google Shape;54;p13"/>
          <p:cNvSpPr txBox="1">
            <a:spLocks noGrp="1"/>
          </p:cNvSpPr>
          <p:nvPr>
            <p:ph type="title"/>
          </p:nvPr>
        </p:nvSpPr>
        <p:spPr>
          <a:xfrm>
            <a:off x="415600" y="162442"/>
            <a:ext cx="11360800" cy="763600"/>
          </a:xfrm>
          <a:prstGeom prst="rect">
            <a:avLst/>
          </a:prstGeom>
        </p:spPr>
        <p:txBody>
          <a:bodyPr spcFirstLastPara="1" vert="horz" wrap="square" lIns="121900" tIns="121900" rIns="121900" bIns="121900" rtlCol="0" anchor="t" anchorCtr="0">
            <a:normAutofit/>
          </a:bodyPr>
          <a:lstStyle/>
          <a:p>
            <a:pPr algn="ctr"/>
            <a:r>
              <a:rPr lang="en" sz="3200" dirty="0"/>
              <a:t>CMM 2024-06 Revision to CMM 2010-01 for NP MLS</a:t>
            </a:r>
            <a:endParaRPr sz="3200" dirty="0"/>
          </a:p>
        </p:txBody>
      </p:sp>
      <p:sp>
        <p:nvSpPr>
          <p:cNvPr id="55" name="Google Shape;55;p13"/>
          <p:cNvSpPr txBox="1">
            <a:spLocks noGrp="1"/>
          </p:cNvSpPr>
          <p:nvPr>
            <p:ph type="body" idx="1"/>
          </p:nvPr>
        </p:nvSpPr>
        <p:spPr>
          <a:xfrm>
            <a:off x="0" y="1536632"/>
            <a:ext cx="7837715" cy="5321368"/>
          </a:xfrm>
          <a:prstGeom prst="rect">
            <a:avLst/>
          </a:prstGeom>
        </p:spPr>
        <p:txBody>
          <a:bodyPr spcFirstLastPara="1" vert="horz" wrap="square" lIns="121900" tIns="121900" rIns="121900" bIns="121900" rtlCol="0" anchor="t" anchorCtr="0">
            <a:normAutofit fontScale="92500" lnSpcReduction="10000"/>
          </a:bodyPr>
          <a:lstStyle/>
          <a:p>
            <a:pPr indent="-445758">
              <a:buSzPct val="100000"/>
            </a:pPr>
            <a:r>
              <a:rPr lang="en" dirty="0"/>
              <a:t>Maximum catch limit of 2400 mt</a:t>
            </a:r>
            <a:endParaRPr dirty="0"/>
          </a:p>
          <a:p>
            <a:pPr indent="-445758">
              <a:buSzPct val="100000"/>
            </a:pPr>
            <a:r>
              <a:rPr lang="en" dirty="0"/>
              <a:t>In 2025-2027, each country can take up to 165 mt additional to their individual limit if the catch limit in 2023-2025 is not reached</a:t>
            </a:r>
            <a:endParaRPr dirty="0"/>
          </a:p>
          <a:p>
            <a:pPr lvl="1" indent="-414432">
              <a:buSzPct val="100000"/>
            </a:pPr>
            <a:r>
              <a:rPr lang="en" dirty="0"/>
              <a:t>In 2023 there was an underage </a:t>
            </a:r>
            <a:r>
              <a:rPr lang="en"/>
              <a:t>of 826 mt </a:t>
            </a:r>
            <a:r>
              <a:rPr lang="en" dirty="0"/>
              <a:t>therefore countries are allowed to increase their limit </a:t>
            </a:r>
            <a:r>
              <a:rPr lang="en"/>
              <a:t>by 165 mt </a:t>
            </a:r>
            <a:r>
              <a:rPr lang="en" dirty="0"/>
              <a:t>in 2025.</a:t>
            </a:r>
            <a:endParaRPr dirty="0"/>
          </a:p>
          <a:p>
            <a:pPr lvl="1" indent="-414432">
              <a:buSzPct val="100000"/>
            </a:pPr>
            <a:r>
              <a:rPr lang="en" dirty="0"/>
              <a:t>Any underage in 2024 can be applied to 2026, and 2025 to 2027.</a:t>
            </a:r>
            <a:endParaRPr dirty="0"/>
          </a:p>
          <a:p>
            <a:pPr indent="-445758">
              <a:buSzPct val="100000"/>
            </a:pPr>
            <a:r>
              <a:rPr lang="en" dirty="0"/>
              <a:t>No country is allowed to increase their catch by more than 165 mt.</a:t>
            </a:r>
            <a:endParaRPr dirty="0"/>
          </a:p>
          <a:p>
            <a:pPr indent="-445758">
              <a:buSzPct val="100000"/>
            </a:pPr>
            <a:r>
              <a:rPr lang="en" dirty="0"/>
              <a:t>If underage is less than 826 mt, then there will be decisions made about who gets that extra catch (not our problem)</a:t>
            </a:r>
            <a:endParaRPr dirty="0"/>
          </a:p>
          <a:p>
            <a:pPr indent="-445758">
              <a:buSzPct val="100000"/>
            </a:pPr>
            <a:r>
              <a:rPr lang="en" dirty="0"/>
              <a:t>Overage for each country is subtracted from their next year’s individual limit</a:t>
            </a:r>
            <a:endParaRPr dirty="0"/>
          </a:p>
        </p:txBody>
      </p:sp>
      <p:graphicFrame>
        <p:nvGraphicFramePr>
          <p:cNvPr id="56" name="Google Shape;56;p13"/>
          <p:cNvGraphicFramePr/>
          <p:nvPr>
            <p:extLst>
              <p:ext uri="{D42A27DB-BD31-4B8C-83A1-F6EECF244321}">
                <p14:modId xmlns:p14="http://schemas.microsoft.com/office/powerpoint/2010/main" val="2579184875"/>
              </p:ext>
            </p:extLst>
          </p:nvPr>
        </p:nvGraphicFramePr>
        <p:xfrm>
          <a:off x="8098400" y="1168771"/>
          <a:ext cx="3678000" cy="5608000"/>
        </p:xfrm>
        <a:graphic>
          <a:graphicData uri="http://schemas.openxmlformats.org/drawingml/2006/table">
            <a:tbl>
              <a:tblPr>
                <a:noFill/>
              </a:tblPr>
              <a:tblGrid>
                <a:gridCol w="1839000">
                  <a:extLst>
                    <a:ext uri="{9D8B030D-6E8A-4147-A177-3AD203B41FA5}">
                      <a16:colId xmlns:a16="http://schemas.microsoft.com/office/drawing/2014/main" val="20000"/>
                    </a:ext>
                  </a:extLst>
                </a:gridCol>
                <a:gridCol w="1839000">
                  <a:extLst>
                    <a:ext uri="{9D8B030D-6E8A-4147-A177-3AD203B41FA5}">
                      <a16:colId xmlns:a16="http://schemas.microsoft.com/office/drawing/2014/main" val="20001"/>
                    </a:ext>
                  </a:extLst>
                </a:gridCol>
              </a:tblGrid>
              <a:tr h="609560">
                <a:tc>
                  <a:txBody>
                    <a:bodyPr/>
                    <a:lstStyle/>
                    <a:p>
                      <a:pPr marL="0" lvl="0" indent="0" algn="l" rtl="0">
                        <a:spcBef>
                          <a:spcPts val="0"/>
                        </a:spcBef>
                        <a:spcAft>
                          <a:spcPts val="0"/>
                        </a:spcAft>
                        <a:buNone/>
                      </a:pPr>
                      <a:r>
                        <a:rPr lang="en" sz="2400" b="1"/>
                        <a:t>Country</a:t>
                      </a:r>
                      <a:endParaRPr sz="2400" b="1"/>
                    </a:p>
                  </a:txBody>
                  <a:tcPr marL="121900" marR="121900" marT="121900" marB="121900"/>
                </a:tc>
                <a:tc>
                  <a:txBody>
                    <a:bodyPr/>
                    <a:lstStyle/>
                    <a:p>
                      <a:pPr marL="0" lvl="0" indent="0" algn="l" rtl="0">
                        <a:spcBef>
                          <a:spcPts val="0"/>
                        </a:spcBef>
                        <a:spcAft>
                          <a:spcPts val="0"/>
                        </a:spcAft>
                        <a:buNone/>
                      </a:pPr>
                      <a:r>
                        <a:rPr lang="en" sz="2400" b="1"/>
                        <a:t>Catch Limit</a:t>
                      </a:r>
                      <a:endParaRPr sz="2400" b="1"/>
                    </a:p>
                  </a:txBody>
                  <a:tcPr marL="121900" marR="121900" marT="121900" marB="121900"/>
                </a:tc>
                <a:extLst>
                  <a:ext uri="{0D108BD9-81ED-4DB2-BD59-A6C34878D82A}">
                    <a16:rowId xmlns:a16="http://schemas.microsoft.com/office/drawing/2014/main" val="10000"/>
                  </a:ext>
                </a:extLst>
              </a:tr>
              <a:tr h="609560">
                <a:tc>
                  <a:txBody>
                    <a:bodyPr/>
                    <a:lstStyle/>
                    <a:p>
                      <a:pPr marL="0" lvl="0" indent="0" algn="l" rtl="0">
                        <a:spcBef>
                          <a:spcPts val="0"/>
                        </a:spcBef>
                        <a:spcAft>
                          <a:spcPts val="0"/>
                        </a:spcAft>
                        <a:buNone/>
                      </a:pPr>
                      <a:r>
                        <a:rPr lang="en" sz="2400"/>
                        <a:t>Japan</a:t>
                      </a:r>
                      <a:endParaRPr sz="2400"/>
                    </a:p>
                  </a:txBody>
                  <a:tcPr marL="121900" marR="121900" marT="121900" marB="121900"/>
                </a:tc>
                <a:tc>
                  <a:txBody>
                    <a:bodyPr/>
                    <a:lstStyle/>
                    <a:p>
                      <a:pPr marL="0" lvl="0" indent="0" algn="l" rtl="0">
                        <a:spcBef>
                          <a:spcPts val="0"/>
                        </a:spcBef>
                        <a:spcAft>
                          <a:spcPts val="0"/>
                        </a:spcAft>
                        <a:buNone/>
                      </a:pPr>
                      <a:r>
                        <a:rPr lang="en" sz="2400"/>
                        <a:t>1454.4mt</a:t>
                      </a:r>
                      <a:endParaRPr sz="2400"/>
                    </a:p>
                  </a:txBody>
                  <a:tcPr marL="121900" marR="121900" marT="121900" marB="121900"/>
                </a:tc>
                <a:extLst>
                  <a:ext uri="{0D108BD9-81ED-4DB2-BD59-A6C34878D82A}">
                    <a16:rowId xmlns:a16="http://schemas.microsoft.com/office/drawing/2014/main" val="10001"/>
                  </a:ext>
                </a:extLst>
              </a:tr>
              <a:tr h="975320">
                <a:tc>
                  <a:txBody>
                    <a:bodyPr/>
                    <a:lstStyle/>
                    <a:p>
                      <a:pPr marL="0" lvl="0" indent="0" algn="l" rtl="0">
                        <a:spcBef>
                          <a:spcPts val="0"/>
                        </a:spcBef>
                        <a:spcAft>
                          <a:spcPts val="0"/>
                        </a:spcAft>
                        <a:buNone/>
                      </a:pPr>
                      <a:r>
                        <a:rPr lang="en" sz="2400"/>
                        <a:t>Chinese Taipei</a:t>
                      </a:r>
                      <a:endParaRPr sz="2400"/>
                    </a:p>
                  </a:txBody>
                  <a:tcPr marL="121900" marR="121900" marT="121900" marB="121900"/>
                </a:tc>
                <a:tc>
                  <a:txBody>
                    <a:bodyPr/>
                    <a:lstStyle/>
                    <a:p>
                      <a:pPr marL="0" lvl="0" indent="0" algn="l" rtl="0">
                        <a:spcBef>
                          <a:spcPts val="0"/>
                        </a:spcBef>
                        <a:spcAft>
                          <a:spcPts val="0"/>
                        </a:spcAft>
                        <a:buNone/>
                      </a:pPr>
                      <a:r>
                        <a:rPr lang="en" sz="2400"/>
                        <a:t>358.4mt</a:t>
                      </a:r>
                      <a:endParaRPr sz="2400"/>
                    </a:p>
                  </a:txBody>
                  <a:tcPr marL="121900" marR="121900" marT="121900" marB="121900"/>
                </a:tc>
                <a:extLst>
                  <a:ext uri="{0D108BD9-81ED-4DB2-BD59-A6C34878D82A}">
                    <a16:rowId xmlns:a16="http://schemas.microsoft.com/office/drawing/2014/main" val="10002"/>
                  </a:ext>
                </a:extLst>
              </a:tr>
              <a:tr h="609560">
                <a:tc>
                  <a:txBody>
                    <a:bodyPr/>
                    <a:lstStyle/>
                    <a:p>
                      <a:pPr marL="0" lvl="0" indent="0" algn="l" rtl="0">
                        <a:spcBef>
                          <a:spcPts val="0"/>
                        </a:spcBef>
                        <a:spcAft>
                          <a:spcPts val="0"/>
                        </a:spcAft>
                        <a:buNone/>
                      </a:pPr>
                      <a:r>
                        <a:rPr lang="en" sz="2400"/>
                        <a:t>Korea</a:t>
                      </a:r>
                      <a:endParaRPr sz="2400"/>
                    </a:p>
                  </a:txBody>
                  <a:tcPr marL="121900" marR="121900" marT="121900" marB="121900"/>
                </a:tc>
                <a:tc>
                  <a:txBody>
                    <a:bodyPr/>
                    <a:lstStyle/>
                    <a:p>
                      <a:pPr marL="0" lvl="0" indent="0" algn="l" rtl="0">
                        <a:spcBef>
                          <a:spcPts val="0"/>
                        </a:spcBef>
                        <a:spcAft>
                          <a:spcPts val="0"/>
                        </a:spcAft>
                        <a:buNone/>
                      </a:pPr>
                      <a:r>
                        <a:rPr lang="en" sz="2400"/>
                        <a:t>214.8mt</a:t>
                      </a:r>
                      <a:endParaRPr sz="2400"/>
                    </a:p>
                  </a:txBody>
                  <a:tcPr marL="121900" marR="121900" marT="121900" marB="121900"/>
                </a:tc>
                <a:extLst>
                  <a:ext uri="{0D108BD9-81ED-4DB2-BD59-A6C34878D82A}">
                    <a16:rowId xmlns:a16="http://schemas.microsoft.com/office/drawing/2014/main" val="10003"/>
                  </a:ext>
                </a:extLst>
              </a:tr>
              <a:tr h="975320">
                <a:tc>
                  <a:txBody>
                    <a:bodyPr/>
                    <a:lstStyle/>
                    <a:p>
                      <a:pPr marL="0" lvl="0" indent="0" algn="l" rtl="0">
                        <a:spcBef>
                          <a:spcPts val="0"/>
                        </a:spcBef>
                        <a:spcAft>
                          <a:spcPts val="0"/>
                        </a:spcAft>
                        <a:buNone/>
                      </a:pPr>
                      <a:r>
                        <a:rPr lang="en" sz="2400"/>
                        <a:t>United States</a:t>
                      </a:r>
                      <a:endParaRPr sz="2400"/>
                    </a:p>
                  </a:txBody>
                  <a:tcPr marL="121900" marR="121900" marT="121900" marB="121900"/>
                </a:tc>
                <a:tc>
                  <a:txBody>
                    <a:bodyPr/>
                    <a:lstStyle/>
                    <a:p>
                      <a:pPr marL="0" lvl="0" indent="0" algn="l" rtl="0">
                        <a:spcBef>
                          <a:spcPts val="0"/>
                        </a:spcBef>
                        <a:spcAft>
                          <a:spcPts val="0"/>
                        </a:spcAft>
                        <a:buNone/>
                      </a:pPr>
                      <a:r>
                        <a:rPr lang="en" sz="2400"/>
                        <a:t>228.4mt</a:t>
                      </a:r>
                      <a:endParaRPr sz="2400"/>
                    </a:p>
                  </a:txBody>
                  <a:tcPr marL="121900" marR="121900" marT="121900" marB="121900"/>
                </a:tc>
                <a:extLst>
                  <a:ext uri="{0D108BD9-81ED-4DB2-BD59-A6C34878D82A}">
                    <a16:rowId xmlns:a16="http://schemas.microsoft.com/office/drawing/2014/main" val="10004"/>
                  </a:ext>
                </a:extLst>
              </a:tr>
              <a:tr h="609560">
                <a:tc>
                  <a:txBody>
                    <a:bodyPr/>
                    <a:lstStyle/>
                    <a:p>
                      <a:pPr marL="0" lvl="0" indent="0" algn="l" rtl="0">
                        <a:spcBef>
                          <a:spcPts val="0"/>
                        </a:spcBef>
                        <a:spcAft>
                          <a:spcPts val="0"/>
                        </a:spcAft>
                        <a:buNone/>
                      </a:pPr>
                      <a:r>
                        <a:rPr lang="en" sz="2400"/>
                        <a:t>China</a:t>
                      </a:r>
                      <a:endParaRPr sz="2400"/>
                    </a:p>
                  </a:txBody>
                  <a:tcPr marL="121900" marR="121900" marT="121900" marB="121900"/>
                </a:tc>
                <a:tc>
                  <a:txBody>
                    <a:bodyPr/>
                    <a:lstStyle/>
                    <a:p>
                      <a:pPr marL="0" lvl="0" indent="0" algn="l" rtl="0">
                        <a:spcBef>
                          <a:spcPts val="0"/>
                        </a:spcBef>
                        <a:spcAft>
                          <a:spcPts val="0"/>
                        </a:spcAft>
                        <a:buNone/>
                      </a:pPr>
                      <a:r>
                        <a:rPr lang="en" sz="2400"/>
                        <a:t>68.8 mt</a:t>
                      </a:r>
                      <a:endParaRPr sz="2400"/>
                    </a:p>
                  </a:txBody>
                  <a:tcPr marL="121900" marR="121900" marT="121900" marB="121900"/>
                </a:tc>
                <a:extLst>
                  <a:ext uri="{0D108BD9-81ED-4DB2-BD59-A6C34878D82A}">
                    <a16:rowId xmlns:a16="http://schemas.microsoft.com/office/drawing/2014/main" val="10005"/>
                  </a:ext>
                </a:extLst>
              </a:tr>
              <a:tr h="609560">
                <a:tc>
                  <a:txBody>
                    <a:bodyPr/>
                    <a:lstStyle/>
                    <a:p>
                      <a:pPr marL="0" lvl="0" indent="0" algn="l" rtl="0">
                        <a:spcBef>
                          <a:spcPts val="0"/>
                        </a:spcBef>
                        <a:spcAft>
                          <a:spcPts val="0"/>
                        </a:spcAft>
                        <a:buNone/>
                      </a:pPr>
                      <a:r>
                        <a:rPr lang="en" sz="2400"/>
                        <a:t>Other SIDS</a:t>
                      </a:r>
                      <a:endParaRPr sz="2400"/>
                    </a:p>
                  </a:txBody>
                  <a:tcPr marL="121900" marR="121900" marT="121900" marB="121900"/>
                </a:tc>
                <a:tc>
                  <a:txBody>
                    <a:bodyPr/>
                    <a:lstStyle/>
                    <a:p>
                      <a:pPr marL="0" lvl="0" indent="0" algn="l" rtl="0">
                        <a:spcBef>
                          <a:spcPts val="0"/>
                        </a:spcBef>
                        <a:spcAft>
                          <a:spcPts val="0"/>
                        </a:spcAft>
                        <a:buNone/>
                      </a:pPr>
                      <a:r>
                        <a:rPr lang="en" sz="2400"/>
                        <a:t>75.2 mt</a:t>
                      </a:r>
                      <a:endParaRPr sz="2400"/>
                    </a:p>
                  </a:txBody>
                  <a:tcPr marL="121900" marR="121900" marT="121900" marB="121900"/>
                </a:tc>
                <a:extLst>
                  <a:ext uri="{0D108BD9-81ED-4DB2-BD59-A6C34878D82A}">
                    <a16:rowId xmlns:a16="http://schemas.microsoft.com/office/drawing/2014/main" val="10006"/>
                  </a:ext>
                </a:extLst>
              </a:tr>
              <a:tr h="609560">
                <a:tc>
                  <a:txBody>
                    <a:bodyPr/>
                    <a:lstStyle/>
                    <a:p>
                      <a:pPr marL="0" lvl="0" indent="0" algn="l" rtl="0">
                        <a:spcBef>
                          <a:spcPts val="0"/>
                        </a:spcBef>
                        <a:spcAft>
                          <a:spcPts val="0"/>
                        </a:spcAft>
                        <a:buNone/>
                      </a:pPr>
                      <a:r>
                        <a:rPr lang="en" sz="2400" b="1"/>
                        <a:t>Total</a:t>
                      </a:r>
                      <a:endParaRPr sz="2400" b="1"/>
                    </a:p>
                  </a:txBody>
                  <a:tcPr marL="121900" marR="121900" marT="121900" marB="121900"/>
                </a:tc>
                <a:tc>
                  <a:txBody>
                    <a:bodyPr/>
                    <a:lstStyle/>
                    <a:p>
                      <a:pPr marL="0" lvl="0" indent="0" algn="l" rtl="0">
                        <a:spcBef>
                          <a:spcPts val="0"/>
                        </a:spcBef>
                        <a:spcAft>
                          <a:spcPts val="0"/>
                        </a:spcAft>
                        <a:buNone/>
                      </a:pPr>
                      <a:r>
                        <a:rPr lang="en" sz="2400" b="1" dirty="0"/>
                        <a:t>2400 mt</a:t>
                      </a:r>
                      <a:endParaRPr sz="2400" b="1" dirty="0"/>
                    </a:p>
                  </a:txBody>
                  <a:tcPr marL="121900" marR="121900" marT="121900" marB="121900"/>
                </a:tc>
                <a:extLst>
                  <a:ext uri="{0D108BD9-81ED-4DB2-BD59-A6C34878D82A}">
                    <a16:rowId xmlns:a16="http://schemas.microsoft.com/office/drawing/2014/main" val="10007"/>
                  </a:ext>
                </a:extLst>
              </a:tr>
            </a:tbl>
          </a:graphicData>
        </a:graphic>
      </p:graphicFrame>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60"/>
        <p:cNvGrpSpPr/>
        <p:nvPr/>
      </p:nvGrpSpPr>
      <p:grpSpPr>
        <a:xfrm>
          <a:off x="0" y="0"/>
          <a:ext cx="0" cy="0"/>
          <a:chOff x="0" y="0"/>
          <a:chExt cx="0" cy="0"/>
        </a:xfrm>
      </p:grpSpPr>
      <p:sp>
        <p:nvSpPr>
          <p:cNvPr id="61" name="Google Shape;61;p14"/>
          <p:cNvSpPr txBox="1">
            <a:spLocks noGrp="1"/>
          </p:cNvSpPr>
          <p:nvPr>
            <p:ph type="title"/>
          </p:nvPr>
        </p:nvSpPr>
        <p:spPr>
          <a:xfrm>
            <a:off x="415600" y="0"/>
            <a:ext cx="11360800" cy="763600"/>
          </a:xfrm>
          <a:prstGeom prst="rect">
            <a:avLst/>
          </a:prstGeom>
        </p:spPr>
        <p:txBody>
          <a:bodyPr spcFirstLastPara="1" vert="horz" wrap="square" lIns="121900" tIns="121900" rIns="121900" bIns="121900" rtlCol="0" anchor="t" anchorCtr="0">
            <a:normAutofit/>
          </a:bodyPr>
          <a:lstStyle/>
          <a:p>
            <a:pPr algn="ctr"/>
            <a:r>
              <a:rPr lang="en" sz="3200" dirty="0"/>
              <a:t>Scenario 1. Set CMM 2024-06 Catch Limits at 2,400 mt</a:t>
            </a:r>
            <a:endParaRPr sz="3200" dirty="0"/>
          </a:p>
        </p:txBody>
      </p:sp>
      <p:graphicFrame>
        <p:nvGraphicFramePr>
          <p:cNvPr id="62" name="Google Shape;62;p14"/>
          <p:cNvGraphicFramePr/>
          <p:nvPr>
            <p:extLst>
              <p:ext uri="{D42A27DB-BD31-4B8C-83A1-F6EECF244321}">
                <p14:modId xmlns:p14="http://schemas.microsoft.com/office/powerpoint/2010/main" val="1750460927"/>
              </p:ext>
            </p:extLst>
          </p:nvPr>
        </p:nvGraphicFramePr>
        <p:xfrm>
          <a:off x="1665534" y="763600"/>
          <a:ext cx="8860932" cy="4876480"/>
        </p:xfrm>
        <a:graphic>
          <a:graphicData uri="http://schemas.openxmlformats.org/drawingml/2006/table">
            <a:tbl>
              <a:tblPr>
                <a:noFill/>
              </a:tblPr>
              <a:tblGrid>
                <a:gridCol w="2215233">
                  <a:extLst>
                    <a:ext uri="{9D8B030D-6E8A-4147-A177-3AD203B41FA5}">
                      <a16:colId xmlns:a16="http://schemas.microsoft.com/office/drawing/2014/main" val="20000"/>
                    </a:ext>
                  </a:extLst>
                </a:gridCol>
                <a:gridCol w="2215233">
                  <a:extLst>
                    <a:ext uri="{9D8B030D-6E8A-4147-A177-3AD203B41FA5}">
                      <a16:colId xmlns:a16="http://schemas.microsoft.com/office/drawing/2014/main" val="20001"/>
                    </a:ext>
                  </a:extLst>
                </a:gridCol>
                <a:gridCol w="2215233">
                  <a:extLst>
                    <a:ext uri="{9D8B030D-6E8A-4147-A177-3AD203B41FA5}">
                      <a16:colId xmlns:a16="http://schemas.microsoft.com/office/drawing/2014/main" val="20002"/>
                    </a:ext>
                  </a:extLst>
                </a:gridCol>
                <a:gridCol w="2215233">
                  <a:extLst>
                    <a:ext uri="{9D8B030D-6E8A-4147-A177-3AD203B41FA5}">
                      <a16:colId xmlns:a16="http://schemas.microsoft.com/office/drawing/2014/main" val="20003"/>
                    </a:ext>
                  </a:extLst>
                </a:gridCol>
              </a:tblGrid>
              <a:tr h="609560">
                <a:tc>
                  <a:txBody>
                    <a:bodyPr/>
                    <a:lstStyle/>
                    <a:p>
                      <a:pPr marL="0" lvl="0" indent="0" algn="l" rtl="0">
                        <a:spcBef>
                          <a:spcPts val="0"/>
                        </a:spcBef>
                        <a:spcAft>
                          <a:spcPts val="0"/>
                        </a:spcAft>
                        <a:buNone/>
                      </a:pPr>
                      <a:r>
                        <a:rPr lang="en" sz="2400" b="1"/>
                        <a:t>Country</a:t>
                      </a:r>
                      <a:endParaRPr sz="2400" b="1"/>
                    </a:p>
                  </a:txBody>
                  <a:tcPr marL="121900" marR="121900" marT="121900" marB="121900"/>
                </a:tc>
                <a:tc>
                  <a:txBody>
                    <a:bodyPr/>
                    <a:lstStyle/>
                    <a:p>
                      <a:pPr marL="0" lvl="0" indent="0" algn="l" rtl="0">
                        <a:spcBef>
                          <a:spcPts val="0"/>
                        </a:spcBef>
                        <a:spcAft>
                          <a:spcPts val="0"/>
                        </a:spcAft>
                        <a:buNone/>
                      </a:pPr>
                      <a:r>
                        <a:rPr lang="en" sz="2400" b="1" dirty="0"/>
                        <a:t>2025</a:t>
                      </a:r>
                      <a:endParaRPr sz="2400" b="1" dirty="0"/>
                    </a:p>
                  </a:txBody>
                  <a:tcPr marL="121900" marR="121900" marT="121900" marB="121900"/>
                </a:tc>
                <a:tc>
                  <a:txBody>
                    <a:bodyPr/>
                    <a:lstStyle/>
                    <a:p>
                      <a:pPr marL="0" lvl="0" indent="0" algn="l" rtl="0">
                        <a:spcBef>
                          <a:spcPts val="0"/>
                        </a:spcBef>
                        <a:spcAft>
                          <a:spcPts val="0"/>
                        </a:spcAft>
                        <a:buNone/>
                      </a:pPr>
                      <a:r>
                        <a:rPr lang="en" sz="2400" b="1"/>
                        <a:t>2026</a:t>
                      </a:r>
                      <a:endParaRPr sz="2400" b="1"/>
                    </a:p>
                  </a:txBody>
                  <a:tcPr marL="121900" marR="121900" marT="121900" marB="121900">
                    <a:lnB w="9525" cap="flat" cmpd="sng">
                      <a:solidFill>
                        <a:srgbClr val="9E9E9E"/>
                      </a:solidFill>
                      <a:prstDash val="solid"/>
                      <a:round/>
                      <a:headEnd type="none" w="sm" len="sm"/>
                      <a:tailEnd type="none" w="sm" len="sm"/>
                    </a:lnB>
                  </a:tcPr>
                </a:tc>
                <a:tc>
                  <a:txBody>
                    <a:bodyPr/>
                    <a:lstStyle/>
                    <a:p>
                      <a:pPr marL="0" lvl="0" indent="0" algn="l" rtl="0">
                        <a:spcBef>
                          <a:spcPts val="0"/>
                        </a:spcBef>
                        <a:spcAft>
                          <a:spcPts val="0"/>
                        </a:spcAft>
                        <a:buNone/>
                      </a:pPr>
                      <a:r>
                        <a:rPr lang="en" sz="2400" b="1"/>
                        <a:t>2027</a:t>
                      </a:r>
                      <a:endParaRPr sz="2400" b="1"/>
                    </a:p>
                  </a:txBody>
                  <a:tcPr marL="121900" marR="121900" marT="121900" marB="121900">
                    <a:lnB w="9525" cap="flat" cmpd="sng">
                      <a:solidFill>
                        <a:srgbClr val="9E9E9E"/>
                      </a:solidFill>
                      <a:prstDash val="solid"/>
                      <a:round/>
                      <a:headEnd type="none" w="sm" len="sm"/>
                      <a:tailEnd type="none" w="sm" len="sm"/>
                    </a:lnB>
                  </a:tcPr>
                </a:tc>
                <a:extLst>
                  <a:ext uri="{0D108BD9-81ED-4DB2-BD59-A6C34878D82A}">
                    <a16:rowId xmlns:a16="http://schemas.microsoft.com/office/drawing/2014/main" val="10000"/>
                  </a:ext>
                </a:extLst>
              </a:tr>
              <a:tr h="609560">
                <a:tc>
                  <a:txBody>
                    <a:bodyPr/>
                    <a:lstStyle/>
                    <a:p>
                      <a:pPr marL="0" lvl="0" indent="0" algn="l" rtl="0">
                        <a:spcBef>
                          <a:spcPts val="0"/>
                        </a:spcBef>
                        <a:spcAft>
                          <a:spcPts val="0"/>
                        </a:spcAft>
                        <a:buNone/>
                      </a:pPr>
                      <a:r>
                        <a:rPr lang="en" sz="2400"/>
                        <a:t>Japan</a:t>
                      </a:r>
                      <a:endParaRPr sz="2400"/>
                    </a:p>
                  </a:txBody>
                  <a:tcPr marL="121900" marR="121900" marT="121900" marB="121900"/>
                </a:tc>
                <a:tc>
                  <a:txBody>
                    <a:bodyPr/>
                    <a:lstStyle/>
                    <a:p>
                      <a:pPr marL="0" lvl="0" indent="0" algn="l" rtl="0">
                        <a:spcBef>
                          <a:spcPts val="0"/>
                        </a:spcBef>
                        <a:spcAft>
                          <a:spcPts val="0"/>
                        </a:spcAft>
                        <a:buNone/>
                      </a:pPr>
                      <a:r>
                        <a:rPr lang="en" sz="2400" dirty="0"/>
                        <a:t>1454.4 mt</a:t>
                      </a:r>
                      <a:endParaRPr sz="2400" dirty="0"/>
                    </a:p>
                  </a:txBody>
                  <a:tcPr marL="121900" marR="121900" marT="121900" marB="121900">
                    <a:lnR w="9525" cap="flat" cmpd="sng">
                      <a:solidFill>
                        <a:srgbClr val="9E9E9E"/>
                      </a:solidFill>
                      <a:prstDash val="solid"/>
                      <a:round/>
                      <a:headEnd type="none" w="sm" len="sm"/>
                      <a:tailEnd type="none" w="sm" len="sm"/>
                    </a:lnR>
                  </a:tcPr>
                </a:tc>
                <a:tc>
                  <a:txBody>
                    <a:bodyPr/>
                    <a:lstStyle/>
                    <a:p>
                      <a:pPr marL="0" lvl="0" indent="0" algn="l" rtl="0">
                        <a:spcBef>
                          <a:spcPts val="0"/>
                        </a:spcBef>
                        <a:spcAft>
                          <a:spcPts val="0"/>
                        </a:spcAft>
                        <a:buNone/>
                      </a:pPr>
                      <a:r>
                        <a:rPr lang="en" sz="2400" dirty="0"/>
                        <a:t>1454.4 mt</a:t>
                      </a:r>
                      <a:endParaRPr sz="2400" dirty="0"/>
                    </a:p>
                  </a:txBody>
                  <a:tcPr marL="121900" marR="121900" marT="121900" marB="121900">
                    <a:lnL w="9525" cap="flat" cmpd="sng">
                      <a:solidFill>
                        <a:srgbClr val="9E9E9E"/>
                      </a:solidFill>
                      <a:prstDash val="solid"/>
                      <a:round/>
                      <a:headEnd type="none" w="sm" len="sm"/>
                      <a:tailEnd type="none" w="sm" len="sm"/>
                    </a:lnL>
                    <a:lnR w="9525" cap="flat" cmpd="sng">
                      <a:solidFill>
                        <a:srgbClr val="9E9E9E"/>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tc>
                  <a:txBody>
                    <a:bodyPr/>
                    <a:lstStyle/>
                    <a:p>
                      <a:pPr marL="0" lvl="0" indent="0" algn="l" rtl="0">
                        <a:spcBef>
                          <a:spcPts val="0"/>
                        </a:spcBef>
                        <a:spcAft>
                          <a:spcPts val="0"/>
                        </a:spcAft>
                        <a:buNone/>
                      </a:pPr>
                      <a:r>
                        <a:rPr lang="en" sz="2400" dirty="0"/>
                        <a:t>1454.4 mt</a:t>
                      </a:r>
                      <a:endParaRPr sz="2400" dirty="0"/>
                    </a:p>
                  </a:txBody>
                  <a:tcPr marL="121900" marR="121900" marT="121900" marB="121900">
                    <a:lnL w="9525" cap="flat" cmpd="sng">
                      <a:solidFill>
                        <a:srgbClr val="9E9E9E"/>
                      </a:solidFill>
                      <a:prstDash val="solid"/>
                      <a:round/>
                      <a:headEnd type="none" w="sm" len="sm"/>
                      <a:tailEnd type="none" w="sm" len="sm"/>
                    </a:lnL>
                    <a:lnR w="9525" cap="flat" cmpd="sng">
                      <a:solidFill>
                        <a:srgbClr val="9E9E9E"/>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extLst>
                  <a:ext uri="{0D108BD9-81ED-4DB2-BD59-A6C34878D82A}">
                    <a16:rowId xmlns:a16="http://schemas.microsoft.com/office/drawing/2014/main" val="10001"/>
                  </a:ext>
                </a:extLst>
              </a:tr>
              <a:tr h="609560">
                <a:tc>
                  <a:txBody>
                    <a:bodyPr/>
                    <a:lstStyle/>
                    <a:p>
                      <a:pPr marL="0" lvl="0" indent="0" algn="l" rtl="0">
                        <a:spcBef>
                          <a:spcPts val="0"/>
                        </a:spcBef>
                        <a:spcAft>
                          <a:spcPts val="0"/>
                        </a:spcAft>
                        <a:buNone/>
                      </a:pPr>
                      <a:r>
                        <a:rPr lang="en" sz="2400"/>
                        <a:t>Chinese Taipei</a:t>
                      </a:r>
                      <a:endParaRPr sz="2400"/>
                    </a:p>
                  </a:txBody>
                  <a:tcPr marL="121900" marR="121900" marT="121900" marB="121900"/>
                </a:tc>
                <a:tc>
                  <a:txBody>
                    <a:bodyPr/>
                    <a:lstStyle/>
                    <a:p>
                      <a:pPr marL="0" lvl="0" indent="0" algn="l" rtl="0">
                        <a:spcBef>
                          <a:spcPts val="0"/>
                        </a:spcBef>
                        <a:spcAft>
                          <a:spcPts val="0"/>
                        </a:spcAft>
                        <a:buNone/>
                      </a:pPr>
                      <a:r>
                        <a:rPr lang="en" sz="2400" dirty="0"/>
                        <a:t>358.4 mt</a:t>
                      </a:r>
                      <a:endParaRPr sz="2400" dirty="0"/>
                    </a:p>
                  </a:txBody>
                  <a:tcPr marL="121900" marR="121900" marT="121900" marB="121900">
                    <a:lnR w="9525" cap="flat" cmpd="sng">
                      <a:solidFill>
                        <a:srgbClr val="9E9E9E"/>
                      </a:solidFill>
                      <a:prstDash val="solid"/>
                      <a:round/>
                      <a:headEnd type="none" w="sm" len="sm"/>
                      <a:tailEnd type="none" w="sm" len="sm"/>
                    </a:lnR>
                  </a:tcPr>
                </a:tc>
                <a:tc>
                  <a:txBody>
                    <a:bodyPr/>
                    <a:lstStyle/>
                    <a:p>
                      <a:pPr marL="0" lvl="0" indent="0" algn="l" rtl="0">
                        <a:spcBef>
                          <a:spcPts val="0"/>
                        </a:spcBef>
                        <a:spcAft>
                          <a:spcPts val="0"/>
                        </a:spcAft>
                        <a:buNone/>
                      </a:pPr>
                      <a:r>
                        <a:rPr lang="en" sz="2400" dirty="0"/>
                        <a:t>358.4 mt</a:t>
                      </a:r>
                      <a:endParaRPr sz="2400" dirty="0"/>
                    </a:p>
                  </a:txBody>
                  <a:tcPr marL="121900" marR="121900" marT="121900" marB="121900">
                    <a:lnL w="9525" cap="flat" cmpd="sng">
                      <a:solidFill>
                        <a:srgbClr val="9E9E9E"/>
                      </a:solidFill>
                      <a:prstDash val="solid"/>
                      <a:round/>
                      <a:headEnd type="none" w="sm" len="sm"/>
                      <a:tailEnd type="none" w="sm" len="sm"/>
                    </a:lnL>
                    <a:lnR w="9525" cap="flat" cmpd="sng">
                      <a:solidFill>
                        <a:srgbClr val="9E9E9E"/>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tc>
                  <a:txBody>
                    <a:bodyPr/>
                    <a:lstStyle/>
                    <a:p>
                      <a:pPr marL="0" lvl="0" indent="0" algn="l" rtl="0">
                        <a:spcBef>
                          <a:spcPts val="0"/>
                        </a:spcBef>
                        <a:spcAft>
                          <a:spcPts val="0"/>
                        </a:spcAft>
                        <a:buNone/>
                      </a:pPr>
                      <a:r>
                        <a:rPr lang="en" sz="2400" dirty="0"/>
                        <a:t>358.4 mt</a:t>
                      </a:r>
                      <a:endParaRPr sz="2400" dirty="0"/>
                    </a:p>
                  </a:txBody>
                  <a:tcPr marL="121900" marR="121900" marT="121900" marB="121900">
                    <a:lnL w="9525" cap="flat" cmpd="sng">
                      <a:solidFill>
                        <a:srgbClr val="9E9E9E"/>
                      </a:solidFill>
                      <a:prstDash val="solid"/>
                      <a:round/>
                      <a:headEnd type="none" w="sm" len="sm"/>
                      <a:tailEnd type="none" w="sm" len="sm"/>
                    </a:lnL>
                    <a:lnR w="9525" cap="flat" cmpd="sng">
                      <a:solidFill>
                        <a:srgbClr val="9E9E9E"/>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extLst>
                  <a:ext uri="{0D108BD9-81ED-4DB2-BD59-A6C34878D82A}">
                    <a16:rowId xmlns:a16="http://schemas.microsoft.com/office/drawing/2014/main" val="10002"/>
                  </a:ext>
                </a:extLst>
              </a:tr>
              <a:tr h="609560">
                <a:tc>
                  <a:txBody>
                    <a:bodyPr/>
                    <a:lstStyle/>
                    <a:p>
                      <a:pPr marL="0" lvl="0" indent="0" algn="l" rtl="0">
                        <a:spcBef>
                          <a:spcPts val="0"/>
                        </a:spcBef>
                        <a:spcAft>
                          <a:spcPts val="0"/>
                        </a:spcAft>
                        <a:buNone/>
                      </a:pPr>
                      <a:r>
                        <a:rPr lang="en" sz="2400"/>
                        <a:t>Korea</a:t>
                      </a:r>
                      <a:endParaRPr sz="2400"/>
                    </a:p>
                  </a:txBody>
                  <a:tcPr marL="121900" marR="121900" marT="121900" marB="121900"/>
                </a:tc>
                <a:tc>
                  <a:txBody>
                    <a:bodyPr/>
                    <a:lstStyle/>
                    <a:p>
                      <a:pPr marL="0" lvl="0" indent="0" algn="l" rtl="0">
                        <a:spcBef>
                          <a:spcPts val="0"/>
                        </a:spcBef>
                        <a:spcAft>
                          <a:spcPts val="0"/>
                        </a:spcAft>
                        <a:buNone/>
                      </a:pPr>
                      <a:r>
                        <a:rPr lang="en" sz="2400" dirty="0"/>
                        <a:t>214.8 mt</a:t>
                      </a:r>
                      <a:endParaRPr sz="2400" dirty="0"/>
                    </a:p>
                  </a:txBody>
                  <a:tcPr marL="121900" marR="121900" marT="121900" marB="121900">
                    <a:lnR w="9525" cap="flat" cmpd="sng">
                      <a:solidFill>
                        <a:srgbClr val="9E9E9E"/>
                      </a:solidFill>
                      <a:prstDash val="solid"/>
                      <a:round/>
                      <a:headEnd type="none" w="sm" len="sm"/>
                      <a:tailEnd type="none" w="sm" len="sm"/>
                    </a:lnR>
                  </a:tcPr>
                </a:tc>
                <a:tc>
                  <a:txBody>
                    <a:bodyPr/>
                    <a:lstStyle/>
                    <a:p>
                      <a:pPr marL="0" lvl="0" indent="0" algn="l" rtl="0">
                        <a:spcBef>
                          <a:spcPts val="0"/>
                        </a:spcBef>
                        <a:spcAft>
                          <a:spcPts val="0"/>
                        </a:spcAft>
                        <a:buNone/>
                      </a:pPr>
                      <a:r>
                        <a:rPr lang="en" sz="2400" dirty="0"/>
                        <a:t>214.8 mt</a:t>
                      </a:r>
                      <a:endParaRPr sz="2400" dirty="0"/>
                    </a:p>
                  </a:txBody>
                  <a:tcPr marL="121900" marR="121900" marT="121900" marB="121900">
                    <a:lnL w="9525" cap="flat" cmpd="sng">
                      <a:solidFill>
                        <a:srgbClr val="9E9E9E"/>
                      </a:solidFill>
                      <a:prstDash val="solid"/>
                      <a:round/>
                      <a:headEnd type="none" w="sm" len="sm"/>
                      <a:tailEnd type="none" w="sm" len="sm"/>
                    </a:lnL>
                    <a:lnR w="9525" cap="flat" cmpd="sng">
                      <a:solidFill>
                        <a:srgbClr val="9E9E9E"/>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tc>
                  <a:txBody>
                    <a:bodyPr/>
                    <a:lstStyle/>
                    <a:p>
                      <a:pPr marL="0" lvl="0" indent="0" algn="l" rtl="0">
                        <a:spcBef>
                          <a:spcPts val="0"/>
                        </a:spcBef>
                        <a:spcAft>
                          <a:spcPts val="0"/>
                        </a:spcAft>
                        <a:buNone/>
                      </a:pPr>
                      <a:r>
                        <a:rPr lang="en" sz="2400" dirty="0"/>
                        <a:t>214.8 mt</a:t>
                      </a:r>
                      <a:endParaRPr sz="2400" dirty="0"/>
                    </a:p>
                  </a:txBody>
                  <a:tcPr marL="121900" marR="121900" marT="121900" marB="121900">
                    <a:lnL w="9525" cap="flat" cmpd="sng">
                      <a:solidFill>
                        <a:srgbClr val="9E9E9E"/>
                      </a:solidFill>
                      <a:prstDash val="solid"/>
                      <a:round/>
                      <a:headEnd type="none" w="sm" len="sm"/>
                      <a:tailEnd type="none" w="sm" len="sm"/>
                    </a:lnL>
                    <a:lnR w="9525" cap="flat" cmpd="sng">
                      <a:solidFill>
                        <a:srgbClr val="9E9E9E"/>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extLst>
                  <a:ext uri="{0D108BD9-81ED-4DB2-BD59-A6C34878D82A}">
                    <a16:rowId xmlns:a16="http://schemas.microsoft.com/office/drawing/2014/main" val="10003"/>
                  </a:ext>
                </a:extLst>
              </a:tr>
              <a:tr h="609560">
                <a:tc>
                  <a:txBody>
                    <a:bodyPr/>
                    <a:lstStyle/>
                    <a:p>
                      <a:pPr marL="0" lvl="0" indent="0" algn="l" rtl="0">
                        <a:spcBef>
                          <a:spcPts val="0"/>
                        </a:spcBef>
                        <a:spcAft>
                          <a:spcPts val="0"/>
                        </a:spcAft>
                        <a:buNone/>
                      </a:pPr>
                      <a:r>
                        <a:rPr lang="en" sz="2400"/>
                        <a:t>United States</a:t>
                      </a:r>
                      <a:endParaRPr sz="2400"/>
                    </a:p>
                  </a:txBody>
                  <a:tcPr marL="121900" marR="121900" marT="121900" marB="121900"/>
                </a:tc>
                <a:tc>
                  <a:txBody>
                    <a:bodyPr/>
                    <a:lstStyle/>
                    <a:p>
                      <a:pPr marL="0" lvl="0" indent="0" algn="l" rtl="0">
                        <a:spcBef>
                          <a:spcPts val="0"/>
                        </a:spcBef>
                        <a:spcAft>
                          <a:spcPts val="0"/>
                        </a:spcAft>
                        <a:buNone/>
                      </a:pPr>
                      <a:r>
                        <a:rPr lang="en" sz="2400" dirty="0"/>
                        <a:t>228.4 mt</a:t>
                      </a:r>
                      <a:endParaRPr sz="2400" dirty="0"/>
                    </a:p>
                  </a:txBody>
                  <a:tcPr marL="121900" marR="121900" marT="121900" marB="121900">
                    <a:lnR w="9525" cap="flat" cmpd="sng">
                      <a:solidFill>
                        <a:srgbClr val="9E9E9E"/>
                      </a:solidFill>
                      <a:prstDash val="solid"/>
                      <a:round/>
                      <a:headEnd type="none" w="sm" len="sm"/>
                      <a:tailEnd type="none" w="sm" len="sm"/>
                    </a:lnR>
                  </a:tcPr>
                </a:tc>
                <a:tc>
                  <a:txBody>
                    <a:bodyPr/>
                    <a:lstStyle/>
                    <a:p>
                      <a:pPr marL="0" lvl="0" indent="0" algn="l" rtl="0">
                        <a:spcBef>
                          <a:spcPts val="0"/>
                        </a:spcBef>
                        <a:spcAft>
                          <a:spcPts val="0"/>
                        </a:spcAft>
                        <a:buNone/>
                      </a:pPr>
                      <a:r>
                        <a:rPr lang="en" sz="2400" dirty="0"/>
                        <a:t>228.4 mt</a:t>
                      </a:r>
                      <a:endParaRPr sz="2400" dirty="0"/>
                    </a:p>
                  </a:txBody>
                  <a:tcPr marL="121900" marR="121900" marT="121900" marB="121900">
                    <a:lnL w="9525" cap="flat" cmpd="sng">
                      <a:solidFill>
                        <a:srgbClr val="9E9E9E"/>
                      </a:solidFill>
                      <a:prstDash val="solid"/>
                      <a:round/>
                      <a:headEnd type="none" w="sm" len="sm"/>
                      <a:tailEnd type="none" w="sm" len="sm"/>
                    </a:lnL>
                    <a:lnR w="9525" cap="flat" cmpd="sng">
                      <a:solidFill>
                        <a:srgbClr val="9E9E9E"/>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tc>
                  <a:txBody>
                    <a:bodyPr/>
                    <a:lstStyle/>
                    <a:p>
                      <a:pPr marL="0" lvl="0" indent="0" algn="l" rtl="0">
                        <a:spcBef>
                          <a:spcPts val="0"/>
                        </a:spcBef>
                        <a:spcAft>
                          <a:spcPts val="0"/>
                        </a:spcAft>
                        <a:buNone/>
                      </a:pPr>
                      <a:r>
                        <a:rPr lang="en" sz="2400" dirty="0"/>
                        <a:t>228.4 mt</a:t>
                      </a:r>
                      <a:endParaRPr sz="2400" dirty="0"/>
                    </a:p>
                  </a:txBody>
                  <a:tcPr marL="121900" marR="121900" marT="121900" marB="121900">
                    <a:lnL w="9525" cap="flat" cmpd="sng">
                      <a:solidFill>
                        <a:srgbClr val="9E9E9E"/>
                      </a:solidFill>
                      <a:prstDash val="solid"/>
                      <a:round/>
                      <a:headEnd type="none" w="sm" len="sm"/>
                      <a:tailEnd type="none" w="sm" len="sm"/>
                    </a:lnL>
                    <a:lnR w="9525" cap="flat" cmpd="sng">
                      <a:solidFill>
                        <a:srgbClr val="9E9E9E"/>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extLst>
                  <a:ext uri="{0D108BD9-81ED-4DB2-BD59-A6C34878D82A}">
                    <a16:rowId xmlns:a16="http://schemas.microsoft.com/office/drawing/2014/main" val="10004"/>
                  </a:ext>
                </a:extLst>
              </a:tr>
              <a:tr h="609560">
                <a:tc>
                  <a:txBody>
                    <a:bodyPr/>
                    <a:lstStyle/>
                    <a:p>
                      <a:pPr marL="0" lvl="0" indent="0" algn="l" rtl="0">
                        <a:spcBef>
                          <a:spcPts val="0"/>
                        </a:spcBef>
                        <a:spcAft>
                          <a:spcPts val="0"/>
                        </a:spcAft>
                        <a:buNone/>
                      </a:pPr>
                      <a:r>
                        <a:rPr lang="en" sz="2400"/>
                        <a:t>China</a:t>
                      </a:r>
                      <a:endParaRPr sz="2400"/>
                    </a:p>
                  </a:txBody>
                  <a:tcPr marL="121900" marR="121900" marT="121900" marB="121900"/>
                </a:tc>
                <a:tc>
                  <a:txBody>
                    <a:bodyPr/>
                    <a:lstStyle/>
                    <a:p>
                      <a:pPr marL="0" lvl="0" indent="0" algn="l" rtl="0">
                        <a:spcBef>
                          <a:spcPts val="0"/>
                        </a:spcBef>
                        <a:spcAft>
                          <a:spcPts val="0"/>
                        </a:spcAft>
                        <a:buNone/>
                      </a:pPr>
                      <a:r>
                        <a:rPr lang="en" sz="2400"/>
                        <a:t>68.8 mt</a:t>
                      </a:r>
                      <a:endParaRPr sz="2400"/>
                    </a:p>
                  </a:txBody>
                  <a:tcPr marL="121900" marR="121900" marT="121900" marB="121900">
                    <a:lnR w="9525" cap="flat" cmpd="sng">
                      <a:solidFill>
                        <a:srgbClr val="9E9E9E"/>
                      </a:solidFill>
                      <a:prstDash val="solid"/>
                      <a:round/>
                      <a:headEnd type="none" w="sm" len="sm"/>
                      <a:tailEnd type="none" w="sm" len="sm"/>
                    </a:lnR>
                  </a:tcPr>
                </a:tc>
                <a:tc>
                  <a:txBody>
                    <a:bodyPr/>
                    <a:lstStyle/>
                    <a:p>
                      <a:pPr marL="0" lvl="0" indent="0" algn="l" rtl="0">
                        <a:spcBef>
                          <a:spcPts val="0"/>
                        </a:spcBef>
                        <a:spcAft>
                          <a:spcPts val="0"/>
                        </a:spcAft>
                        <a:buNone/>
                      </a:pPr>
                      <a:r>
                        <a:rPr lang="en" sz="2400"/>
                        <a:t>68.8 mt</a:t>
                      </a:r>
                      <a:endParaRPr sz="2400"/>
                    </a:p>
                  </a:txBody>
                  <a:tcPr marL="121900" marR="121900" marT="121900" marB="121900">
                    <a:lnL w="9525" cap="flat" cmpd="sng">
                      <a:solidFill>
                        <a:srgbClr val="9E9E9E"/>
                      </a:solidFill>
                      <a:prstDash val="solid"/>
                      <a:round/>
                      <a:headEnd type="none" w="sm" len="sm"/>
                      <a:tailEnd type="none" w="sm" len="sm"/>
                    </a:lnL>
                    <a:lnR w="9525" cap="flat" cmpd="sng">
                      <a:solidFill>
                        <a:srgbClr val="9E9E9E"/>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tc>
                  <a:txBody>
                    <a:bodyPr/>
                    <a:lstStyle/>
                    <a:p>
                      <a:pPr marL="0" lvl="0" indent="0" algn="l" rtl="0">
                        <a:spcBef>
                          <a:spcPts val="0"/>
                        </a:spcBef>
                        <a:spcAft>
                          <a:spcPts val="0"/>
                        </a:spcAft>
                        <a:buNone/>
                      </a:pPr>
                      <a:r>
                        <a:rPr lang="en" sz="2400"/>
                        <a:t>68.8 mt</a:t>
                      </a:r>
                      <a:endParaRPr sz="2400"/>
                    </a:p>
                  </a:txBody>
                  <a:tcPr marL="121900" marR="121900" marT="121900" marB="121900">
                    <a:lnL w="9525" cap="flat" cmpd="sng">
                      <a:solidFill>
                        <a:srgbClr val="9E9E9E"/>
                      </a:solidFill>
                      <a:prstDash val="solid"/>
                      <a:round/>
                      <a:headEnd type="none" w="sm" len="sm"/>
                      <a:tailEnd type="none" w="sm" len="sm"/>
                    </a:lnL>
                    <a:lnR w="9525" cap="flat" cmpd="sng">
                      <a:solidFill>
                        <a:srgbClr val="9E9E9E"/>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extLst>
                  <a:ext uri="{0D108BD9-81ED-4DB2-BD59-A6C34878D82A}">
                    <a16:rowId xmlns:a16="http://schemas.microsoft.com/office/drawing/2014/main" val="10005"/>
                  </a:ext>
                </a:extLst>
              </a:tr>
              <a:tr h="609560">
                <a:tc>
                  <a:txBody>
                    <a:bodyPr/>
                    <a:lstStyle/>
                    <a:p>
                      <a:pPr marL="0" lvl="0" indent="0" algn="l" rtl="0">
                        <a:spcBef>
                          <a:spcPts val="0"/>
                        </a:spcBef>
                        <a:spcAft>
                          <a:spcPts val="0"/>
                        </a:spcAft>
                        <a:buNone/>
                      </a:pPr>
                      <a:r>
                        <a:rPr lang="en" sz="2400"/>
                        <a:t>Other SIDS</a:t>
                      </a:r>
                      <a:endParaRPr sz="2400"/>
                    </a:p>
                  </a:txBody>
                  <a:tcPr marL="121900" marR="121900" marT="121900" marB="121900"/>
                </a:tc>
                <a:tc>
                  <a:txBody>
                    <a:bodyPr/>
                    <a:lstStyle/>
                    <a:p>
                      <a:pPr marL="0" lvl="0" indent="0" algn="l" rtl="0">
                        <a:spcBef>
                          <a:spcPts val="0"/>
                        </a:spcBef>
                        <a:spcAft>
                          <a:spcPts val="0"/>
                        </a:spcAft>
                        <a:buNone/>
                      </a:pPr>
                      <a:r>
                        <a:rPr lang="en" sz="2400"/>
                        <a:t>75.2 mt</a:t>
                      </a:r>
                      <a:endParaRPr sz="2400"/>
                    </a:p>
                  </a:txBody>
                  <a:tcPr marL="121900" marR="121900" marT="121900" marB="121900">
                    <a:lnR w="9525" cap="flat" cmpd="sng">
                      <a:solidFill>
                        <a:srgbClr val="9E9E9E"/>
                      </a:solidFill>
                      <a:prstDash val="solid"/>
                      <a:round/>
                      <a:headEnd type="none" w="sm" len="sm"/>
                      <a:tailEnd type="none" w="sm" len="sm"/>
                    </a:lnR>
                  </a:tcPr>
                </a:tc>
                <a:tc>
                  <a:txBody>
                    <a:bodyPr/>
                    <a:lstStyle/>
                    <a:p>
                      <a:pPr marL="0" lvl="0" indent="0" algn="l" rtl="0">
                        <a:spcBef>
                          <a:spcPts val="0"/>
                        </a:spcBef>
                        <a:spcAft>
                          <a:spcPts val="0"/>
                        </a:spcAft>
                        <a:buNone/>
                      </a:pPr>
                      <a:r>
                        <a:rPr lang="en" sz="2400"/>
                        <a:t>75.2 mt</a:t>
                      </a:r>
                      <a:endParaRPr sz="2400"/>
                    </a:p>
                  </a:txBody>
                  <a:tcPr marL="121900" marR="121900" marT="121900" marB="121900">
                    <a:lnL w="9525" cap="flat" cmpd="sng">
                      <a:solidFill>
                        <a:srgbClr val="9E9E9E"/>
                      </a:solidFill>
                      <a:prstDash val="solid"/>
                      <a:round/>
                      <a:headEnd type="none" w="sm" len="sm"/>
                      <a:tailEnd type="none" w="sm" len="sm"/>
                    </a:lnL>
                    <a:lnR w="9525" cap="flat" cmpd="sng">
                      <a:solidFill>
                        <a:srgbClr val="9E9E9E"/>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tc>
                  <a:txBody>
                    <a:bodyPr/>
                    <a:lstStyle/>
                    <a:p>
                      <a:pPr marL="0" lvl="0" indent="0" algn="l" rtl="0">
                        <a:spcBef>
                          <a:spcPts val="0"/>
                        </a:spcBef>
                        <a:spcAft>
                          <a:spcPts val="0"/>
                        </a:spcAft>
                        <a:buNone/>
                      </a:pPr>
                      <a:r>
                        <a:rPr lang="en" sz="2400"/>
                        <a:t>75.2 mt</a:t>
                      </a:r>
                      <a:endParaRPr sz="2400"/>
                    </a:p>
                  </a:txBody>
                  <a:tcPr marL="121900" marR="121900" marT="121900" marB="121900">
                    <a:lnL w="9525" cap="flat" cmpd="sng">
                      <a:solidFill>
                        <a:srgbClr val="9E9E9E"/>
                      </a:solidFill>
                      <a:prstDash val="solid"/>
                      <a:round/>
                      <a:headEnd type="none" w="sm" len="sm"/>
                      <a:tailEnd type="none" w="sm" len="sm"/>
                    </a:lnL>
                    <a:lnR w="9525" cap="flat" cmpd="sng">
                      <a:solidFill>
                        <a:srgbClr val="9E9E9E"/>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extLst>
                  <a:ext uri="{0D108BD9-81ED-4DB2-BD59-A6C34878D82A}">
                    <a16:rowId xmlns:a16="http://schemas.microsoft.com/office/drawing/2014/main" val="10006"/>
                  </a:ext>
                </a:extLst>
              </a:tr>
              <a:tr h="609560">
                <a:tc>
                  <a:txBody>
                    <a:bodyPr/>
                    <a:lstStyle/>
                    <a:p>
                      <a:pPr marL="0" lvl="0" indent="0" algn="l" rtl="0">
                        <a:spcBef>
                          <a:spcPts val="0"/>
                        </a:spcBef>
                        <a:spcAft>
                          <a:spcPts val="0"/>
                        </a:spcAft>
                        <a:buNone/>
                      </a:pPr>
                      <a:r>
                        <a:rPr lang="en" sz="2400" b="1"/>
                        <a:t>Total</a:t>
                      </a:r>
                      <a:endParaRPr sz="2400" b="1"/>
                    </a:p>
                  </a:txBody>
                  <a:tcPr marL="121900" marR="121900" marT="121900" marB="121900"/>
                </a:tc>
                <a:tc>
                  <a:txBody>
                    <a:bodyPr/>
                    <a:lstStyle/>
                    <a:p>
                      <a:pPr marL="0" lvl="0" indent="0" algn="l" rtl="0">
                        <a:spcBef>
                          <a:spcPts val="0"/>
                        </a:spcBef>
                        <a:spcAft>
                          <a:spcPts val="0"/>
                        </a:spcAft>
                        <a:buNone/>
                      </a:pPr>
                      <a:r>
                        <a:rPr lang="en" sz="2400" b="1"/>
                        <a:t>2400 mt</a:t>
                      </a:r>
                      <a:endParaRPr sz="2400" b="1"/>
                    </a:p>
                  </a:txBody>
                  <a:tcPr marL="121900" marR="121900" marT="121900" marB="121900">
                    <a:lnR w="9525" cap="flat" cmpd="sng">
                      <a:solidFill>
                        <a:srgbClr val="9E9E9E"/>
                      </a:solidFill>
                      <a:prstDash val="solid"/>
                      <a:round/>
                      <a:headEnd type="none" w="sm" len="sm"/>
                      <a:tailEnd type="none" w="sm" len="sm"/>
                    </a:lnR>
                  </a:tcPr>
                </a:tc>
                <a:tc>
                  <a:txBody>
                    <a:bodyPr/>
                    <a:lstStyle/>
                    <a:p>
                      <a:pPr marL="0" lvl="0" indent="0" algn="l" rtl="0">
                        <a:spcBef>
                          <a:spcPts val="0"/>
                        </a:spcBef>
                        <a:spcAft>
                          <a:spcPts val="0"/>
                        </a:spcAft>
                        <a:buNone/>
                      </a:pPr>
                      <a:r>
                        <a:rPr lang="en" sz="2400" b="1"/>
                        <a:t>2400 mt</a:t>
                      </a:r>
                      <a:endParaRPr sz="2400" b="1"/>
                    </a:p>
                  </a:txBody>
                  <a:tcPr marL="121900" marR="121900" marT="121900" marB="121900">
                    <a:lnL w="9525" cap="flat" cmpd="sng">
                      <a:solidFill>
                        <a:srgbClr val="9E9E9E"/>
                      </a:solidFill>
                      <a:prstDash val="solid"/>
                      <a:round/>
                      <a:headEnd type="none" w="sm" len="sm"/>
                      <a:tailEnd type="none" w="sm" len="sm"/>
                    </a:lnL>
                    <a:lnR w="9525" cap="flat" cmpd="sng">
                      <a:solidFill>
                        <a:srgbClr val="9E9E9E"/>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tc>
                  <a:txBody>
                    <a:bodyPr/>
                    <a:lstStyle/>
                    <a:p>
                      <a:pPr marL="0" lvl="0" indent="0" algn="l" rtl="0">
                        <a:spcBef>
                          <a:spcPts val="0"/>
                        </a:spcBef>
                        <a:spcAft>
                          <a:spcPts val="0"/>
                        </a:spcAft>
                        <a:buNone/>
                      </a:pPr>
                      <a:r>
                        <a:rPr lang="en" sz="2400" b="1" dirty="0"/>
                        <a:t>2400 mt</a:t>
                      </a:r>
                      <a:endParaRPr sz="2400" b="1" dirty="0"/>
                    </a:p>
                  </a:txBody>
                  <a:tcPr marL="121900" marR="121900" marT="121900" marB="121900">
                    <a:lnL w="9525" cap="flat" cmpd="sng">
                      <a:solidFill>
                        <a:srgbClr val="9E9E9E"/>
                      </a:solidFill>
                      <a:prstDash val="solid"/>
                      <a:round/>
                      <a:headEnd type="none" w="sm" len="sm"/>
                      <a:tailEnd type="none" w="sm" len="sm"/>
                    </a:lnL>
                    <a:lnR w="9525" cap="flat" cmpd="sng">
                      <a:solidFill>
                        <a:srgbClr val="9E9E9E"/>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extLst>
                  <a:ext uri="{0D108BD9-81ED-4DB2-BD59-A6C34878D82A}">
                    <a16:rowId xmlns:a16="http://schemas.microsoft.com/office/drawing/2014/main" val="10007"/>
                  </a:ext>
                </a:extLst>
              </a:tr>
            </a:tbl>
          </a:graphicData>
        </a:graphic>
      </p:graphicFrame>
      <p:sp>
        <p:nvSpPr>
          <p:cNvPr id="63" name="Google Shape;63;p14"/>
          <p:cNvSpPr txBox="1"/>
          <p:nvPr/>
        </p:nvSpPr>
        <p:spPr>
          <a:xfrm>
            <a:off x="108401" y="5640080"/>
            <a:ext cx="10418065" cy="1217920"/>
          </a:xfrm>
          <a:prstGeom prst="rect">
            <a:avLst/>
          </a:prstGeom>
          <a:noFill/>
          <a:ln>
            <a:noFill/>
          </a:ln>
        </p:spPr>
        <p:txBody>
          <a:bodyPr spcFirstLastPara="1" wrap="square" lIns="121900" tIns="121900" rIns="121900" bIns="121900" anchor="t" anchorCtr="0">
            <a:noAutofit/>
          </a:bodyPr>
          <a:lstStyle/>
          <a:p>
            <a:pPr marL="609585" indent="-423323">
              <a:buClr>
                <a:schemeClr val="dk2"/>
              </a:buClr>
              <a:buSzPts val="1400"/>
              <a:buChar char="●"/>
            </a:pPr>
            <a:r>
              <a:rPr lang="en" sz="1600" dirty="0">
                <a:solidFill>
                  <a:schemeClr val="dk2"/>
                </a:solidFill>
              </a:rPr>
              <a:t>For countries which are represented by more than one fleet in the rebuilding analysis, catch would be distributed between fleets based upon the proportion of catch for each fleet in 2020 (last year of the assessment)</a:t>
            </a:r>
            <a:endParaRPr sz="1600" dirty="0">
              <a:solidFill>
                <a:schemeClr val="dk2"/>
              </a:solidFill>
            </a:endParaRPr>
          </a:p>
          <a:p>
            <a:pPr marL="609585" indent="-423323">
              <a:buClr>
                <a:schemeClr val="dk2"/>
              </a:buClr>
              <a:buSzPts val="1400"/>
              <a:buChar char="●"/>
            </a:pPr>
            <a:r>
              <a:rPr lang="en" sz="1600" dirty="0">
                <a:solidFill>
                  <a:schemeClr val="dk2"/>
                </a:solidFill>
              </a:rPr>
              <a:t>For 2021-2022, catch would be updated to reported (yearbook catch) from WCPFC, and 2023-2024 would be carryover catch from 2022 if updated catch is not available.</a:t>
            </a:r>
            <a:endParaRPr sz="1600" dirty="0">
              <a:solidFill>
                <a:schemeClr val="dk2"/>
              </a:solidFill>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67"/>
        <p:cNvGrpSpPr/>
        <p:nvPr/>
      </p:nvGrpSpPr>
      <p:grpSpPr>
        <a:xfrm>
          <a:off x="0" y="0"/>
          <a:ext cx="0" cy="0"/>
          <a:chOff x="0" y="0"/>
          <a:chExt cx="0" cy="0"/>
        </a:xfrm>
      </p:grpSpPr>
      <p:sp>
        <p:nvSpPr>
          <p:cNvPr id="68" name="Google Shape;68;p15"/>
          <p:cNvSpPr txBox="1">
            <a:spLocks noGrp="1"/>
          </p:cNvSpPr>
          <p:nvPr>
            <p:ph type="title"/>
          </p:nvPr>
        </p:nvSpPr>
        <p:spPr>
          <a:xfrm>
            <a:off x="-92400" y="0"/>
            <a:ext cx="12284400" cy="763600"/>
          </a:xfrm>
          <a:prstGeom prst="rect">
            <a:avLst/>
          </a:prstGeom>
        </p:spPr>
        <p:txBody>
          <a:bodyPr spcFirstLastPara="1" vert="horz" wrap="square" lIns="121900" tIns="121900" rIns="121900" bIns="121900" rtlCol="0" anchor="t" anchorCtr="0">
            <a:normAutofit/>
          </a:bodyPr>
          <a:lstStyle/>
          <a:p>
            <a:pPr algn="ctr"/>
            <a:r>
              <a:rPr lang="en" sz="3200" dirty="0"/>
              <a:t>Scenario 2. Set CMM 2024-06 Catch Limits with 2025 Carryover</a:t>
            </a:r>
            <a:endParaRPr sz="3200" dirty="0"/>
          </a:p>
        </p:txBody>
      </p:sp>
      <p:graphicFrame>
        <p:nvGraphicFramePr>
          <p:cNvPr id="69" name="Google Shape;69;p15"/>
          <p:cNvGraphicFramePr/>
          <p:nvPr>
            <p:extLst>
              <p:ext uri="{D42A27DB-BD31-4B8C-83A1-F6EECF244321}">
                <p14:modId xmlns:p14="http://schemas.microsoft.com/office/powerpoint/2010/main" val="1983984145"/>
              </p:ext>
            </p:extLst>
          </p:nvPr>
        </p:nvGraphicFramePr>
        <p:xfrm>
          <a:off x="1508976" y="646774"/>
          <a:ext cx="8860932" cy="4876480"/>
        </p:xfrm>
        <a:graphic>
          <a:graphicData uri="http://schemas.openxmlformats.org/drawingml/2006/table">
            <a:tbl>
              <a:tblPr>
                <a:noFill/>
              </a:tblPr>
              <a:tblGrid>
                <a:gridCol w="2215233">
                  <a:extLst>
                    <a:ext uri="{9D8B030D-6E8A-4147-A177-3AD203B41FA5}">
                      <a16:colId xmlns:a16="http://schemas.microsoft.com/office/drawing/2014/main" val="20000"/>
                    </a:ext>
                  </a:extLst>
                </a:gridCol>
                <a:gridCol w="2802715">
                  <a:extLst>
                    <a:ext uri="{9D8B030D-6E8A-4147-A177-3AD203B41FA5}">
                      <a16:colId xmlns:a16="http://schemas.microsoft.com/office/drawing/2014/main" val="20001"/>
                    </a:ext>
                  </a:extLst>
                </a:gridCol>
                <a:gridCol w="1627751">
                  <a:extLst>
                    <a:ext uri="{9D8B030D-6E8A-4147-A177-3AD203B41FA5}">
                      <a16:colId xmlns:a16="http://schemas.microsoft.com/office/drawing/2014/main" val="20002"/>
                    </a:ext>
                  </a:extLst>
                </a:gridCol>
                <a:gridCol w="2215233">
                  <a:extLst>
                    <a:ext uri="{9D8B030D-6E8A-4147-A177-3AD203B41FA5}">
                      <a16:colId xmlns:a16="http://schemas.microsoft.com/office/drawing/2014/main" val="20003"/>
                    </a:ext>
                  </a:extLst>
                </a:gridCol>
              </a:tblGrid>
              <a:tr h="609560">
                <a:tc>
                  <a:txBody>
                    <a:bodyPr/>
                    <a:lstStyle/>
                    <a:p>
                      <a:pPr marL="0" lvl="0" indent="0" algn="l" rtl="0">
                        <a:spcBef>
                          <a:spcPts val="0"/>
                        </a:spcBef>
                        <a:spcAft>
                          <a:spcPts val="0"/>
                        </a:spcAft>
                        <a:buNone/>
                      </a:pPr>
                      <a:r>
                        <a:rPr lang="en" sz="2400" b="1"/>
                        <a:t>Country</a:t>
                      </a:r>
                      <a:endParaRPr sz="2400" b="1"/>
                    </a:p>
                  </a:txBody>
                  <a:tcPr marL="121900" marR="121900" marT="121900" marB="121900"/>
                </a:tc>
                <a:tc>
                  <a:txBody>
                    <a:bodyPr/>
                    <a:lstStyle/>
                    <a:p>
                      <a:pPr marL="0" lvl="0" indent="0" algn="l" rtl="0">
                        <a:spcBef>
                          <a:spcPts val="0"/>
                        </a:spcBef>
                        <a:spcAft>
                          <a:spcPts val="0"/>
                        </a:spcAft>
                        <a:buNone/>
                      </a:pPr>
                      <a:r>
                        <a:rPr lang="en" sz="2400" b="1"/>
                        <a:t>2025</a:t>
                      </a:r>
                      <a:endParaRPr sz="2400" b="1"/>
                    </a:p>
                  </a:txBody>
                  <a:tcPr marL="121900" marR="121900" marT="121900" marB="121900"/>
                </a:tc>
                <a:tc>
                  <a:txBody>
                    <a:bodyPr/>
                    <a:lstStyle/>
                    <a:p>
                      <a:pPr marL="0" lvl="0" indent="0" algn="l" rtl="0">
                        <a:spcBef>
                          <a:spcPts val="0"/>
                        </a:spcBef>
                        <a:spcAft>
                          <a:spcPts val="0"/>
                        </a:spcAft>
                        <a:buNone/>
                      </a:pPr>
                      <a:r>
                        <a:rPr lang="en" sz="2400" b="1"/>
                        <a:t>2026</a:t>
                      </a:r>
                      <a:endParaRPr sz="2400" b="1"/>
                    </a:p>
                  </a:txBody>
                  <a:tcPr marL="121900" marR="121900" marT="121900" marB="121900">
                    <a:lnB w="9525" cap="flat" cmpd="sng">
                      <a:solidFill>
                        <a:srgbClr val="9E9E9E"/>
                      </a:solidFill>
                      <a:prstDash val="solid"/>
                      <a:round/>
                      <a:headEnd type="none" w="sm" len="sm"/>
                      <a:tailEnd type="none" w="sm" len="sm"/>
                    </a:lnB>
                  </a:tcPr>
                </a:tc>
                <a:tc>
                  <a:txBody>
                    <a:bodyPr/>
                    <a:lstStyle/>
                    <a:p>
                      <a:pPr marL="0" lvl="0" indent="0" algn="l" rtl="0">
                        <a:spcBef>
                          <a:spcPts val="0"/>
                        </a:spcBef>
                        <a:spcAft>
                          <a:spcPts val="0"/>
                        </a:spcAft>
                        <a:buNone/>
                      </a:pPr>
                      <a:r>
                        <a:rPr lang="en" sz="2400" b="1"/>
                        <a:t>2027</a:t>
                      </a:r>
                      <a:endParaRPr sz="2400" b="1"/>
                    </a:p>
                  </a:txBody>
                  <a:tcPr marL="121900" marR="121900" marT="121900" marB="121900">
                    <a:lnB w="9525" cap="flat" cmpd="sng">
                      <a:solidFill>
                        <a:srgbClr val="9E9E9E"/>
                      </a:solidFill>
                      <a:prstDash val="solid"/>
                      <a:round/>
                      <a:headEnd type="none" w="sm" len="sm"/>
                      <a:tailEnd type="none" w="sm" len="sm"/>
                    </a:lnB>
                  </a:tcPr>
                </a:tc>
                <a:extLst>
                  <a:ext uri="{0D108BD9-81ED-4DB2-BD59-A6C34878D82A}">
                    <a16:rowId xmlns:a16="http://schemas.microsoft.com/office/drawing/2014/main" val="10000"/>
                  </a:ext>
                </a:extLst>
              </a:tr>
              <a:tr h="582976">
                <a:tc>
                  <a:txBody>
                    <a:bodyPr/>
                    <a:lstStyle/>
                    <a:p>
                      <a:pPr marL="0" lvl="0" indent="0" algn="l" rtl="0">
                        <a:spcBef>
                          <a:spcPts val="0"/>
                        </a:spcBef>
                        <a:spcAft>
                          <a:spcPts val="0"/>
                        </a:spcAft>
                        <a:buNone/>
                      </a:pPr>
                      <a:r>
                        <a:rPr lang="en" sz="2400" dirty="0"/>
                        <a:t>Japan</a:t>
                      </a:r>
                      <a:endParaRPr sz="2400" dirty="0"/>
                    </a:p>
                  </a:txBody>
                  <a:tcPr marL="121900" marR="121900" marT="121900" marB="121900"/>
                </a:tc>
                <a:tc>
                  <a:txBody>
                    <a:bodyPr/>
                    <a:lstStyle/>
                    <a:p>
                      <a:pPr marL="0" lvl="0" indent="0" algn="l" rtl="0">
                        <a:spcBef>
                          <a:spcPts val="0"/>
                        </a:spcBef>
                        <a:spcAft>
                          <a:spcPts val="0"/>
                        </a:spcAft>
                        <a:buNone/>
                      </a:pPr>
                      <a:r>
                        <a:rPr lang="en" sz="2400" dirty="0"/>
                        <a:t>1454.4 mt + 165 mt</a:t>
                      </a:r>
                      <a:endParaRPr sz="2400" dirty="0"/>
                    </a:p>
                  </a:txBody>
                  <a:tcPr marL="121900" marR="121900" marT="121900" marB="121900">
                    <a:lnR w="9525" cap="flat" cmpd="sng">
                      <a:solidFill>
                        <a:srgbClr val="9E9E9E"/>
                      </a:solidFill>
                      <a:prstDash val="solid"/>
                      <a:round/>
                      <a:headEnd type="none" w="sm" len="sm"/>
                      <a:tailEnd type="none" w="sm" len="sm"/>
                    </a:lnR>
                  </a:tcPr>
                </a:tc>
                <a:tc>
                  <a:txBody>
                    <a:bodyPr/>
                    <a:lstStyle/>
                    <a:p>
                      <a:pPr marL="0" lvl="0" indent="0" algn="l" rtl="0">
                        <a:spcBef>
                          <a:spcPts val="0"/>
                        </a:spcBef>
                        <a:spcAft>
                          <a:spcPts val="0"/>
                        </a:spcAft>
                        <a:buNone/>
                      </a:pPr>
                      <a:r>
                        <a:rPr lang="en" sz="2400" dirty="0"/>
                        <a:t>1454.4 mt</a:t>
                      </a:r>
                      <a:endParaRPr sz="2400" dirty="0"/>
                    </a:p>
                  </a:txBody>
                  <a:tcPr marL="121900" marR="121900" marT="121900" marB="121900">
                    <a:lnL w="9525" cap="flat" cmpd="sng">
                      <a:solidFill>
                        <a:srgbClr val="9E9E9E"/>
                      </a:solidFill>
                      <a:prstDash val="solid"/>
                      <a:round/>
                      <a:headEnd type="none" w="sm" len="sm"/>
                      <a:tailEnd type="none" w="sm" len="sm"/>
                    </a:lnL>
                    <a:lnR w="9525" cap="flat" cmpd="sng">
                      <a:solidFill>
                        <a:srgbClr val="9E9E9E"/>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tc>
                  <a:txBody>
                    <a:bodyPr/>
                    <a:lstStyle/>
                    <a:p>
                      <a:pPr marL="0" lvl="0" indent="0" algn="l" rtl="0">
                        <a:spcBef>
                          <a:spcPts val="0"/>
                        </a:spcBef>
                        <a:spcAft>
                          <a:spcPts val="0"/>
                        </a:spcAft>
                        <a:buNone/>
                      </a:pPr>
                      <a:r>
                        <a:rPr lang="en" sz="2400" dirty="0"/>
                        <a:t>1454.4 mt</a:t>
                      </a:r>
                      <a:endParaRPr sz="2400" dirty="0"/>
                    </a:p>
                  </a:txBody>
                  <a:tcPr marL="121900" marR="121900" marT="121900" marB="121900">
                    <a:lnL w="9525" cap="flat" cmpd="sng">
                      <a:solidFill>
                        <a:srgbClr val="9E9E9E"/>
                      </a:solidFill>
                      <a:prstDash val="solid"/>
                      <a:round/>
                      <a:headEnd type="none" w="sm" len="sm"/>
                      <a:tailEnd type="none" w="sm" len="sm"/>
                    </a:lnL>
                    <a:lnR w="9525" cap="flat" cmpd="sng">
                      <a:solidFill>
                        <a:srgbClr val="9E9E9E"/>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extLst>
                  <a:ext uri="{0D108BD9-81ED-4DB2-BD59-A6C34878D82A}">
                    <a16:rowId xmlns:a16="http://schemas.microsoft.com/office/drawing/2014/main" val="10001"/>
                  </a:ext>
                </a:extLst>
              </a:tr>
              <a:tr h="572506">
                <a:tc>
                  <a:txBody>
                    <a:bodyPr/>
                    <a:lstStyle/>
                    <a:p>
                      <a:pPr marL="0" lvl="0" indent="0" algn="l" rtl="0">
                        <a:spcBef>
                          <a:spcPts val="0"/>
                        </a:spcBef>
                        <a:spcAft>
                          <a:spcPts val="0"/>
                        </a:spcAft>
                        <a:buNone/>
                      </a:pPr>
                      <a:r>
                        <a:rPr lang="en" sz="2400"/>
                        <a:t>Chinese Taipei</a:t>
                      </a:r>
                      <a:endParaRPr sz="2400"/>
                    </a:p>
                  </a:txBody>
                  <a:tcPr marL="121900" marR="121900" marT="121900" marB="121900"/>
                </a:tc>
                <a:tc>
                  <a:txBody>
                    <a:bodyPr/>
                    <a:lstStyle/>
                    <a:p>
                      <a:pPr marL="0" lvl="0" indent="0" algn="l" rtl="0">
                        <a:spcBef>
                          <a:spcPts val="0"/>
                        </a:spcBef>
                        <a:spcAft>
                          <a:spcPts val="0"/>
                        </a:spcAft>
                        <a:buNone/>
                      </a:pPr>
                      <a:r>
                        <a:rPr lang="en" sz="2400"/>
                        <a:t>358.4mt + 165 mt</a:t>
                      </a:r>
                      <a:endParaRPr sz="2400"/>
                    </a:p>
                  </a:txBody>
                  <a:tcPr marL="121900" marR="121900" marT="121900" marB="121900">
                    <a:lnR w="9525" cap="flat" cmpd="sng">
                      <a:solidFill>
                        <a:srgbClr val="9E9E9E"/>
                      </a:solidFill>
                      <a:prstDash val="solid"/>
                      <a:round/>
                      <a:headEnd type="none" w="sm" len="sm"/>
                      <a:tailEnd type="none" w="sm" len="sm"/>
                    </a:lnR>
                  </a:tcPr>
                </a:tc>
                <a:tc>
                  <a:txBody>
                    <a:bodyPr/>
                    <a:lstStyle/>
                    <a:p>
                      <a:pPr marL="0" lvl="0" indent="0" algn="l" rtl="0">
                        <a:spcBef>
                          <a:spcPts val="0"/>
                        </a:spcBef>
                        <a:spcAft>
                          <a:spcPts val="0"/>
                        </a:spcAft>
                        <a:buNone/>
                      </a:pPr>
                      <a:r>
                        <a:rPr lang="en" sz="2400" dirty="0"/>
                        <a:t>358.4 mt</a:t>
                      </a:r>
                      <a:endParaRPr sz="2400" dirty="0"/>
                    </a:p>
                  </a:txBody>
                  <a:tcPr marL="121900" marR="121900" marT="121900" marB="121900">
                    <a:lnL w="9525" cap="flat" cmpd="sng">
                      <a:solidFill>
                        <a:srgbClr val="9E9E9E"/>
                      </a:solidFill>
                      <a:prstDash val="solid"/>
                      <a:round/>
                      <a:headEnd type="none" w="sm" len="sm"/>
                      <a:tailEnd type="none" w="sm" len="sm"/>
                    </a:lnL>
                    <a:lnR w="9525" cap="flat" cmpd="sng">
                      <a:solidFill>
                        <a:srgbClr val="9E9E9E"/>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tc>
                  <a:txBody>
                    <a:bodyPr/>
                    <a:lstStyle/>
                    <a:p>
                      <a:pPr marL="0" lvl="0" indent="0" algn="l" rtl="0">
                        <a:spcBef>
                          <a:spcPts val="0"/>
                        </a:spcBef>
                        <a:spcAft>
                          <a:spcPts val="0"/>
                        </a:spcAft>
                        <a:buNone/>
                      </a:pPr>
                      <a:r>
                        <a:rPr lang="en" sz="2400" dirty="0"/>
                        <a:t>358.4 mt</a:t>
                      </a:r>
                      <a:endParaRPr sz="2400" dirty="0"/>
                    </a:p>
                  </a:txBody>
                  <a:tcPr marL="121900" marR="121900" marT="121900" marB="121900">
                    <a:lnL w="9525" cap="flat" cmpd="sng">
                      <a:solidFill>
                        <a:srgbClr val="9E9E9E"/>
                      </a:solidFill>
                      <a:prstDash val="solid"/>
                      <a:round/>
                      <a:headEnd type="none" w="sm" len="sm"/>
                      <a:tailEnd type="none" w="sm" len="sm"/>
                    </a:lnL>
                    <a:lnR w="9525" cap="flat" cmpd="sng">
                      <a:solidFill>
                        <a:srgbClr val="9E9E9E"/>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extLst>
                  <a:ext uri="{0D108BD9-81ED-4DB2-BD59-A6C34878D82A}">
                    <a16:rowId xmlns:a16="http://schemas.microsoft.com/office/drawing/2014/main" val="10002"/>
                  </a:ext>
                </a:extLst>
              </a:tr>
              <a:tr h="593567">
                <a:tc>
                  <a:txBody>
                    <a:bodyPr/>
                    <a:lstStyle/>
                    <a:p>
                      <a:pPr marL="0" lvl="0" indent="0" algn="l" rtl="0">
                        <a:spcBef>
                          <a:spcPts val="0"/>
                        </a:spcBef>
                        <a:spcAft>
                          <a:spcPts val="0"/>
                        </a:spcAft>
                        <a:buNone/>
                      </a:pPr>
                      <a:r>
                        <a:rPr lang="en" sz="2400"/>
                        <a:t>Korea</a:t>
                      </a:r>
                      <a:endParaRPr sz="2400"/>
                    </a:p>
                  </a:txBody>
                  <a:tcPr marL="121900" marR="121900" marT="121900" marB="121900"/>
                </a:tc>
                <a:tc>
                  <a:txBody>
                    <a:bodyPr/>
                    <a:lstStyle/>
                    <a:p>
                      <a:pPr marL="0" lvl="0" indent="0" algn="l" rtl="0">
                        <a:spcBef>
                          <a:spcPts val="0"/>
                        </a:spcBef>
                        <a:spcAft>
                          <a:spcPts val="0"/>
                        </a:spcAft>
                        <a:buNone/>
                      </a:pPr>
                      <a:r>
                        <a:rPr lang="en" sz="2400"/>
                        <a:t>214.8mt + 165 mt</a:t>
                      </a:r>
                      <a:endParaRPr sz="2400"/>
                    </a:p>
                  </a:txBody>
                  <a:tcPr marL="121900" marR="121900" marT="121900" marB="121900">
                    <a:lnR w="9525" cap="flat" cmpd="sng">
                      <a:solidFill>
                        <a:srgbClr val="9E9E9E"/>
                      </a:solidFill>
                      <a:prstDash val="solid"/>
                      <a:round/>
                      <a:headEnd type="none" w="sm" len="sm"/>
                      <a:tailEnd type="none" w="sm" len="sm"/>
                    </a:lnR>
                  </a:tcPr>
                </a:tc>
                <a:tc>
                  <a:txBody>
                    <a:bodyPr/>
                    <a:lstStyle/>
                    <a:p>
                      <a:pPr marL="0" lvl="0" indent="0" algn="l" rtl="0">
                        <a:spcBef>
                          <a:spcPts val="0"/>
                        </a:spcBef>
                        <a:spcAft>
                          <a:spcPts val="0"/>
                        </a:spcAft>
                        <a:buNone/>
                      </a:pPr>
                      <a:r>
                        <a:rPr lang="en" sz="2400" dirty="0"/>
                        <a:t>214.8 mt</a:t>
                      </a:r>
                      <a:endParaRPr sz="2400" dirty="0"/>
                    </a:p>
                  </a:txBody>
                  <a:tcPr marL="121900" marR="121900" marT="121900" marB="121900">
                    <a:lnL w="9525" cap="flat" cmpd="sng">
                      <a:solidFill>
                        <a:srgbClr val="9E9E9E"/>
                      </a:solidFill>
                      <a:prstDash val="solid"/>
                      <a:round/>
                      <a:headEnd type="none" w="sm" len="sm"/>
                      <a:tailEnd type="none" w="sm" len="sm"/>
                    </a:lnL>
                    <a:lnR w="9525" cap="flat" cmpd="sng">
                      <a:solidFill>
                        <a:srgbClr val="9E9E9E"/>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tc>
                  <a:txBody>
                    <a:bodyPr/>
                    <a:lstStyle/>
                    <a:p>
                      <a:pPr marL="0" lvl="0" indent="0" algn="l" rtl="0">
                        <a:spcBef>
                          <a:spcPts val="0"/>
                        </a:spcBef>
                        <a:spcAft>
                          <a:spcPts val="0"/>
                        </a:spcAft>
                        <a:buNone/>
                      </a:pPr>
                      <a:r>
                        <a:rPr lang="en" sz="2400" dirty="0"/>
                        <a:t>214.8 mt</a:t>
                      </a:r>
                      <a:endParaRPr sz="2400" dirty="0"/>
                    </a:p>
                  </a:txBody>
                  <a:tcPr marL="121900" marR="121900" marT="121900" marB="121900">
                    <a:lnL w="9525" cap="flat" cmpd="sng">
                      <a:solidFill>
                        <a:srgbClr val="9E9E9E"/>
                      </a:solidFill>
                      <a:prstDash val="solid"/>
                      <a:round/>
                      <a:headEnd type="none" w="sm" len="sm"/>
                      <a:tailEnd type="none" w="sm" len="sm"/>
                    </a:lnL>
                    <a:lnR w="9525" cap="flat" cmpd="sng">
                      <a:solidFill>
                        <a:srgbClr val="9E9E9E"/>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extLst>
                  <a:ext uri="{0D108BD9-81ED-4DB2-BD59-A6C34878D82A}">
                    <a16:rowId xmlns:a16="http://schemas.microsoft.com/office/drawing/2014/main" val="10003"/>
                  </a:ext>
                </a:extLst>
              </a:tr>
              <a:tr h="604117">
                <a:tc>
                  <a:txBody>
                    <a:bodyPr/>
                    <a:lstStyle/>
                    <a:p>
                      <a:pPr marL="0" lvl="0" indent="0" algn="l" rtl="0">
                        <a:spcBef>
                          <a:spcPts val="0"/>
                        </a:spcBef>
                        <a:spcAft>
                          <a:spcPts val="0"/>
                        </a:spcAft>
                        <a:buNone/>
                      </a:pPr>
                      <a:r>
                        <a:rPr lang="en" sz="2400"/>
                        <a:t>United States</a:t>
                      </a:r>
                      <a:endParaRPr sz="2400"/>
                    </a:p>
                  </a:txBody>
                  <a:tcPr marL="121900" marR="121900" marT="121900" marB="121900"/>
                </a:tc>
                <a:tc>
                  <a:txBody>
                    <a:bodyPr/>
                    <a:lstStyle/>
                    <a:p>
                      <a:pPr marL="0" lvl="0" indent="0" algn="l" rtl="0">
                        <a:spcBef>
                          <a:spcPts val="0"/>
                        </a:spcBef>
                        <a:spcAft>
                          <a:spcPts val="0"/>
                        </a:spcAft>
                        <a:buNone/>
                      </a:pPr>
                      <a:r>
                        <a:rPr lang="en" sz="2400"/>
                        <a:t>228.4mt + 165 mt</a:t>
                      </a:r>
                      <a:endParaRPr sz="2400"/>
                    </a:p>
                  </a:txBody>
                  <a:tcPr marL="121900" marR="121900" marT="121900" marB="121900">
                    <a:lnR w="9525" cap="flat" cmpd="sng">
                      <a:solidFill>
                        <a:srgbClr val="9E9E9E"/>
                      </a:solidFill>
                      <a:prstDash val="solid"/>
                      <a:round/>
                      <a:headEnd type="none" w="sm" len="sm"/>
                      <a:tailEnd type="none" w="sm" len="sm"/>
                    </a:lnR>
                  </a:tcPr>
                </a:tc>
                <a:tc>
                  <a:txBody>
                    <a:bodyPr/>
                    <a:lstStyle/>
                    <a:p>
                      <a:pPr marL="0" lvl="0" indent="0" algn="l" rtl="0">
                        <a:spcBef>
                          <a:spcPts val="0"/>
                        </a:spcBef>
                        <a:spcAft>
                          <a:spcPts val="0"/>
                        </a:spcAft>
                        <a:buNone/>
                      </a:pPr>
                      <a:r>
                        <a:rPr lang="en" sz="2400" dirty="0"/>
                        <a:t>228.4 mt</a:t>
                      </a:r>
                      <a:endParaRPr sz="2400" dirty="0"/>
                    </a:p>
                  </a:txBody>
                  <a:tcPr marL="121900" marR="121900" marT="121900" marB="121900">
                    <a:lnL w="9525" cap="flat" cmpd="sng">
                      <a:solidFill>
                        <a:srgbClr val="9E9E9E"/>
                      </a:solidFill>
                      <a:prstDash val="solid"/>
                      <a:round/>
                      <a:headEnd type="none" w="sm" len="sm"/>
                      <a:tailEnd type="none" w="sm" len="sm"/>
                    </a:lnL>
                    <a:lnR w="9525" cap="flat" cmpd="sng">
                      <a:solidFill>
                        <a:srgbClr val="9E9E9E"/>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tc>
                  <a:txBody>
                    <a:bodyPr/>
                    <a:lstStyle/>
                    <a:p>
                      <a:pPr marL="0" lvl="0" indent="0" algn="l" rtl="0">
                        <a:spcBef>
                          <a:spcPts val="0"/>
                        </a:spcBef>
                        <a:spcAft>
                          <a:spcPts val="0"/>
                        </a:spcAft>
                        <a:buNone/>
                      </a:pPr>
                      <a:r>
                        <a:rPr lang="en" sz="2400"/>
                        <a:t>228.4 mt</a:t>
                      </a:r>
                      <a:endParaRPr sz="2400" dirty="0"/>
                    </a:p>
                  </a:txBody>
                  <a:tcPr marL="121900" marR="121900" marT="121900" marB="121900">
                    <a:lnL w="9525" cap="flat" cmpd="sng">
                      <a:solidFill>
                        <a:srgbClr val="9E9E9E"/>
                      </a:solidFill>
                      <a:prstDash val="solid"/>
                      <a:round/>
                      <a:headEnd type="none" w="sm" len="sm"/>
                      <a:tailEnd type="none" w="sm" len="sm"/>
                    </a:lnL>
                    <a:lnR w="9525" cap="flat" cmpd="sng">
                      <a:solidFill>
                        <a:srgbClr val="9E9E9E"/>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extLst>
                  <a:ext uri="{0D108BD9-81ED-4DB2-BD59-A6C34878D82A}">
                    <a16:rowId xmlns:a16="http://schemas.microsoft.com/office/drawing/2014/main" val="10004"/>
                  </a:ext>
                </a:extLst>
              </a:tr>
              <a:tr h="583136">
                <a:tc>
                  <a:txBody>
                    <a:bodyPr/>
                    <a:lstStyle/>
                    <a:p>
                      <a:pPr marL="0" lvl="0" indent="0" algn="l" rtl="0">
                        <a:spcBef>
                          <a:spcPts val="0"/>
                        </a:spcBef>
                        <a:spcAft>
                          <a:spcPts val="0"/>
                        </a:spcAft>
                        <a:buNone/>
                      </a:pPr>
                      <a:r>
                        <a:rPr lang="en" sz="2400"/>
                        <a:t>China</a:t>
                      </a:r>
                      <a:endParaRPr sz="2400"/>
                    </a:p>
                  </a:txBody>
                  <a:tcPr marL="121900" marR="121900" marT="121900" marB="121900"/>
                </a:tc>
                <a:tc>
                  <a:txBody>
                    <a:bodyPr/>
                    <a:lstStyle/>
                    <a:p>
                      <a:pPr marL="0" lvl="0" indent="0" algn="l" rtl="0">
                        <a:spcBef>
                          <a:spcPts val="0"/>
                        </a:spcBef>
                        <a:spcAft>
                          <a:spcPts val="0"/>
                        </a:spcAft>
                        <a:buNone/>
                      </a:pPr>
                      <a:r>
                        <a:rPr lang="en" sz="2400"/>
                        <a:t>68.8 mt + 165 mt</a:t>
                      </a:r>
                      <a:endParaRPr sz="2400"/>
                    </a:p>
                  </a:txBody>
                  <a:tcPr marL="121900" marR="121900" marT="121900" marB="121900">
                    <a:lnR w="9525" cap="flat" cmpd="sng">
                      <a:solidFill>
                        <a:srgbClr val="9E9E9E"/>
                      </a:solidFill>
                      <a:prstDash val="solid"/>
                      <a:round/>
                      <a:headEnd type="none" w="sm" len="sm"/>
                      <a:tailEnd type="none" w="sm" len="sm"/>
                    </a:lnR>
                  </a:tcPr>
                </a:tc>
                <a:tc>
                  <a:txBody>
                    <a:bodyPr/>
                    <a:lstStyle/>
                    <a:p>
                      <a:pPr marL="0" lvl="0" indent="0" algn="l" rtl="0">
                        <a:spcBef>
                          <a:spcPts val="0"/>
                        </a:spcBef>
                        <a:spcAft>
                          <a:spcPts val="0"/>
                        </a:spcAft>
                        <a:buNone/>
                      </a:pPr>
                      <a:r>
                        <a:rPr lang="en" sz="2400"/>
                        <a:t>68.8 mt</a:t>
                      </a:r>
                      <a:endParaRPr sz="2400"/>
                    </a:p>
                  </a:txBody>
                  <a:tcPr marL="121900" marR="121900" marT="121900" marB="121900">
                    <a:lnL w="9525" cap="flat" cmpd="sng">
                      <a:solidFill>
                        <a:srgbClr val="9E9E9E"/>
                      </a:solidFill>
                      <a:prstDash val="solid"/>
                      <a:round/>
                      <a:headEnd type="none" w="sm" len="sm"/>
                      <a:tailEnd type="none" w="sm" len="sm"/>
                    </a:lnL>
                    <a:lnR w="9525" cap="flat" cmpd="sng">
                      <a:solidFill>
                        <a:srgbClr val="9E9E9E"/>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tc>
                  <a:txBody>
                    <a:bodyPr/>
                    <a:lstStyle/>
                    <a:p>
                      <a:pPr marL="0" lvl="0" indent="0" algn="l" rtl="0">
                        <a:spcBef>
                          <a:spcPts val="0"/>
                        </a:spcBef>
                        <a:spcAft>
                          <a:spcPts val="0"/>
                        </a:spcAft>
                        <a:buNone/>
                      </a:pPr>
                      <a:r>
                        <a:rPr lang="en" sz="2400"/>
                        <a:t>68.8 mt</a:t>
                      </a:r>
                      <a:endParaRPr sz="2400"/>
                    </a:p>
                  </a:txBody>
                  <a:tcPr marL="121900" marR="121900" marT="121900" marB="121900">
                    <a:lnL w="9525" cap="flat" cmpd="sng">
                      <a:solidFill>
                        <a:srgbClr val="9E9E9E"/>
                      </a:solidFill>
                      <a:prstDash val="solid"/>
                      <a:round/>
                      <a:headEnd type="none" w="sm" len="sm"/>
                      <a:tailEnd type="none" w="sm" len="sm"/>
                    </a:lnL>
                    <a:lnR w="9525" cap="flat" cmpd="sng">
                      <a:solidFill>
                        <a:srgbClr val="9E9E9E"/>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extLst>
                  <a:ext uri="{0D108BD9-81ED-4DB2-BD59-A6C34878D82A}">
                    <a16:rowId xmlns:a16="http://schemas.microsoft.com/office/drawing/2014/main" val="10005"/>
                  </a:ext>
                </a:extLst>
              </a:tr>
              <a:tr h="609560">
                <a:tc>
                  <a:txBody>
                    <a:bodyPr/>
                    <a:lstStyle/>
                    <a:p>
                      <a:pPr marL="0" lvl="0" indent="0" algn="l" rtl="0">
                        <a:spcBef>
                          <a:spcPts val="0"/>
                        </a:spcBef>
                        <a:spcAft>
                          <a:spcPts val="0"/>
                        </a:spcAft>
                        <a:buNone/>
                      </a:pPr>
                      <a:r>
                        <a:rPr lang="en" sz="2400"/>
                        <a:t>Other SIDS</a:t>
                      </a:r>
                      <a:endParaRPr sz="2400"/>
                    </a:p>
                  </a:txBody>
                  <a:tcPr marL="121900" marR="121900" marT="121900" marB="121900"/>
                </a:tc>
                <a:tc>
                  <a:txBody>
                    <a:bodyPr/>
                    <a:lstStyle/>
                    <a:p>
                      <a:pPr marL="0" lvl="0" indent="0" algn="l" rtl="0">
                        <a:spcBef>
                          <a:spcPts val="0"/>
                        </a:spcBef>
                        <a:spcAft>
                          <a:spcPts val="0"/>
                        </a:spcAft>
                        <a:buNone/>
                      </a:pPr>
                      <a:r>
                        <a:rPr lang="en" sz="2400"/>
                        <a:t>75.2 mt</a:t>
                      </a:r>
                      <a:endParaRPr sz="2400"/>
                    </a:p>
                  </a:txBody>
                  <a:tcPr marL="121900" marR="121900" marT="121900" marB="121900">
                    <a:lnR w="9525" cap="flat" cmpd="sng">
                      <a:solidFill>
                        <a:srgbClr val="9E9E9E"/>
                      </a:solidFill>
                      <a:prstDash val="solid"/>
                      <a:round/>
                      <a:headEnd type="none" w="sm" len="sm"/>
                      <a:tailEnd type="none" w="sm" len="sm"/>
                    </a:lnR>
                  </a:tcPr>
                </a:tc>
                <a:tc>
                  <a:txBody>
                    <a:bodyPr/>
                    <a:lstStyle/>
                    <a:p>
                      <a:pPr marL="0" lvl="0" indent="0" algn="l" rtl="0">
                        <a:spcBef>
                          <a:spcPts val="0"/>
                        </a:spcBef>
                        <a:spcAft>
                          <a:spcPts val="0"/>
                        </a:spcAft>
                        <a:buNone/>
                      </a:pPr>
                      <a:r>
                        <a:rPr lang="en" sz="2400"/>
                        <a:t>75.2 mt</a:t>
                      </a:r>
                      <a:endParaRPr sz="2400"/>
                    </a:p>
                  </a:txBody>
                  <a:tcPr marL="121900" marR="121900" marT="121900" marB="121900">
                    <a:lnL w="9525" cap="flat" cmpd="sng">
                      <a:solidFill>
                        <a:srgbClr val="9E9E9E"/>
                      </a:solidFill>
                      <a:prstDash val="solid"/>
                      <a:round/>
                      <a:headEnd type="none" w="sm" len="sm"/>
                      <a:tailEnd type="none" w="sm" len="sm"/>
                    </a:lnL>
                    <a:lnR w="9525" cap="flat" cmpd="sng">
                      <a:solidFill>
                        <a:srgbClr val="9E9E9E"/>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tc>
                  <a:txBody>
                    <a:bodyPr/>
                    <a:lstStyle/>
                    <a:p>
                      <a:pPr marL="0" lvl="0" indent="0" algn="l" rtl="0">
                        <a:spcBef>
                          <a:spcPts val="0"/>
                        </a:spcBef>
                        <a:spcAft>
                          <a:spcPts val="0"/>
                        </a:spcAft>
                        <a:buNone/>
                      </a:pPr>
                      <a:r>
                        <a:rPr lang="en" sz="2400"/>
                        <a:t>75.2 mt</a:t>
                      </a:r>
                      <a:endParaRPr sz="2400"/>
                    </a:p>
                  </a:txBody>
                  <a:tcPr marL="121900" marR="121900" marT="121900" marB="121900">
                    <a:lnL w="9525" cap="flat" cmpd="sng">
                      <a:solidFill>
                        <a:srgbClr val="9E9E9E"/>
                      </a:solidFill>
                      <a:prstDash val="solid"/>
                      <a:round/>
                      <a:headEnd type="none" w="sm" len="sm"/>
                      <a:tailEnd type="none" w="sm" len="sm"/>
                    </a:lnL>
                    <a:lnR w="9525" cap="flat" cmpd="sng">
                      <a:solidFill>
                        <a:srgbClr val="9E9E9E"/>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extLst>
                  <a:ext uri="{0D108BD9-81ED-4DB2-BD59-A6C34878D82A}">
                    <a16:rowId xmlns:a16="http://schemas.microsoft.com/office/drawing/2014/main" val="10006"/>
                  </a:ext>
                </a:extLst>
              </a:tr>
              <a:tr h="609560">
                <a:tc>
                  <a:txBody>
                    <a:bodyPr/>
                    <a:lstStyle/>
                    <a:p>
                      <a:pPr marL="0" lvl="0" indent="0" algn="l" rtl="0">
                        <a:spcBef>
                          <a:spcPts val="0"/>
                        </a:spcBef>
                        <a:spcAft>
                          <a:spcPts val="0"/>
                        </a:spcAft>
                        <a:buNone/>
                      </a:pPr>
                      <a:r>
                        <a:rPr lang="en" sz="2400" b="1"/>
                        <a:t>Total</a:t>
                      </a:r>
                      <a:endParaRPr sz="2400" b="1"/>
                    </a:p>
                  </a:txBody>
                  <a:tcPr marL="121900" marR="121900" marT="121900" marB="121900"/>
                </a:tc>
                <a:tc>
                  <a:txBody>
                    <a:bodyPr/>
                    <a:lstStyle/>
                    <a:p>
                      <a:pPr marL="0" lvl="0" indent="0" algn="l" rtl="0">
                        <a:spcBef>
                          <a:spcPts val="0"/>
                        </a:spcBef>
                        <a:spcAft>
                          <a:spcPts val="0"/>
                        </a:spcAft>
                        <a:buNone/>
                      </a:pPr>
                      <a:r>
                        <a:rPr lang="en" sz="2400" b="1"/>
                        <a:t>3225 mt</a:t>
                      </a:r>
                      <a:endParaRPr sz="2400" b="1"/>
                    </a:p>
                  </a:txBody>
                  <a:tcPr marL="121900" marR="121900" marT="121900" marB="121900">
                    <a:lnR w="9525" cap="flat" cmpd="sng">
                      <a:solidFill>
                        <a:srgbClr val="9E9E9E"/>
                      </a:solidFill>
                      <a:prstDash val="solid"/>
                      <a:round/>
                      <a:headEnd type="none" w="sm" len="sm"/>
                      <a:tailEnd type="none" w="sm" len="sm"/>
                    </a:lnR>
                  </a:tcPr>
                </a:tc>
                <a:tc>
                  <a:txBody>
                    <a:bodyPr/>
                    <a:lstStyle/>
                    <a:p>
                      <a:pPr marL="0" lvl="0" indent="0" algn="l" rtl="0">
                        <a:spcBef>
                          <a:spcPts val="0"/>
                        </a:spcBef>
                        <a:spcAft>
                          <a:spcPts val="0"/>
                        </a:spcAft>
                        <a:buNone/>
                      </a:pPr>
                      <a:r>
                        <a:rPr lang="en" sz="2400" b="1" dirty="0"/>
                        <a:t>2400 mt</a:t>
                      </a:r>
                      <a:endParaRPr sz="2400" b="1" dirty="0"/>
                    </a:p>
                  </a:txBody>
                  <a:tcPr marL="121900" marR="121900" marT="121900" marB="121900">
                    <a:lnL w="9525" cap="flat" cmpd="sng">
                      <a:solidFill>
                        <a:srgbClr val="9E9E9E"/>
                      </a:solidFill>
                      <a:prstDash val="solid"/>
                      <a:round/>
                      <a:headEnd type="none" w="sm" len="sm"/>
                      <a:tailEnd type="none" w="sm" len="sm"/>
                    </a:lnL>
                    <a:lnR w="9525" cap="flat" cmpd="sng">
                      <a:solidFill>
                        <a:srgbClr val="9E9E9E"/>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tc>
                  <a:txBody>
                    <a:bodyPr/>
                    <a:lstStyle/>
                    <a:p>
                      <a:pPr marL="0" lvl="0" indent="0" algn="l" rtl="0">
                        <a:spcBef>
                          <a:spcPts val="0"/>
                        </a:spcBef>
                        <a:spcAft>
                          <a:spcPts val="0"/>
                        </a:spcAft>
                        <a:buNone/>
                      </a:pPr>
                      <a:r>
                        <a:rPr lang="en" sz="2400" b="1" dirty="0"/>
                        <a:t>2400 mt</a:t>
                      </a:r>
                      <a:endParaRPr sz="2400" b="1" dirty="0"/>
                    </a:p>
                  </a:txBody>
                  <a:tcPr marL="121900" marR="121900" marT="121900" marB="121900">
                    <a:lnL w="9525" cap="flat" cmpd="sng">
                      <a:solidFill>
                        <a:srgbClr val="9E9E9E"/>
                      </a:solidFill>
                      <a:prstDash val="solid"/>
                      <a:round/>
                      <a:headEnd type="none" w="sm" len="sm"/>
                      <a:tailEnd type="none" w="sm" len="sm"/>
                    </a:lnL>
                    <a:lnR w="9525" cap="flat" cmpd="sng">
                      <a:solidFill>
                        <a:srgbClr val="9E9E9E"/>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extLst>
                  <a:ext uri="{0D108BD9-81ED-4DB2-BD59-A6C34878D82A}">
                    <a16:rowId xmlns:a16="http://schemas.microsoft.com/office/drawing/2014/main" val="10007"/>
                  </a:ext>
                </a:extLst>
              </a:tr>
            </a:tbl>
          </a:graphicData>
        </a:graphic>
      </p:graphicFrame>
      <p:sp>
        <p:nvSpPr>
          <p:cNvPr id="70" name="Google Shape;70;p15"/>
          <p:cNvSpPr txBox="1"/>
          <p:nvPr/>
        </p:nvSpPr>
        <p:spPr>
          <a:xfrm>
            <a:off x="-280869" y="5542035"/>
            <a:ext cx="11863600" cy="1255986"/>
          </a:xfrm>
          <a:prstGeom prst="rect">
            <a:avLst/>
          </a:prstGeom>
          <a:noFill/>
          <a:ln>
            <a:noFill/>
          </a:ln>
        </p:spPr>
        <p:txBody>
          <a:bodyPr spcFirstLastPara="1" wrap="square" lIns="121900" tIns="121900" rIns="121900" bIns="121900" anchor="t" anchorCtr="0">
            <a:noAutofit/>
          </a:bodyPr>
          <a:lstStyle/>
          <a:p>
            <a:pPr marL="609585" indent="-423323">
              <a:buClr>
                <a:schemeClr val="dk2"/>
              </a:buClr>
              <a:buSzPts val="1400"/>
              <a:buChar char="●"/>
            </a:pPr>
            <a:r>
              <a:rPr lang="en" sz="1600" dirty="0">
                <a:solidFill>
                  <a:schemeClr val="dk2"/>
                </a:solidFill>
              </a:rPr>
              <a:t>For countries which are represented by more than one fleet in the rebuilding analysis, catch would be distributed between fleets based upon the proportion of catch for each fleet in 2020 (last year of the assessment)</a:t>
            </a:r>
            <a:endParaRPr sz="1600" dirty="0">
              <a:solidFill>
                <a:schemeClr val="dk2"/>
              </a:solidFill>
            </a:endParaRPr>
          </a:p>
          <a:p>
            <a:pPr marL="609585" indent="-423323">
              <a:buClr>
                <a:schemeClr val="dk2"/>
              </a:buClr>
              <a:buSzPts val="1400"/>
              <a:buChar char="●"/>
            </a:pPr>
            <a:r>
              <a:rPr lang="en" sz="1600" dirty="0">
                <a:solidFill>
                  <a:schemeClr val="dk2"/>
                </a:solidFill>
              </a:rPr>
              <a:t>For 2021-2022, catch would be updated to reported (yearbook catch) from WCPFC, and 2023-2024 would be carryover catch from 2022 if updated catch is not available.</a:t>
            </a:r>
            <a:endParaRPr sz="1600" dirty="0">
              <a:solidFill>
                <a:schemeClr val="dk2"/>
              </a:solidFill>
            </a:endParaRPr>
          </a:p>
          <a:p>
            <a:pPr marL="609585"/>
            <a:r>
              <a:rPr lang="en" sz="2400" dirty="0">
                <a:solidFill>
                  <a:schemeClr val="dk2"/>
                </a:solidFill>
              </a:rPr>
              <a:t>.</a:t>
            </a:r>
            <a:endParaRPr sz="2400" dirty="0">
              <a:solidFill>
                <a:schemeClr val="dk2"/>
              </a:solidFill>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74"/>
        <p:cNvGrpSpPr/>
        <p:nvPr/>
      </p:nvGrpSpPr>
      <p:grpSpPr>
        <a:xfrm>
          <a:off x="0" y="0"/>
          <a:ext cx="0" cy="0"/>
          <a:chOff x="0" y="0"/>
          <a:chExt cx="0" cy="0"/>
        </a:xfrm>
      </p:grpSpPr>
      <p:sp>
        <p:nvSpPr>
          <p:cNvPr id="75" name="Google Shape;75;p16"/>
          <p:cNvSpPr txBox="1">
            <a:spLocks noGrp="1"/>
          </p:cNvSpPr>
          <p:nvPr>
            <p:ph type="title"/>
          </p:nvPr>
        </p:nvSpPr>
        <p:spPr>
          <a:xfrm>
            <a:off x="0" y="147767"/>
            <a:ext cx="12192000" cy="763600"/>
          </a:xfrm>
          <a:prstGeom prst="rect">
            <a:avLst/>
          </a:prstGeom>
        </p:spPr>
        <p:txBody>
          <a:bodyPr spcFirstLastPara="1" vert="horz" wrap="square" lIns="121900" tIns="121900" rIns="121900" bIns="121900" rtlCol="0" anchor="t" anchorCtr="0">
            <a:noAutofit/>
          </a:bodyPr>
          <a:lstStyle/>
          <a:p>
            <a:pPr algn="ctr">
              <a:buSzPts val="990"/>
            </a:pPr>
            <a:r>
              <a:rPr lang="en" sz="3200" dirty="0"/>
              <a:t>Scenario 3. Set CMM 2024-06 Catch Limits and 2025-2026 Carryover</a:t>
            </a:r>
            <a:endParaRPr sz="3200" dirty="0"/>
          </a:p>
        </p:txBody>
      </p:sp>
      <p:graphicFrame>
        <p:nvGraphicFramePr>
          <p:cNvPr id="76" name="Google Shape;76;p16"/>
          <p:cNvGraphicFramePr/>
          <p:nvPr>
            <p:extLst>
              <p:ext uri="{D42A27DB-BD31-4B8C-83A1-F6EECF244321}">
                <p14:modId xmlns:p14="http://schemas.microsoft.com/office/powerpoint/2010/main" val="140272135"/>
              </p:ext>
            </p:extLst>
          </p:nvPr>
        </p:nvGraphicFramePr>
        <p:xfrm>
          <a:off x="1248473" y="846554"/>
          <a:ext cx="9695053" cy="4876480"/>
        </p:xfrm>
        <a:graphic>
          <a:graphicData uri="http://schemas.openxmlformats.org/drawingml/2006/table">
            <a:tbl>
              <a:tblPr>
                <a:noFill/>
              </a:tblPr>
              <a:tblGrid>
                <a:gridCol w="2423763">
                  <a:extLst>
                    <a:ext uri="{9D8B030D-6E8A-4147-A177-3AD203B41FA5}">
                      <a16:colId xmlns:a16="http://schemas.microsoft.com/office/drawing/2014/main" val="20000"/>
                    </a:ext>
                  </a:extLst>
                </a:gridCol>
                <a:gridCol w="2678270">
                  <a:extLst>
                    <a:ext uri="{9D8B030D-6E8A-4147-A177-3AD203B41FA5}">
                      <a16:colId xmlns:a16="http://schemas.microsoft.com/office/drawing/2014/main" val="20001"/>
                    </a:ext>
                  </a:extLst>
                </a:gridCol>
                <a:gridCol w="2911365">
                  <a:extLst>
                    <a:ext uri="{9D8B030D-6E8A-4147-A177-3AD203B41FA5}">
                      <a16:colId xmlns:a16="http://schemas.microsoft.com/office/drawing/2014/main" val="20002"/>
                    </a:ext>
                  </a:extLst>
                </a:gridCol>
                <a:gridCol w="1681655">
                  <a:extLst>
                    <a:ext uri="{9D8B030D-6E8A-4147-A177-3AD203B41FA5}">
                      <a16:colId xmlns:a16="http://schemas.microsoft.com/office/drawing/2014/main" val="20003"/>
                    </a:ext>
                  </a:extLst>
                </a:gridCol>
              </a:tblGrid>
              <a:tr h="609560">
                <a:tc>
                  <a:txBody>
                    <a:bodyPr/>
                    <a:lstStyle/>
                    <a:p>
                      <a:pPr marL="0" lvl="0" indent="0" algn="l" rtl="0">
                        <a:spcBef>
                          <a:spcPts val="0"/>
                        </a:spcBef>
                        <a:spcAft>
                          <a:spcPts val="0"/>
                        </a:spcAft>
                        <a:buNone/>
                      </a:pPr>
                      <a:r>
                        <a:rPr lang="en" sz="2400" b="1" dirty="0"/>
                        <a:t>Country</a:t>
                      </a:r>
                      <a:endParaRPr sz="2400" b="1" dirty="0"/>
                    </a:p>
                  </a:txBody>
                  <a:tcPr marL="121900" marR="121900" marT="121900" marB="121900"/>
                </a:tc>
                <a:tc>
                  <a:txBody>
                    <a:bodyPr/>
                    <a:lstStyle/>
                    <a:p>
                      <a:pPr marL="0" lvl="0" indent="0" algn="l" rtl="0">
                        <a:spcBef>
                          <a:spcPts val="0"/>
                        </a:spcBef>
                        <a:spcAft>
                          <a:spcPts val="0"/>
                        </a:spcAft>
                        <a:buNone/>
                      </a:pPr>
                      <a:r>
                        <a:rPr lang="en" sz="2400" b="1"/>
                        <a:t>2025</a:t>
                      </a:r>
                      <a:endParaRPr sz="2400" b="1"/>
                    </a:p>
                  </a:txBody>
                  <a:tcPr marL="121900" marR="121900" marT="121900" marB="121900"/>
                </a:tc>
                <a:tc>
                  <a:txBody>
                    <a:bodyPr/>
                    <a:lstStyle/>
                    <a:p>
                      <a:pPr marL="0" lvl="0" indent="0" algn="l" rtl="0">
                        <a:spcBef>
                          <a:spcPts val="0"/>
                        </a:spcBef>
                        <a:spcAft>
                          <a:spcPts val="0"/>
                        </a:spcAft>
                        <a:buNone/>
                      </a:pPr>
                      <a:r>
                        <a:rPr lang="en" sz="2400" b="1"/>
                        <a:t>2026</a:t>
                      </a:r>
                      <a:endParaRPr sz="2400" b="1"/>
                    </a:p>
                  </a:txBody>
                  <a:tcPr marL="121900" marR="121900" marT="121900" marB="121900">
                    <a:lnB w="9525" cap="flat" cmpd="sng">
                      <a:solidFill>
                        <a:srgbClr val="9E9E9E"/>
                      </a:solidFill>
                      <a:prstDash val="solid"/>
                      <a:round/>
                      <a:headEnd type="none" w="sm" len="sm"/>
                      <a:tailEnd type="none" w="sm" len="sm"/>
                    </a:lnB>
                  </a:tcPr>
                </a:tc>
                <a:tc>
                  <a:txBody>
                    <a:bodyPr/>
                    <a:lstStyle/>
                    <a:p>
                      <a:pPr marL="0" lvl="0" indent="0" algn="l" rtl="0">
                        <a:spcBef>
                          <a:spcPts val="0"/>
                        </a:spcBef>
                        <a:spcAft>
                          <a:spcPts val="0"/>
                        </a:spcAft>
                        <a:buNone/>
                      </a:pPr>
                      <a:r>
                        <a:rPr lang="en" sz="2400" b="1"/>
                        <a:t>2027</a:t>
                      </a:r>
                      <a:endParaRPr sz="2400" b="1"/>
                    </a:p>
                  </a:txBody>
                  <a:tcPr marL="121900" marR="121900" marT="121900" marB="121900">
                    <a:lnB w="9525" cap="flat" cmpd="sng">
                      <a:solidFill>
                        <a:srgbClr val="9E9E9E"/>
                      </a:solidFill>
                      <a:prstDash val="solid"/>
                      <a:round/>
                      <a:headEnd type="none" w="sm" len="sm"/>
                      <a:tailEnd type="none" w="sm" len="sm"/>
                    </a:lnB>
                  </a:tcPr>
                </a:tc>
                <a:extLst>
                  <a:ext uri="{0D108BD9-81ED-4DB2-BD59-A6C34878D82A}">
                    <a16:rowId xmlns:a16="http://schemas.microsoft.com/office/drawing/2014/main" val="10000"/>
                  </a:ext>
                </a:extLst>
              </a:tr>
              <a:tr h="591652">
                <a:tc>
                  <a:txBody>
                    <a:bodyPr/>
                    <a:lstStyle/>
                    <a:p>
                      <a:pPr marL="0" lvl="0" indent="0" algn="l" rtl="0">
                        <a:spcBef>
                          <a:spcPts val="0"/>
                        </a:spcBef>
                        <a:spcAft>
                          <a:spcPts val="0"/>
                        </a:spcAft>
                        <a:buNone/>
                      </a:pPr>
                      <a:r>
                        <a:rPr lang="en" sz="2400"/>
                        <a:t>Japan</a:t>
                      </a:r>
                      <a:endParaRPr sz="2400"/>
                    </a:p>
                  </a:txBody>
                  <a:tcPr marL="121900" marR="121900" marT="121900" marB="121900"/>
                </a:tc>
                <a:tc>
                  <a:txBody>
                    <a:bodyPr/>
                    <a:lstStyle/>
                    <a:p>
                      <a:pPr marL="0" lvl="0" indent="0" algn="l" rtl="0">
                        <a:spcBef>
                          <a:spcPts val="0"/>
                        </a:spcBef>
                        <a:spcAft>
                          <a:spcPts val="0"/>
                        </a:spcAft>
                        <a:buNone/>
                      </a:pPr>
                      <a:r>
                        <a:rPr lang="en" sz="2400" dirty="0"/>
                        <a:t>1454.4 mt + 165 mt</a:t>
                      </a:r>
                      <a:endParaRPr sz="2400" dirty="0"/>
                    </a:p>
                  </a:txBody>
                  <a:tcPr marL="121900" marR="121900" marT="121900" marB="121900">
                    <a:lnR w="9525" cap="flat" cmpd="sng">
                      <a:solidFill>
                        <a:srgbClr val="9E9E9E"/>
                      </a:solidFill>
                      <a:prstDash val="solid"/>
                      <a:round/>
                      <a:headEnd type="none" w="sm" len="sm"/>
                      <a:tailEnd type="none" w="sm" len="sm"/>
                    </a:lnR>
                  </a:tcPr>
                </a:tc>
                <a:tc>
                  <a:txBody>
                    <a:bodyPr/>
                    <a:lstStyle/>
                    <a:p>
                      <a:pPr marL="0" lvl="0" indent="0" algn="l" rtl="0">
                        <a:spcBef>
                          <a:spcPts val="0"/>
                        </a:spcBef>
                        <a:spcAft>
                          <a:spcPts val="0"/>
                        </a:spcAft>
                        <a:buNone/>
                      </a:pPr>
                      <a:r>
                        <a:rPr lang="en" sz="2400" dirty="0"/>
                        <a:t>1454.4 mt + 165 mt</a:t>
                      </a:r>
                      <a:endParaRPr sz="2400" dirty="0"/>
                    </a:p>
                  </a:txBody>
                  <a:tcPr marL="121900" marR="121900" marT="121900" marB="121900">
                    <a:lnL w="9525" cap="flat" cmpd="sng">
                      <a:solidFill>
                        <a:srgbClr val="9E9E9E"/>
                      </a:solidFill>
                      <a:prstDash val="solid"/>
                      <a:round/>
                      <a:headEnd type="none" w="sm" len="sm"/>
                      <a:tailEnd type="none" w="sm" len="sm"/>
                    </a:lnL>
                    <a:lnR w="9525" cap="flat" cmpd="sng">
                      <a:solidFill>
                        <a:srgbClr val="9E9E9E"/>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tc>
                  <a:txBody>
                    <a:bodyPr/>
                    <a:lstStyle/>
                    <a:p>
                      <a:pPr marL="0" lvl="0" indent="0" algn="l" rtl="0">
                        <a:spcBef>
                          <a:spcPts val="0"/>
                        </a:spcBef>
                        <a:spcAft>
                          <a:spcPts val="0"/>
                        </a:spcAft>
                        <a:buNone/>
                      </a:pPr>
                      <a:r>
                        <a:rPr lang="en" sz="2400" dirty="0"/>
                        <a:t>1454.4 mt</a:t>
                      </a:r>
                      <a:endParaRPr sz="2400" dirty="0"/>
                    </a:p>
                  </a:txBody>
                  <a:tcPr marL="121900" marR="121900" marT="121900" marB="121900">
                    <a:lnL w="9525" cap="flat" cmpd="sng">
                      <a:solidFill>
                        <a:srgbClr val="9E9E9E"/>
                      </a:solidFill>
                      <a:prstDash val="solid"/>
                      <a:round/>
                      <a:headEnd type="none" w="sm" len="sm"/>
                      <a:tailEnd type="none" w="sm" len="sm"/>
                    </a:lnL>
                    <a:lnR w="9525" cap="flat" cmpd="sng">
                      <a:solidFill>
                        <a:srgbClr val="9E9E9E"/>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extLst>
                  <a:ext uri="{0D108BD9-81ED-4DB2-BD59-A6C34878D82A}">
                    <a16:rowId xmlns:a16="http://schemas.microsoft.com/office/drawing/2014/main" val="10001"/>
                  </a:ext>
                </a:extLst>
              </a:tr>
              <a:tr h="591692">
                <a:tc>
                  <a:txBody>
                    <a:bodyPr/>
                    <a:lstStyle/>
                    <a:p>
                      <a:pPr marL="0" lvl="0" indent="0" algn="l" rtl="0">
                        <a:spcBef>
                          <a:spcPts val="0"/>
                        </a:spcBef>
                        <a:spcAft>
                          <a:spcPts val="0"/>
                        </a:spcAft>
                        <a:buNone/>
                      </a:pPr>
                      <a:r>
                        <a:rPr lang="en" sz="2400"/>
                        <a:t>Chinese Taipei</a:t>
                      </a:r>
                      <a:endParaRPr sz="2400"/>
                    </a:p>
                  </a:txBody>
                  <a:tcPr marL="121900" marR="121900" marT="121900" marB="121900"/>
                </a:tc>
                <a:tc>
                  <a:txBody>
                    <a:bodyPr/>
                    <a:lstStyle/>
                    <a:p>
                      <a:pPr marL="0" lvl="0" indent="0" algn="l" rtl="0">
                        <a:spcBef>
                          <a:spcPts val="0"/>
                        </a:spcBef>
                        <a:spcAft>
                          <a:spcPts val="0"/>
                        </a:spcAft>
                        <a:buNone/>
                      </a:pPr>
                      <a:r>
                        <a:rPr lang="en" sz="2400" dirty="0"/>
                        <a:t>358.4 mt + 165  mt</a:t>
                      </a:r>
                      <a:endParaRPr sz="2400" dirty="0"/>
                    </a:p>
                  </a:txBody>
                  <a:tcPr marL="121900" marR="121900" marT="121900" marB="121900">
                    <a:lnR w="9525" cap="flat" cmpd="sng">
                      <a:solidFill>
                        <a:srgbClr val="9E9E9E"/>
                      </a:solidFill>
                      <a:prstDash val="solid"/>
                      <a:round/>
                      <a:headEnd type="none" w="sm" len="sm"/>
                      <a:tailEnd type="none" w="sm" len="sm"/>
                    </a:lnR>
                  </a:tcPr>
                </a:tc>
                <a:tc>
                  <a:txBody>
                    <a:bodyPr/>
                    <a:lstStyle/>
                    <a:p>
                      <a:pPr marL="0" lvl="0" indent="0" algn="l" rtl="0">
                        <a:spcBef>
                          <a:spcPts val="0"/>
                        </a:spcBef>
                        <a:spcAft>
                          <a:spcPts val="0"/>
                        </a:spcAft>
                        <a:buNone/>
                      </a:pPr>
                      <a:r>
                        <a:rPr lang="en" sz="2400" dirty="0"/>
                        <a:t>358.4 mt + 165 mt</a:t>
                      </a:r>
                      <a:endParaRPr sz="2400" dirty="0"/>
                    </a:p>
                  </a:txBody>
                  <a:tcPr marL="121900" marR="121900" marT="121900" marB="121900">
                    <a:lnL w="9525" cap="flat" cmpd="sng">
                      <a:solidFill>
                        <a:srgbClr val="9E9E9E"/>
                      </a:solidFill>
                      <a:prstDash val="solid"/>
                      <a:round/>
                      <a:headEnd type="none" w="sm" len="sm"/>
                      <a:tailEnd type="none" w="sm" len="sm"/>
                    </a:lnL>
                    <a:lnR w="9525" cap="flat" cmpd="sng">
                      <a:solidFill>
                        <a:srgbClr val="9E9E9E"/>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tc>
                  <a:txBody>
                    <a:bodyPr/>
                    <a:lstStyle/>
                    <a:p>
                      <a:pPr marL="0" lvl="0" indent="0" algn="l" rtl="0">
                        <a:spcBef>
                          <a:spcPts val="0"/>
                        </a:spcBef>
                        <a:spcAft>
                          <a:spcPts val="0"/>
                        </a:spcAft>
                        <a:buNone/>
                      </a:pPr>
                      <a:r>
                        <a:rPr lang="en" sz="2400" dirty="0"/>
                        <a:t>358.4 mt</a:t>
                      </a:r>
                      <a:endParaRPr sz="2400" dirty="0"/>
                    </a:p>
                  </a:txBody>
                  <a:tcPr marL="121900" marR="121900" marT="121900" marB="121900">
                    <a:lnL w="9525" cap="flat" cmpd="sng">
                      <a:solidFill>
                        <a:srgbClr val="9E9E9E"/>
                      </a:solidFill>
                      <a:prstDash val="solid"/>
                      <a:round/>
                      <a:headEnd type="none" w="sm" len="sm"/>
                      <a:tailEnd type="none" w="sm" len="sm"/>
                    </a:lnL>
                    <a:lnR w="9525" cap="flat" cmpd="sng">
                      <a:solidFill>
                        <a:srgbClr val="9E9E9E"/>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extLst>
                  <a:ext uri="{0D108BD9-81ED-4DB2-BD59-A6C34878D82A}">
                    <a16:rowId xmlns:a16="http://schemas.microsoft.com/office/drawing/2014/main" val="10002"/>
                  </a:ext>
                </a:extLst>
              </a:tr>
              <a:tr h="539181">
                <a:tc>
                  <a:txBody>
                    <a:bodyPr/>
                    <a:lstStyle/>
                    <a:p>
                      <a:pPr marL="0" lvl="0" indent="0" algn="l" rtl="0">
                        <a:spcBef>
                          <a:spcPts val="0"/>
                        </a:spcBef>
                        <a:spcAft>
                          <a:spcPts val="0"/>
                        </a:spcAft>
                        <a:buNone/>
                      </a:pPr>
                      <a:r>
                        <a:rPr lang="en" sz="2400"/>
                        <a:t>Korea</a:t>
                      </a:r>
                      <a:endParaRPr sz="2400"/>
                    </a:p>
                  </a:txBody>
                  <a:tcPr marL="121900" marR="121900" marT="121900" marB="121900"/>
                </a:tc>
                <a:tc>
                  <a:txBody>
                    <a:bodyPr/>
                    <a:lstStyle/>
                    <a:p>
                      <a:pPr marL="0" lvl="0" indent="0" algn="l" rtl="0">
                        <a:spcBef>
                          <a:spcPts val="0"/>
                        </a:spcBef>
                        <a:spcAft>
                          <a:spcPts val="0"/>
                        </a:spcAft>
                        <a:buNone/>
                      </a:pPr>
                      <a:r>
                        <a:rPr lang="en" sz="2400" dirty="0"/>
                        <a:t>214.8 mt + 165  mt</a:t>
                      </a:r>
                      <a:endParaRPr sz="2400" dirty="0"/>
                    </a:p>
                  </a:txBody>
                  <a:tcPr marL="121900" marR="121900" marT="121900" marB="121900">
                    <a:lnR w="9525" cap="flat" cmpd="sng">
                      <a:solidFill>
                        <a:srgbClr val="9E9E9E"/>
                      </a:solidFill>
                      <a:prstDash val="solid"/>
                      <a:round/>
                      <a:headEnd type="none" w="sm" len="sm"/>
                      <a:tailEnd type="none" w="sm" len="sm"/>
                    </a:lnR>
                  </a:tcPr>
                </a:tc>
                <a:tc>
                  <a:txBody>
                    <a:bodyPr/>
                    <a:lstStyle/>
                    <a:p>
                      <a:pPr marL="0" lvl="0" indent="0" algn="l" rtl="0">
                        <a:spcBef>
                          <a:spcPts val="0"/>
                        </a:spcBef>
                        <a:spcAft>
                          <a:spcPts val="0"/>
                        </a:spcAft>
                        <a:buNone/>
                      </a:pPr>
                      <a:r>
                        <a:rPr lang="en" sz="2400" dirty="0"/>
                        <a:t>214.8 mt + 165 mt</a:t>
                      </a:r>
                      <a:endParaRPr sz="2400" dirty="0"/>
                    </a:p>
                  </a:txBody>
                  <a:tcPr marL="121900" marR="121900" marT="121900" marB="121900">
                    <a:lnL w="9525" cap="flat" cmpd="sng">
                      <a:solidFill>
                        <a:srgbClr val="9E9E9E"/>
                      </a:solidFill>
                      <a:prstDash val="solid"/>
                      <a:round/>
                      <a:headEnd type="none" w="sm" len="sm"/>
                      <a:tailEnd type="none" w="sm" len="sm"/>
                    </a:lnL>
                    <a:lnR w="9525" cap="flat" cmpd="sng">
                      <a:solidFill>
                        <a:srgbClr val="9E9E9E"/>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tc>
                  <a:txBody>
                    <a:bodyPr/>
                    <a:lstStyle/>
                    <a:p>
                      <a:pPr marL="0" lvl="0" indent="0" algn="l" rtl="0">
                        <a:spcBef>
                          <a:spcPts val="0"/>
                        </a:spcBef>
                        <a:spcAft>
                          <a:spcPts val="0"/>
                        </a:spcAft>
                        <a:buNone/>
                      </a:pPr>
                      <a:r>
                        <a:rPr lang="en" sz="2400" dirty="0"/>
                        <a:t>214.8 mt</a:t>
                      </a:r>
                      <a:endParaRPr sz="2400" dirty="0"/>
                    </a:p>
                  </a:txBody>
                  <a:tcPr marL="121900" marR="121900" marT="121900" marB="121900">
                    <a:lnL w="9525" cap="flat" cmpd="sng">
                      <a:solidFill>
                        <a:srgbClr val="9E9E9E"/>
                      </a:solidFill>
                      <a:prstDash val="solid"/>
                      <a:round/>
                      <a:headEnd type="none" w="sm" len="sm"/>
                      <a:tailEnd type="none" w="sm" len="sm"/>
                    </a:lnL>
                    <a:lnR w="9525" cap="flat" cmpd="sng">
                      <a:solidFill>
                        <a:srgbClr val="9E9E9E"/>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extLst>
                  <a:ext uri="{0D108BD9-81ED-4DB2-BD59-A6C34878D82A}">
                    <a16:rowId xmlns:a16="http://schemas.microsoft.com/office/drawing/2014/main" val="10003"/>
                  </a:ext>
                </a:extLst>
              </a:tr>
              <a:tr h="539221">
                <a:tc>
                  <a:txBody>
                    <a:bodyPr/>
                    <a:lstStyle/>
                    <a:p>
                      <a:pPr marL="0" lvl="0" indent="0" algn="l" rtl="0">
                        <a:spcBef>
                          <a:spcPts val="0"/>
                        </a:spcBef>
                        <a:spcAft>
                          <a:spcPts val="0"/>
                        </a:spcAft>
                        <a:buNone/>
                      </a:pPr>
                      <a:r>
                        <a:rPr lang="en" sz="2400"/>
                        <a:t>United States</a:t>
                      </a:r>
                      <a:endParaRPr sz="2400"/>
                    </a:p>
                  </a:txBody>
                  <a:tcPr marL="121900" marR="121900" marT="121900" marB="121900"/>
                </a:tc>
                <a:tc>
                  <a:txBody>
                    <a:bodyPr/>
                    <a:lstStyle/>
                    <a:p>
                      <a:pPr marL="0" lvl="0" indent="0" algn="l" rtl="0">
                        <a:spcBef>
                          <a:spcPts val="0"/>
                        </a:spcBef>
                        <a:spcAft>
                          <a:spcPts val="0"/>
                        </a:spcAft>
                        <a:buNone/>
                      </a:pPr>
                      <a:r>
                        <a:rPr lang="en" sz="2400" dirty="0"/>
                        <a:t>228.4 mt + 165  mt</a:t>
                      </a:r>
                      <a:endParaRPr sz="2400" dirty="0"/>
                    </a:p>
                  </a:txBody>
                  <a:tcPr marL="121900" marR="121900" marT="121900" marB="121900">
                    <a:lnR w="9525" cap="flat" cmpd="sng">
                      <a:solidFill>
                        <a:srgbClr val="9E9E9E"/>
                      </a:solidFill>
                      <a:prstDash val="solid"/>
                      <a:round/>
                      <a:headEnd type="none" w="sm" len="sm"/>
                      <a:tailEnd type="none" w="sm" len="sm"/>
                    </a:lnR>
                  </a:tcPr>
                </a:tc>
                <a:tc>
                  <a:txBody>
                    <a:bodyPr/>
                    <a:lstStyle/>
                    <a:p>
                      <a:pPr marL="0" lvl="0" indent="0" algn="l" rtl="0">
                        <a:spcBef>
                          <a:spcPts val="0"/>
                        </a:spcBef>
                        <a:spcAft>
                          <a:spcPts val="0"/>
                        </a:spcAft>
                        <a:buNone/>
                      </a:pPr>
                      <a:r>
                        <a:rPr lang="en" sz="2400" dirty="0"/>
                        <a:t>228.4 mt + 165 mt</a:t>
                      </a:r>
                      <a:endParaRPr sz="2400" dirty="0"/>
                    </a:p>
                  </a:txBody>
                  <a:tcPr marL="121900" marR="121900" marT="121900" marB="121900">
                    <a:lnL w="9525" cap="flat" cmpd="sng">
                      <a:solidFill>
                        <a:srgbClr val="9E9E9E"/>
                      </a:solidFill>
                      <a:prstDash val="solid"/>
                      <a:round/>
                      <a:headEnd type="none" w="sm" len="sm"/>
                      <a:tailEnd type="none" w="sm" len="sm"/>
                    </a:lnL>
                    <a:lnR w="9525" cap="flat" cmpd="sng">
                      <a:solidFill>
                        <a:srgbClr val="9E9E9E"/>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tc>
                  <a:txBody>
                    <a:bodyPr/>
                    <a:lstStyle/>
                    <a:p>
                      <a:pPr marL="0" lvl="0" indent="0" algn="l" rtl="0">
                        <a:spcBef>
                          <a:spcPts val="0"/>
                        </a:spcBef>
                        <a:spcAft>
                          <a:spcPts val="0"/>
                        </a:spcAft>
                        <a:buNone/>
                      </a:pPr>
                      <a:r>
                        <a:rPr lang="en" sz="2400" dirty="0"/>
                        <a:t>228.4 mt</a:t>
                      </a:r>
                      <a:endParaRPr sz="2400" dirty="0"/>
                    </a:p>
                  </a:txBody>
                  <a:tcPr marL="121900" marR="121900" marT="121900" marB="121900">
                    <a:lnL w="9525" cap="flat" cmpd="sng">
                      <a:solidFill>
                        <a:srgbClr val="9E9E9E"/>
                      </a:solidFill>
                      <a:prstDash val="solid"/>
                      <a:round/>
                      <a:headEnd type="none" w="sm" len="sm"/>
                      <a:tailEnd type="none" w="sm" len="sm"/>
                    </a:lnL>
                    <a:lnR w="9525" cap="flat" cmpd="sng">
                      <a:solidFill>
                        <a:srgbClr val="9E9E9E"/>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extLst>
                  <a:ext uri="{0D108BD9-81ED-4DB2-BD59-A6C34878D82A}">
                    <a16:rowId xmlns:a16="http://schemas.microsoft.com/office/drawing/2014/main" val="10004"/>
                  </a:ext>
                </a:extLst>
              </a:tr>
              <a:tr h="528750">
                <a:tc>
                  <a:txBody>
                    <a:bodyPr/>
                    <a:lstStyle/>
                    <a:p>
                      <a:pPr marL="0" lvl="0" indent="0" algn="l" rtl="0">
                        <a:spcBef>
                          <a:spcPts val="0"/>
                        </a:spcBef>
                        <a:spcAft>
                          <a:spcPts val="0"/>
                        </a:spcAft>
                        <a:buNone/>
                      </a:pPr>
                      <a:r>
                        <a:rPr lang="en" sz="2400"/>
                        <a:t>China</a:t>
                      </a:r>
                      <a:endParaRPr sz="2400"/>
                    </a:p>
                  </a:txBody>
                  <a:tcPr marL="121900" marR="121900" marT="121900" marB="121900"/>
                </a:tc>
                <a:tc>
                  <a:txBody>
                    <a:bodyPr/>
                    <a:lstStyle/>
                    <a:p>
                      <a:pPr marL="0" lvl="0" indent="0" algn="l" rtl="0">
                        <a:spcBef>
                          <a:spcPts val="0"/>
                        </a:spcBef>
                        <a:spcAft>
                          <a:spcPts val="0"/>
                        </a:spcAft>
                        <a:buNone/>
                      </a:pPr>
                      <a:r>
                        <a:rPr lang="en" sz="2400"/>
                        <a:t>68.8 mt + 165 mt</a:t>
                      </a:r>
                      <a:endParaRPr sz="2400"/>
                    </a:p>
                  </a:txBody>
                  <a:tcPr marL="121900" marR="121900" marT="121900" marB="121900">
                    <a:lnR w="9525" cap="flat" cmpd="sng">
                      <a:solidFill>
                        <a:srgbClr val="9E9E9E"/>
                      </a:solidFill>
                      <a:prstDash val="solid"/>
                      <a:round/>
                      <a:headEnd type="none" w="sm" len="sm"/>
                      <a:tailEnd type="none" w="sm" len="sm"/>
                    </a:lnR>
                  </a:tcPr>
                </a:tc>
                <a:tc>
                  <a:txBody>
                    <a:bodyPr/>
                    <a:lstStyle/>
                    <a:p>
                      <a:pPr marL="0" lvl="0" indent="0" algn="l" rtl="0">
                        <a:spcBef>
                          <a:spcPts val="0"/>
                        </a:spcBef>
                        <a:spcAft>
                          <a:spcPts val="0"/>
                        </a:spcAft>
                        <a:buNone/>
                      </a:pPr>
                      <a:r>
                        <a:rPr lang="en" sz="2400"/>
                        <a:t>68.8 mt + 165mt</a:t>
                      </a:r>
                      <a:endParaRPr sz="2400"/>
                    </a:p>
                  </a:txBody>
                  <a:tcPr marL="121900" marR="121900" marT="121900" marB="121900">
                    <a:lnL w="9525" cap="flat" cmpd="sng">
                      <a:solidFill>
                        <a:srgbClr val="9E9E9E"/>
                      </a:solidFill>
                      <a:prstDash val="solid"/>
                      <a:round/>
                      <a:headEnd type="none" w="sm" len="sm"/>
                      <a:tailEnd type="none" w="sm" len="sm"/>
                    </a:lnL>
                    <a:lnR w="9525" cap="flat" cmpd="sng">
                      <a:solidFill>
                        <a:srgbClr val="9E9E9E"/>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tc>
                  <a:txBody>
                    <a:bodyPr/>
                    <a:lstStyle/>
                    <a:p>
                      <a:pPr marL="0" lvl="0" indent="0" algn="l" rtl="0">
                        <a:spcBef>
                          <a:spcPts val="0"/>
                        </a:spcBef>
                        <a:spcAft>
                          <a:spcPts val="0"/>
                        </a:spcAft>
                        <a:buNone/>
                      </a:pPr>
                      <a:r>
                        <a:rPr lang="en" sz="2400"/>
                        <a:t>68.8 mt</a:t>
                      </a:r>
                      <a:endParaRPr sz="2400"/>
                    </a:p>
                  </a:txBody>
                  <a:tcPr marL="121900" marR="121900" marT="121900" marB="121900">
                    <a:lnL w="9525" cap="flat" cmpd="sng">
                      <a:solidFill>
                        <a:srgbClr val="9E9E9E"/>
                      </a:solidFill>
                      <a:prstDash val="solid"/>
                      <a:round/>
                      <a:headEnd type="none" w="sm" len="sm"/>
                      <a:tailEnd type="none" w="sm" len="sm"/>
                    </a:lnL>
                    <a:lnR w="9525" cap="flat" cmpd="sng">
                      <a:solidFill>
                        <a:srgbClr val="9E9E9E"/>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extLst>
                  <a:ext uri="{0D108BD9-81ED-4DB2-BD59-A6C34878D82A}">
                    <a16:rowId xmlns:a16="http://schemas.microsoft.com/office/drawing/2014/main" val="10005"/>
                  </a:ext>
                </a:extLst>
              </a:tr>
              <a:tr h="609560">
                <a:tc>
                  <a:txBody>
                    <a:bodyPr/>
                    <a:lstStyle/>
                    <a:p>
                      <a:pPr marL="0" lvl="0" indent="0" algn="l" rtl="0">
                        <a:spcBef>
                          <a:spcPts val="0"/>
                        </a:spcBef>
                        <a:spcAft>
                          <a:spcPts val="0"/>
                        </a:spcAft>
                        <a:buNone/>
                      </a:pPr>
                      <a:r>
                        <a:rPr lang="en" sz="2400"/>
                        <a:t>Other SIDS</a:t>
                      </a:r>
                      <a:endParaRPr sz="2400"/>
                    </a:p>
                  </a:txBody>
                  <a:tcPr marL="121900" marR="121900" marT="121900" marB="121900"/>
                </a:tc>
                <a:tc>
                  <a:txBody>
                    <a:bodyPr/>
                    <a:lstStyle/>
                    <a:p>
                      <a:pPr marL="0" lvl="0" indent="0" algn="l" rtl="0">
                        <a:spcBef>
                          <a:spcPts val="0"/>
                        </a:spcBef>
                        <a:spcAft>
                          <a:spcPts val="0"/>
                        </a:spcAft>
                        <a:buNone/>
                      </a:pPr>
                      <a:r>
                        <a:rPr lang="en" sz="2400"/>
                        <a:t>75.2 mt</a:t>
                      </a:r>
                      <a:endParaRPr sz="2400"/>
                    </a:p>
                  </a:txBody>
                  <a:tcPr marL="121900" marR="121900" marT="121900" marB="121900">
                    <a:lnR w="9525" cap="flat" cmpd="sng">
                      <a:solidFill>
                        <a:srgbClr val="9E9E9E"/>
                      </a:solidFill>
                      <a:prstDash val="solid"/>
                      <a:round/>
                      <a:headEnd type="none" w="sm" len="sm"/>
                      <a:tailEnd type="none" w="sm" len="sm"/>
                    </a:lnR>
                  </a:tcPr>
                </a:tc>
                <a:tc>
                  <a:txBody>
                    <a:bodyPr/>
                    <a:lstStyle/>
                    <a:p>
                      <a:pPr marL="0" lvl="0" indent="0" algn="l" rtl="0">
                        <a:spcBef>
                          <a:spcPts val="0"/>
                        </a:spcBef>
                        <a:spcAft>
                          <a:spcPts val="0"/>
                        </a:spcAft>
                        <a:buNone/>
                      </a:pPr>
                      <a:r>
                        <a:rPr lang="en" sz="2400"/>
                        <a:t>75.2 mt</a:t>
                      </a:r>
                      <a:endParaRPr sz="2400"/>
                    </a:p>
                  </a:txBody>
                  <a:tcPr marL="121900" marR="121900" marT="121900" marB="121900">
                    <a:lnL w="9525" cap="flat" cmpd="sng">
                      <a:solidFill>
                        <a:srgbClr val="9E9E9E"/>
                      </a:solidFill>
                      <a:prstDash val="solid"/>
                      <a:round/>
                      <a:headEnd type="none" w="sm" len="sm"/>
                      <a:tailEnd type="none" w="sm" len="sm"/>
                    </a:lnL>
                    <a:lnR w="9525" cap="flat" cmpd="sng">
                      <a:solidFill>
                        <a:srgbClr val="9E9E9E"/>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tc>
                  <a:txBody>
                    <a:bodyPr/>
                    <a:lstStyle/>
                    <a:p>
                      <a:pPr marL="0" lvl="0" indent="0" algn="l" rtl="0">
                        <a:spcBef>
                          <a:spcPts val="0"/>
                        </a:spcBef>
                        <a:spcAft>
                          <a:spcPts val="0"/>
                        </a:spcAft>
                        <a:buNone/>
                      </a:pPr>
                      <a:r>
                        <a:rPr lang="en" sz="2400"/>
                        <a:t>75.2 mt</a:t>
                      </a:r>
                      <a:endParaRPr sz="2400"/>
                    </a:p>
                  </a:txBody>
                  <a:tcPr marL="121900" marR="121900" marT="121900" marB="121900">
                    <a:lnL w="9525" cap="flat" cmpd="sng">
                      <a:solidFill>
                        <a:srgbClr val="9E9E9E"/>
                      </a:solidFill>
                      <a:prstDash val="solid"/>
                      <a:round/>
                      <a:headEnd type="none" w="sm" len="sm"/>
                      <a:tailEnd type="none" w="sm" len="sm"/>
                    </a:lnL>
                    <a:lnR w="9525" cap="flat" cmpd="sng">
                      <a:solidFill>
                        <a:srgbClr val="9E9E9E"/>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extLst>
                  <a:ext uri="{0D108BD9-81ED-4DB2-BD59-A6C34878D82A}">
                    <a16:rowId xmlns:a16="http://schemas.microsoft.com/office/drawing/2014/main" val="10006"/>
                  </a:ext>
                </a:extLst>
              </a:tr>
              <a:tr h="609560">
                <a:tc>
                  <a:txBody>
                    <a:bodyPr/>
                    <a:lstStyle/>
                    <a:p>
                      <a:pPr marL="0" lvl="0" indent="0" algn="l" rtl="0">
                        <a:spcBef>
                          <a:spcPts val="0"/>
                        </a:spcBef>
                        <a:spcAft>
                          <a:spcPts val="0"/>
                        </a:spcAft>
                        <a:buNone/>
                      </a:pPr>
                      <a:r>
                        <a:rPr lang="en" sz="2400" b="1"/>
                        <a:t>Total</a:t>
                      </a:r>
                      <a:endParaRPr sz="2400" b="1"/>
                    </a:p>
                  </a:txBody>
                  <a:tcPr marL="121900" marR="121900" marT="121900" marB="121900"/>
                </a:tc>
                <a:tc>
                  <a:txBody>
                    <a:bodyPr/>
                    <a:lstStyle/>
                    <a:p>
                      <a:pPr marL="0" lvl="0" indent="0" algn="l" rtl="0">
                        <a:spcBef>
                          <a:spcPts val="0"/>
                        </a:spcBef>
                        <a:spcAft>
                          <a:spcPts val="0"/>
                        </a:spcAft>
                        <a:buNone/>
                      </a:pPr>
                      <a:r>
                        <a:rPr lang="en" sz="2400" b="1" dirty="0"/>
                        <a:t>3225 mt</a:t>
                      </a:r>
                      <a:endParaRPr sz="2400" b="1" dirty="0"/>
                    </a:p>
                  </a:txBody>
                  <a:tcPr marL="121900" marR="121900" marT="121900" marB="121900">
                    <a:lnR w="9525" cap="flat" cmpd="sng">
                      <a:solidFill>
                        <a:srgbClr val="9E9E9E"/>
                      </a:solidFill>
                      <a:prstDash val="solid"/>
                      <a:round/>
                      <a:headEnd type="none" w="sm" len="sm"/>
                      <a:tailEnd type="none" w="sm" len="sm"/>
                    </a:lnR>
                  </a:tcPr>
                </a:tc>
                <a:tc>
                  <a:txBody>
                    <a:bodyPr/>
                    <a:lstStyle/>
                    <a:p>
                      <a:pPr marL="0" lvl="0" indent="0" algn="l" rtl="0">
                        <a:spcBef>
                          <a:spcPts val="0"/>
                        </a:spcBef>
                        <a:spcAft>
                          <a:spcPts val="0"/>
                        </a:spcAft>
                        <a:buNone/>
                      </a:pPr>
                      <a:r>
                        <a:rPr lang="en" sz="2400" b="1"/>
                        <a:t>3225 mt</a:t>
                      </a:r>
                      <a:endParaRPr sz="2400" b="1"/>
                    </a:p>
                  </a:txBody>
                  <a:tcPr marL="121900" marR="121900" marT="121900" marB="121900">
                    <a:lnL w="9525" cap="flat" cmpd="sng">
                      <a:solidFill>
                        <a:srgbClr val="9E9E9E"/>
                      </a:solidFill>
                      <a:prstDash val="solid"/>
                      <a:round/>
                      <a:headEnd type="none" w="sm" len="sm"/>
                      <a:tailEnd type="none" w="sm" len="sm"/>
                    </a:lnL>
                    <a:lnR w="9525" cap="flat" cmpd="sng">
                      <a:solidFill>
                        <a:srgbClr val="9E9E9E"/>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tc>
                  <a:txBody>
                    <a:bodyPr/>
                    <a:lstStyle/>
                    <a:p>
                      <a:pPr marL="0" lvl="0" indent="0" algn="l" rtl="0">
                        <a:spcBef>
                          <a:spcPts val="0"/>
                        </a:spcBef>
                        <a:spcAft>
                          <a:spcPts val="0"/>
                        </a:spcAft>
                        <a:buNone/>
                      </a:pPr>
                      <a:r>
                        <a:rPr lang="en" sz="2400" b="1" dirty="0"/>
                        <a:t>2400 mt</a:t>
                      </a:r>
                      <a:endParaRPr sz="2400" b="1" dirty="0"/>
                    </a:p>
                  </a:txBody>
                  <a:tcPr marL="121900" marR="121900" marT="121900" marB="121900">
                    <a:lnL w="9525" cap="flat" cmpd="sng">
                      <a:solidFill>
                        <a:srgbClr val="9E9E9E"/>
                      </a:solidFill>
                      <a:prstDash val="solid"/>
                      <a:round/>
                      <a:headEnd type="none" w="sm" len="sm"/>
                      <a:tailEnd type="none" w="sm" len="sm"/>
                    </a:lnL>
                    <a:lnR w="9525" cap="flat" cmpd="sng">
                      <a:solidFill>
                        <a:srgbClr val="9E9E9E"/>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extLst>
                  <a:ext uri="{0D108BD9-81ED-4DB2-BD59-A6C34878D82A}">
                    <a16:rowId xmlns:a16="http://schemas.microsoft.com/office/drawing/2014/main" val="10007"/>
                  </a:ext>
                </a:extLst>
              </a:tr>
            </a:tbl>
          </a:graphicData>
        </a:graphic>
      </p:graphicFrame>
      <p:sp>
        <p:nvSpPr>
          <p:cNvPr id="77" name="Google Shape;77;p16"/>
          <p:cNvSpPr txBox="1"/>
          <p:nvPr/>
        </p:nvSpPr>
        <p:spPr>
          <a:xfrm>
            <a:off x="0" y="5658221"/>
            <a:ext cx="11863600" cy="1120951"/>
          </a:xfrm>
          <a:prstGeom prst="rect">
            <a:avLst/>
          </a:prstGeom>
          <a:noFill/>
          <a:ln>
            <a:noFill/>
          </a:ln>
        </p:spPr>
        <p:txBody>
          <a:bodyPr spcFirstLastPara="1" wrap="square" lIns="121900" tIns="121900" rIns="121900" bIns="121900" anchor="t" anchorCtr="0">
            <a:noAutofit/>
          </a:bodyPr>
          <a:lstStyle/>
          <a:p>
            <a:pPr marL="609585" indent="-423323">
              <a:buClr>
                <a:schemeClr val="dk2"/>
              </a:buClr>
              <a:buSzPts val="1400"/>
              <a:buChar char="●"/>
            </a:pPr>
            <a:r>
              <a:rPr lang="en" sz="1600" dirty="0">
                <a:solidFill>
                  <a:schemeClr val="dk2"/>
                </a:solidFill>
              </a:rPr>
              <a:t>For countries which are represented by more than one fleet in the rebuilding analysis, catch would be distributed between fleets based upon the proportion of catch for each fleet in 2020 (last year of the assessment)</a:t>
            </a:r>
            <a:endParaRPr sz="1600" dirty="0">
              <a:solidFill>
                <a:schemeClr val="dk2"/>
              </a:solidFill>
            </a:endParaRPr>
          </a:p>
          <a:p>
            <a:pPr marL="609585" indent="-423323">
              <a:buClr>
                <a:schemeClr val="dk2"/>
              </a:buClr>
              <a:buSzPts val="1400"/>
              <a:buChar char="●"/>
            </a:pPr>
            <a:r>
              <a:rPr lang="en" sz="1600" dirty="0">
                <a:solidFill>
                  <a:schemeClr val="dk2"/>
                </a:solidFill>
              </a:rPr>
              <a:t>For 2021-2022, catch would be updated to reported (yearbook catch) from WCPFC, and 2023-2024 would be carryover catch from 2022 if updated catch is not available.</a:t>
            </a:r>
            <a:endParaRPr sz="1600" dirty="0">
              <a:solidFill>
                <a:schemeClr val="dk2"/>
              </a:solidFill>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5E1FFC9E-595F-483D-875C-DCE4FB058795}"/>
              </a:ext>
            </a:extLst>
          </p:cNvPr>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25972" y="1008993"/>
            <a:ext cx="11740055" cy="5596759"/>
          </a:xfrm>
          <a:prstGeom prst="rect">
            <a:avLst/>
          </a:prstGeom>
          <a:noFill/>
          <a:ln>
            <a:noFill/>
          </a:ln>
        </p:spPr>
      </p:pic>
      <p:sp>
        <p:nvSpPr>
          <p:cNvPr id="4" name="Title 1">
            <a:extLst>
              <a:ext uri="{FF2B5EF4-FFF2-40B4-BE49-F238E27FC236}">
                <a16:creationId xmlns:a16="http://schemas.microsoft.com/office/drawing/2014/main" id="{992E170D-8CFF-4E57-9FED-43ED07947793}"/>
              </a:ext>
            </a:extLst>
          </p:cNvPr>
          <p:cNvSpPr>
            <a:spLocks noGrp="1"/>
          </p:cNvSpPr>
          <p:nvPr>
            <p:ph type="title"/>
          </p:nvPr>
        </p:nvSpPr>
        <p:spPr>
          <a:xfrm>
            <a:off x="0" y="0"/>
            <a:ext cx="12192000" cy="738188"/>
          </a:xfrm>
        </p:spPr>
        <p:txBody>
          <a:bodyPr>
            <a:normAutofit fontScale="90000"/>
          </a:bodyPr>
          <a:lstStyle/>
          <a:p>
            <a:pPr algn="ctr"/>
            <a:r>
              <a:rPr lang="en-US" sz="4000" dirty="0"/>
              <a:t>Apportion MLS Catch to Fleet Groups from the 2023 Assessment</a:t>
            </a:r>
          </a:p>
        </p:txBody>
      </p:sp>
    </p:spTree>
    <p:extLst>
      <p:ext uri="{BB962C8B-B14F-4D97-AF65-F5344CB8AC3E}">
        <p14:creationId xmlns:p14="http://schemas.microsoft.com/office/powerpoint/2010/main" val="368757695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1DEAF34-7519-442F-8E23-1715A0C165F8}"/>
              </a:ext>
            </a:extLst>
          </p:cNvPr>
          <p:cNvSpPr>
            <a:spLocks noGrp="1"/>
          </p:cNvSpPr>
          <p:nvPr>
            <p:ph type="title"/>
          </p:nvPr>
        </p:nvSpPr>
        <p:spPr>
          <a:xfrm>
            <a:off x="2958662" y="0"/>
            <a:ext cx="6274676" cy="1030014"/>
          </a:xfrm>
        </p:spPr>
        <p:txBody>
          <a:bodyPr>
            <a:normAutofit fontScale="90000"/>
          </a:bodyPr>
          <a:lstStyle/>
          <a:p>
            <a:pPr algn="ctr"/>
            <a:r>
              <a:rPr lang="en-US" sz="3600" b="1" dirty="0"/>
              <a:t>Japanese Longline Quarter 2 – Area 1 Fleet Group 3</a:t>
            </a:r>
          </a:p>
        </p:txBody>
      </p:sp>
      <p:pic>
        <p:nvPicPr>
          <p:cNvPr id="5" name="Picture 4">
            <a:extLst>
              <a:ext uri="{FF2B5EF4-FFF2-40B4-BE49-F238E27FC236}">
                <a16:creationId xmlns:a16="http://schemas.microsoft.com/office/drawing/2014/main" id="{2EE07C25-9C2C-4A0D-A69F-9598CA8558F6}"/>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82428" y="1030014"/>
            <a:ext cx="11827144" cy="5810105"/>
          </a:xfrm>
          <a:prstGeom prst="rect">
            <a:avLst/>
          </a:prstGeom>
        </p:spPr>
      </p:pic>
    </p:spTree>
    <p:extLst>
      <p:ext uri="{BB962C8B-B14F-4D97-AF65-F5344CB8AC3E}">
        <p14:creationId xmlns:p14="http://schemas.microsoft.com/office/powerpoint/2010/main" val="337225588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4E9F419-2265-4795-8318-1A6B03EFD45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033959" y="889521"/>
            <a:ext cx="6124082" cy="5968479"/>
          </a:xfrm>
          <a:prstGeom prst="rect">
            <a:avLst/>
          </a:prstGeom>
        </p:spPr>
      </p:pic>
      <p:sp>
        <p:nvSpPr>
          <p:cNvPr id="7" name="Title 1">
            <a:extLst>
              <a:ext uri="{FF2B5EF4-FFF2-40B4-BE49-F238E27FC236}">
                <a16:creationId xmlns:a16="http://schemas.microsoft.com/office/drawing/2014/main" id="{39A94E77-FEE6-4A09-8CD4-D5CD8749E4C1}"/>
              </a:ext>
            </a:extLst>
          </p:cNvPr>
          <p:cNvSpPr>
            <a:spLocks noGrp="1"/>
          </p:cNvSpPr>
          <p:nvPr>
            <p:ph type="title"/>
          </p:nvPr>
        </p:nvSpPr>
        <p:spPr>
          <a:xfrm>
            <a:off x="2958662" y="0"/>
            <a:ext cx="6274676" cy="1030014"/>
          </a:xfrm>
        </p:spPr>
        <p:txBody>
          <a:bodyPr>
            <a:normAutofit fontScale="90000"/>
          </a:bodyPr>
          <a:lstStyle/>
          <a:p>
            <a:pPr algn="ctr"/>
            <a:r>
              <a:rPr lang="en-US" sz="3600" b="1" dirty="0"/>
              <a:t>Hawaii Longline </a:t>
            </a:r>
            <a:br>
              <a:rPr lang="en-US" sz="3600" b="1" dirty="0"/>
            </a:br>
            <a:r>
              <a:rPr lang="en-US" sz="3600" b="1" dirty="0"/>
              <a:t>Fleet Group 8</a:t>
            </a:r>
          </a:p>
        </p:txBody>
      </p:sp>
    </p:spTree>
    <p:extLst>
      <p:ext uri="{BB962C8B-B14F-4D97-AF65-F5344CB8AC3E}">
        <p14:creationId xmlns:p14="http://schemas.microsoft.com/office/powerpoint/2010/main" val="32737451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FC91EC88-149E-4628-AA5E-2A33A5CA1E6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348585" y="714702"/>
            <a:ext cx="7494830" cy="6115074"/>
          </a:xfrm>
          <a:prstGeom prst="rect">
            <a:avLst/>
          </a:prstGeom>
        </p:spPr>
      </p:pic>
      <p:sp>
        <p:nvSpPr>
          <p:cNvPr id="6" name="Title 1">
            <a:extLst>
              <a:ext uri="{FF2B5EF4-FFF2-40B4-BE49-F238E27FC236}">
                <a16:creationId xmlns:a16="http://schemas.microsoft.com/office/drawing/2014/main" id="{35C467B5-16ED-45F9-B401-82C457EE463B}"/>
              </a:ext>
            </a:extLst>
          </p:cNvPr>
          <p:cNvSpPr>
            <a:spLocks noGrp="1"/>
          </p:cNvSpPr>
          <p:nvPr>
            <p:ph type="title"/>
          </p:nvPr>
        </p:nvSpPr>
        <p:spPr>
          <a:xfrm>
            <a:off x="2958662" y="0"/>
            <a:ext cx="6274676" cy="1030014"/>
          </a:xfrm>
        </p:spPr>
        <p:txBody>
          <a:bodyPr>
            <a:normAutofit fontScale="90000"/>
          </a:bodyPr>
          <a:lstStyle/>
          <a:p>
            <a:pPr algn="ctr"/>
            <a:r>
              <a:rPr lang="en-US" sz="3600" b="1" dirty="0"/>
              <a:t>Taiwanese Longline </a:t>
            </a:r>
            <a:br>
              <a:rPr lang="en-US" sz="3600" b="1" dirty="0"/>
            </a:br>
            <a:r>
              <a:rPr lang="en-US" sz="3600" b="1" dirty="0"/>
              <a:t>Fleet Group 9</a:t>
            </a:r>
          </a:p>
        </p:txBody>
      </p:sp>
    </p:spTree>
    <p:extLst>
      <p:ext uri="{BB962C8B-B14F-4D97-AF65-F5344CB8AC3E}">
        <p14:creationId xmlns:p14="http://schemas.microsoft.com/office/powerpoint/2010/main" val="395581844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0CB1F8D3-7DD6-4163-B4F1-FF04C2AA969D}"/>
              </a:ext>
            </a:extLst>
          </p:cNvPr>
          <p:cNvSpPr txBox="1">
            <a:spLocks/>
          </p:cNvSpPr>
          <p:nvPr/>
        </p:nvSpPr>
        <p:spPr>
          <a:xfrm>
            <a:off x="0" y="28795"/>
            <a:ext cx="12192000" cy="1158874"/>
          </a:xfrm>
          <a:prstGeom prst="rect">
            <a:avLst/>
          </a:prstGeom>
        </p:spPr>
        <p:txBody>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dirty="0"/>
              <a:t>Gather 2021-2023 MLS Catches in the WCPFC Area North of the Equator from the WCPFC Yearbook</a:t>
            </a:r>
          </a:p>
        </p:txBody>
      </p:sp>
      <p:pic>
        <p:nvPicPr>
          <p:cNvPr id="3" name="Picture 2">
            <a:extLst>
              <a:ext uri="{FF2B5EF4-FFF2-40B4-BE49-F238E27FC236}">
                <a16:creationId xmlns:a16="http://schemas.microsoft.com/office/drawing/2014/main" id="{B591D272-E391-4A7D-B8E8-EDEC4CB7AB3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727105" y="1405650"/>
            <a:ext cx="5639488" cy="5452350"/>
          </a:xfrm>
          <a:prstGeom prst="rect">
            <a:avLst/>
          </a:prstGeom>
        </p:spPr>
      </p:pic>
      <p:pic>
        <p:nvPicPr>
          <p:cNvPr id="8" name="Picture 7">
            <a:extLst>
              <a:ext uri="{FF2B5EF4-FFF2-40B4-BE49-F238E27FC236}">
                <a16:creationId xmlns:a16="http://schemas.microsoft.com/office/drawing/2014/main" id="{DF587AAE-180F-409A-B923-67B7F04C94F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413438" y="2795751"/>
            <a:ext cx="2738564" cy="3547241"/>
          </a:xfrm>
          <a:prstGeom prst="rect">
            <a:avLst/>
          </a:prstGeom>
        </p:spPr>
      </p:pic>
    </p:spTree>
    <p:extLst>
      <p:ext uri="{BB962C8B-B14F-4D97-AF65-F5344CB8AC3E}">
        <p14:creationId xmlns:p14="http://schemas.microsoft.com/office/powerpoint/2010/main" val="70357627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0CB1F8D3-7DD6-4163-B4F1-FF04C2AA969D}"/>
              </a:ext>
            </a:extLst>
          </p:cNvPr>
          <p:cNvSpPr txBox="1">
            <a:spLocks/>
          </p:cNvSpPr>
          <p:nvPr/>
        </p:nvSpPr>
        <p:spPr>
          <a:xfrm>
            <a:off x="0" y="28795"/>
            <a:ext cx="12191999" cy="559784"/>
          </a:xfrm>
          <a:prstGeom prst="rect">
            <a:avLst/>
          </a:prstGeom>
        </p:spPr>
        <p:txBody>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sz="3200" dirty="0"/>
              <a:t>WCPFC Yearbook Reported MLS Catches with Imputed 2024 Catch</a:t>
            </a:r>
          </a:p>
        </p:txBody>
      </p:sp>
      <p:sp>
        <p:nvSpPr>
          <p:cNvPr id="8" name="TextBox 7">
            <a:extLst>
              <a:ext uri="{FF2B5EF4-FFF2-40B4-BE49-F238E27FC236}">
                <a16:creationId xmlns:a16="http://schemas.microsoft.com/office/drawing/2014/main" id="{A7A22755-40DE-4FC2-A728-ADDF654554FE}"/>
              </a:ext>
            </a:extLst>
          </p:cNvPr>
          <p:cNvSpPr txBox="1"/>
          <p:nvPr/>
        </p:nvSpPr>
        <p:spPr>
          <a:xfrm>
            <a:off x="9480331" y="6550223"/>
            <a:ext cx="2711669" cy="307777"/>
          </a:xfrm>
          <a:prstGeom prst="rect">
            <a:avLst/>
          </a:prstGeom>
          <a:noFill/>
        </p:spPr>
        <p:txBody>
          <a:bodyPr wrap="square">
            <a:spAutoFit/>
          </a:bodyPr>
          <a:lstStyle/>
          <a:p>
            <a:pPr algn="r"/>
            <a:r>
              <a:rPr lang="en-US" sz="1400" dirty="0"/>
              <a:t>Data from XLS_NorthWCPFC.csv</a:t>
            </a:r>
          </a:p>
        </p:txBody>
      </p:sp>
      <p:pic>
        <p:nvPicPr>
          <p:cNvPr id="3" name="Picture 2">
            <a:extLst>
              <a:ext uri="{FF2B5EF4-FFF2-40B4-BE49-F238E27FC236}">
                <a16:creationId xmlns:a16="http://schemas.microsoft.com/office/drawing/2014/main" id="{B890FA04-0058-43DE-B113-E36F8ABB3B00}"/>
              </a:ext>
            </a:extLst>
          </p:cNvPr>
          <p:cNvPicPr>
            <a:picLocks noChangeAspect="1"/>
          </p:cNvPicPr>
          <p:nvPr/>
        </p:nvPicPr>
        <p:blipFill>
          <a:blip r:embed="rId2"/>
          <a:stretch>
            <a:fillRect/>
          </a:stretch>
        </p:blipFill>
        <p:spPr>
          <a:xfrm>
            <a:off x="3026201" y="646015"/>
            <a:ext cx="6139596" cy="6211985"/>
          </a:xfrm>
          <a:prstGeom prst="rect">
            <a:avLst/>
          </a:prstGeom>
        </p:spPr>
      </p:pic>
    </p:spTree>
    <p:extLst>
      <p:ext uri="{BB962C8B-B14F-4D97-AF65-F5344CB8AC3E}">
        <p14:creationId xmlns:p14="http://schemas.microsoft.com/office/powerpoint/2010/main" val="371351195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0CB1F8D3-7DD6-4163-B4F1-FF04C2AA969D}"/>
              </a:ext>
            </a:extLst>
          </p:cNvPr>
          <p:cNvSpPr txBox="1">
            <a:spLocks/>
          </p:cNvSpPr>
          <p:nvPr/>
        </p:nvSpPr>
        <p:spPr>
          <a:xfrm>
            <a:off x="462456" y="-23757"/>
            <a:ext cx="11729544" cy="517743"/>
          </a:xfrm>
          <a:prstGeom prst="rect">
            <a:avLst/>
          </a:prstGeom>
        </p:spPr>
        <p:txBody>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sz="3200" dirty="0"/>
              <a:t>WCPFC Yearbook Reported MLS Catch with Imputed 2024 Catch</a:t>
            </a:r>
          </a:p>
        </p:txBody>
      </p:sp>
      <p:sp>
        <p:nvSpPr>
          <p:cNvPr id="5" name="TextBox 4">
            <a:extLst>
              <a:ext uri="{FF2B5EF4-FFF2-40B4-BE49-F238E27FC236}">
                <a16:creationId xmlns:a16="http://schemas.microsoft.com/office/drawing/2014/main" id="{00C9A2B3-0ED7-4F23-956E-0F7A69D3FA55}"/>
              </a:ext>
            </a:extLst>
          </p:cNvPr>
          <p:cNvSpPr txBox="1"/>
          <p:nvPr/>
        </p:nvSpPr>
        <p:spPr>
          <a:xfrm>
            <a:off x="9480331" y="6550223"/>
            <a:ext cx="2711669" cy="307777"/>
          </a:xfrm>
          <a:prstGeom prst="rect">
            <a:avLst/>
          </a:prstGeom>
          <a:noFill/>
        </p:spPr>
        <p:txBody>
          <a:bodyPr wrap="square">
            <a:spAutoFit/>
          </a:bodyPr>
          <a:lstStyle/>
          <a:p>
            <a:pPr algn="r"/>
            <a:r>
              <a:rPr lang="en-US" sz="1400" dirty="0"/>
              <a:t>Data from XLS_NorthWCPFC.csv</a:t>
            </a:r>
          </a:p>
        </p:txBody>
      </p:sp>
      <p:pic>
        <p:nvPicPr>
          <p:cNvPr id="2" name="Picture 1">
            <a:extLst>
              <a:ext uri="{FF2B5EF4-FFF2-40B4-BE49-F238E27FC236}">
                <a16:creationId xmlns:a16="http://schemas.microsoft.com/office/drawing/2014/main" id="{2F8DA74F-4F99-4E6E-83E9-7B5602FDC266}"/>
              </a:ext>
            </a:extLst>
          </p:cNvPr>
          <p:cNvPicPr>
            <a:picLocks noChangeAspect="1"/>
          </p:cNvPicPr>
          <p:nvPr/>
        </p:nvPicPr>
        <p:blipFill>
          <a:blip r:embed="rId2"/>
          <a:stretch>
            <a:fillRect/>
          </a:stretch>
        </p:blipFill>
        <p:spPr>
          <a:xfrm>
            <a:off x="2432901" y="672662"/>
            <a:ext cx="7326198" cy="6185338"/>
          </a:xfrm>
          <a:prstGeom prst="rect">
            <a:avLst/>
          </a:prstGeom>
        </p:spPr>
      </p:pic>
    </p:spTree>
    <p:extLst>
      <p:ext uri="{BB962C8B-B14F-4D97-AF65-F5344CB8AC3E}">
        <p14:creationId xmlns:p14="http://schemas.microsoft.com/office/powerpoint/2010/main" val="1077689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0CB1F8D3-7DD6-4163-B4F1-FF04C2AA969D}"/>
              </a:ext>
            </a:extLst>
          </p:cNvPr>
          <p:cNvSpPr txBox="1">
            <a:spLocks/>
          </p:cNvSpPr>
          <p:nvPr/>
        </p:nvSpPr>
        <p:spPr>
          <a:xfrm>
            <a:off x="838199" y="28795"/>
            <a:ext cx="10515600" cy="517743"/>
          </a:xfrm>
          <a:prstGeom prst="rect">
            <a:avLst/>
          </a:prstGeom>
        </p:spPr>
        <p:txBody>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sz="3200" dirty="0"/>
              <a:t>Reported MLS Catch from Japan</a:t>
            </a:r>
          </a:p>
        </p:txBody>
      </p:sp>
      <p:sp>
        <p:nvSpPr>
          <p:cNvPr id="5" name="TextBox 4">
            <a:extLst>
              <a:ext uri="{FF2B5EF4-FFF2-40B4-BE49-F238E27FC236}">
                <a16:creationId xmlns:a16="http://schemas.microsoft.com/office/drawing/2014/main" id="{00C9A2B3-0ED7-4F23-956E-0F7A69D3FA55}"/>
              </a:ext>
            </a:extLst>
          </p:cNvPr>
          <p:cNvSpPr txBox="1"/>
          <p:nvPr/>
        </p:nvSpPr>
        <p:spPr>
          <a:xfrm>
            <a:off x="9290165" y="6550224"/>
            <a:ext cx="2901835" cy="307777"/>
          </a:xfrm>
          <a:prstGeom prst="rect">
            <a:avLst/>
          </a:prstGeom>
          <a:noFill/>
        </p:spPr>
        <p:txBody>
          <a:bodyPr wrap="square">
            <a:spAutoFit/>
          </a:bodyPr>
          <a:lstStyle/>
          <a:p>
            <a:pPr algn="r"/>
            <a:r>
              <a:rPr lang="en-US" sz="1400" dirty="0"/>
              <a:t>Data from ISC Billfish Working Group</a:t>
            </a:r>
          </a:p>
        </p:txBody>
      </p:sp>
      <p:pic>
        <p:nvPicPr>
          <p:cNvPr id="4" name="Picture 3">
            <a:extLst>
              <a:ext uri="{FF2B5EF4-FFF2-40B4-BE49-F238E27FC236}">
                <a16:creationId xmlns:a16="http://schemas.microsoft.com/office/drawing/2014/main" id="{E2A9DDB9-F96C-4D78-8F31-D61A87EE6183}"/>
              </a:ext>
            </a:extLst>
          </p:cNvPr>
          <p:cNvPicPr>
            <a:picLocks noChangeAspect="1"/>
          </p:cNvPicPr>
          <p:nvPr/>
        </p:nvPicPr>
        <p:blipFill>
          <a:blip r:embed="rId2"/>
          <a:stretch>
            <a:fillRect/>
          </a:stretch>
        </p:blipFill>
        <p:spPr>
          <a:xfrm>
            <a:off x="3065525" y="621792"/>
            <a:ext cx="6060948" cy="6236208"/>
          </a:xfrm>
          <a:prstGeom prst="rect">
            <a:avLst/>
          </a:prstGeom>
        </p:spPr>
      </p:pic>
    </p:spTree>
    <p:extLst>
      <p:ext uri="{BB962C8B-B14F-4D97-AF65-F5344CB8AC3E}">
        <p14:creationId xmlns:p14="http://schemas.microsoft.com/office/powerpoint/2010/main" val="268126982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0CB1F8D3-7DD6-4163-B4F1-FF04C2AA969D}"/>
              </a:ext>
            </a:extLst>
          </p:cNvPr>
          <p:cNvSpPr txBox="1">
            <a:spLocks/>
          </p:cNvSpPr>
          <p:nvPr/>
        </p:nvSpPr>
        <p:spPr>
          <a:xfrm>
            <a:off x="838199" y="28795"/>
            <a:ext cx="10515600" cy="517743"/>
          </a:xfrm>
          <a:prstGeom prst="rect">
            <a:avLst/>
          </a:prstGeom>
        </p:spPr>
        <p:txBody>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sz="3200" dirty="0"/>
              <a:t>Reported MLS Catch from Japan</a:t>
            </a:r>
          </a:p>
        </p:txBody>
      </p:sp>
      <p:pic>
        <p:nvPicPr>
          <p:cNvPr id="3" name="Picture 2">
            <a:extLst>
              <a:ext uri="{FF2B5EF4-FFF2-40B4-BE49-F238E27FC236}">
                <a16:creationId xmlns:a16="http://schemas.microsoft.com/office/drawing/2014/main" id="{114C4E13-7F9C-4D9A-AECA-D44E17F833E7}"/>
              </a:ext>
            </a:extLst>
          </p:cNvPr>
          <p:cNvPicPr>
            <a:picLocks noChangeAspect="1"/>
          </p:cNvPicPr>
          <p:nvPr/>
        </p:nvPicPr>
        <p:blipFill>
          <a:blip r:embed="rId2"/>
          <a:stretch>
            <a:fillRect/>
          </a:stretch>
        </p:blipFill>
        <p:spPr>
          <a:xfrm>
            <a:off x="2938231" y="646499"/>
            <a:ext cx="6315538" cy="6211501"/>
          </a:xfrm>
          <a:prstGeom prst="rect">
            <a:avLst/>
          </a:prstGeom>
        </p:spPr>
      </p:pic>
    </p:spTree>
    <p:extLst>
      <p:ext uri="{BB962C8B-B14F-4D97-AF65-F5344CB8AC3E}">
        <p14:creationId xmlns:p14="http://schemas.microsoft.com/office/powerpoint/2010/main" val="110423316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0CB1F8D3-7DD6-4163-B4F1-FF04C2AA969D}"/>
              </a:ext>
            </a:extLst>
          </p:cNvPr>
          <p:cNvSpPr txBox="1">
            <a:spLocks/>
          </p:cNvSpPr>
          <p:nvPr/>
        </p:nvSpPr>
        <p:spPr>
          <a:xfrm>
            <a:off x="838199" y="28795"/>
            <a:ext cx="10515600" cy="517743"/>
          </a:xfrm>
          <a:prstGeom prst="rect">
            <a:avLst/>
          </a:prstGeom>
        </p:spPr>
        <p:txBody>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sz="3200" dirty="0"/>
              <a:t>Reported MLS Catch from the United States</a:t>
            </a:r>
          </a:p>
        </p:txBody>
      </p:sp>
      <p:sp>
        <p:nvSpPr>
          <p:cNvPr id="5" name="TextBox 4">
            <a:extLst>
              <a:ext uri="{FF2B5EF4-FFF2-40B4-BE49-F238E27FC236}">
                <a16:creationId xmlns:a16="http://schemas.microsoft.com/office/drawing/2014/main" id="{00C9A2B3-0ED7-4F23-956E-0F7A69D3FA55}"/>
              </a:ext>
            </a:extLst>
          </p:cNvPr>
          <p:cNvSpPr txBox="1"/>
          <p:nvPr/>
        </p:nvSpPr>
        <p:spPr>
          <a:xfrm>
            <a:off x="9290165" y="6550224"/>
            <a:ext cx="2901835" cy="307777"/>
          </a:xfrm>
          <a:prstGeom prst="rect">
            <a:avLst/>
          </a:prstGeom>
          <a:noFill/>
        </p:spPr>
        <p:txBody>
          <a:bodyPr wrap="square">
            <a:spAutoFit/>
          </a:bodyPr>
          <a:lstStyle/>
          <a:p>
            <a:pPr algn="r"/>
            <a:r>
              <a:rPr lang="en-US" sz="1400" dirty="0"/>
              <a:t>Data from ISC Billfish Working Group</a:t>
            </a:r>
          </a:p>
        </p:txBody>
      </p:sp>
      <p:pic>
        <p:nvPicPr>
          <p:cNvPr id="4" name="Picture 3">
            <a:extLst>
              <a:ext uri="{FF2B5EF4-FFF2-40B4-BE49-F238E27FC236}">
                <a16:creationId xmlns:a16="http://schemas.microsoft.com/office/drawing/2014/main" id="{650F91CB-649B-4697-B34A-AB69CC839C0A}"/>
              </a:ext>
            </a:extLst>
          </p:cNvPr>
          <p:cNvPicPr>
            <a:picLocks noChangeAspect="1"/>
          </p:cNvPicPr>
          <p:nvPr/>
        </p:nvPicPr>
        <p:blipFill>
          <a:blip r:embed="rId2"/>
          <a:stretch>
            <a:fillRect/>
          </a:stretch>
        </p:blipFill>
        <p:spPr>
          <a:xfrm>
            <a:off x="2973459" y="650909"/>
            <a:ext cx="6245079" cy="6178296"/>
          </a:xfrm>
          <a:prstGeom prst="rect">
            <a:avLst/>
          </a:prstGeom>
        </p:spPr>
      </p:pic>
    </p:spTree>
    <p:extLst>
      <p:ext uri="{BB962C8B-B14F-4D97-AF65-F5344CB8AC3E}">
        <p14:creationId xmlns:p14="http://schemas.microsoft.com/office/powerpoint/2010/main" val="313396745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0CB1F8D3-7DD6-4163-B4F1-FF04C2AA969D}"/>
              </a:ext>
            </a:extLst>
          </p:cNvPr>
          <p:cNvSpPr txBox="1">
            <a:spLocks/>
          </p:cNvSpPr>
          <p:nvPr/>
        </p:nvSpPr>
        <p:spPr>
          <a:xfrm>
            <a:off x="838199" y="28795"/>
            <a:ext cx="10515600" cy="517743"/>
          </a:xfrm>
          <a:prstGeom prst="rect">
            <a:avLst/>
          </a:prstGeom>
        </p:spPr>
        <p:txBody>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sz="3200" dirty="0"/>
              <a:t>Reported MLS Catch from the United States</a:t>
            </a:r>
          </a:p>
        </p:txBody>
      </p:sp>
      <p:pic>
        <p:nvPicPr>
          <p:cNvPr id="5" name="Picture 4">
            <a:extLst>
              <a:ext uri="{FF2B5EF4-FFF2-40B4-BE49-F238E27FC236}">
                <a16:creationId xmlns:a16="http://schemas.microsoft.com/office/drawing/2014/main" id="{6F0F6F5B-C7E6-49B2-B86F-771F24ABFC02}"/>
              </a:ext>
            </a:extLst>
          </p:cNvPr>
          <p:cNvPicPr>
            <a:picLocks noChangeAspect="1"/>
          </p:cNvPicPr>
          <p:nvPr/>
        </p:nvPicPr>
        <p:blipFill>
          <a:blip r:embed="rId2"/>
          <a:stretch>
            <a:fillRect/>
          </a:stretch>
        </p:blipFill>
        <p:spPr>
          <a:xfrm>
            <a:off x="2977540" y="617662"/>
            <a:ext cx="6236917" cy="6240338"/>
          </a:xfrm>
          <a:prstGeom prst="rect">
            <a:avLst/>
          </a:prstGeom>
        </p:spPr>
      </p:pic>
    </p:spTree>
    <p:extLst>
      <p:ext uri="{BB962C8B-B14F-4D97-AF65-F5344CB8AC3E}">
        <p14:creationId xmlns:p14="http://schemas.microsoft.com/office/powerpoint/2010/main" val="323270267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0CB1F8D3-7DD6-4163-B4F1-FF04C2AA969D}"/>
              </a:ext>
            </a:extLst>
          </p:cNvPr>
          <p:cNvSpPr txBox="1">
            <a:spLocks/>
          </p:cNvSpPr>
          <p:nvPr/>
        </p:nvSpPr>
        <p:spPr>
          <a:xfrm>
            <a:off x="84083" y="28795"/>
            <a:ext cx="12107917" cy="517743"/>
          </a:xfrm>
          <a:prstGeom prst="rect">
            <a:avLst/>
          </a:prstGeom>
        </p:spPr>
        <p:txBody>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sz="3200" dirty="0"/>
              <a:t>Initial Catches are Lower for the 2025 Projection Scenarios</a:t>
            </a:r>
          </a:p>
        </p:txBody>
      </p:sp>
      <p:pic>
        <p:nvPicPr>
          <p:cNvPr id="4" name="Picture 3">
            <a:extLst>
              <a:ext uri="{FF2B5EF4-FFF2-40B4-BE49-F238E27FC236}">
                <a16:creationId xmlns:a16="http://schemas.microsoft.com/office/drawing/2014/main" id="{939E5DC0-27B6-4F3A-BC2F-510817AB0B64}"/>
              </a:ext>
            </a:extLst>
          </p:cNvPr>
          <p:cNvPicPr>
            <a:picLocks noChangeAspect="1"/>
          </p:cNvPicPr>
          <p:nvPr/>
        </p:nvPicPr>
        <p:blipFill>
          <a:blip r:embed="rId2"/>
          <a:stretch>
            <a:fillRect/>
          </a:stretch>
        </p:blipFill>
        <p:spPr>
          <a:xfrm>
            <a:off x="2922582" y="684276"/>
            <a:ext cx="6346835" cy="6173724"/>
          </a:xfrm>
          <a:prstGeom prst="rect">
            <a:avLst/>
          </a:prstGeom>
        </p:spPr>
      </p:pic>
    </p:spTree>
    <p:extLst>
      <p:ext uri="{BB962C8B-B14F-4D97-AF65-F5344CB8AC3E}">
        <p14:creationId xmlns:p14="http://schemas.microsoft.com/office/powerpoint/2010/main" val="321792711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0CB1F8D3-7DD6-4163-B4F1-FF04C2AA969D}"/>
              </a:ext>
            </a:extLst>
          </p:cNvPr>
          <p:cNvSpPr txBox="1">
            <a:spLocks/>
          </p:cNvSpPr>
          <p:nvPr/>
        </p:nvSpPr>
        <p:spPr>
          <a:xfrm>
            <a:off x="84083" y="28795"/>
            <a:ext cx="12107917" cy="517743"/>
          </a:xfrm>
          <a:prstGeom prst="rect">
            <a:avLst/>
          </a:prstGeom>
        </p:spPr>
        <p:txBody>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sz="3200" dirty="0"/>
              <a:t>Initial Fishing Mortalities are Lower for the 2025 Projection Scenarios</a:t>
            </a:r>
          </a:p>
        </p:txBody>
      </p:sp>
      <p:pic>
        <p:nvPicPr>
          <p:cNvPr id="2" name="Picture 1">
            <a:extLst>
              <a:ext uri="{FF2B5EF4-FFF2-40B4-BE49-F238E27FC236}">
                <a16:creationId xmlns:a16="http://schemas.microsoft.com/office/drawing/2014/main" id="{5AEF83B1-3775-43E1-87A0-2185BA686961}"/>
              </a:ext>
            </a:extLst>
          </p:cNvPr>
          <p:cNvPicPr>
            <a:picLocks noChangeAspect="1"/>
          </p:cNvPicPr>
          <p:nvPr/>
        </p:nvPicPr>
        <p:blipFill>
          <a:blip r:embed="rId2"/>
          <a:stretch>
            <a:fillRect/>
          </a:stretch>
        </p:blipFill>
        <p:spPr>
          <a:xfrm>
            <a:off x="2902129" y="692546"/>
            <a:ext cx="6387741" cy="6165454"/>
          </a:xfrm>
          <a:prstGeom prst="rect">
            <a:avLst/>
          </a:prstGeom>
        </p:spPr>
      </p:pic>
    </p:spTree>
    <p:extLst>
      <p:ext uri="{BB962C8B-B14F-4D97-AF65-F5344CB8AC3E}">
        <p14:creationId xmlns:p14="http://schemas.microsoft.com/office/powerpoint/2010/main" val="136263908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0CB1F8D3-7DD6-4163-B4F1-FF04C2AA969D}"/>
              </a:ext>
            </a:extLst>
          </p:cNvPr>
          <p:cNvSpPr txBox="1">
            <a:spLocks/>
          </p:cNvSpPr>
          <p:nvPr/>
        </p:nvSpPr>
        <p:spPr>
          <a:xfrm>
            <a:off x="560988" y="0"/>
            <a:ext cx="11070022" cy="517743"/>
          </a:xfrm>
          <a:prstGeom prst="rect">
            <a:avLst/>
          </a:prstGeom>
        </p:spPr>
        <p:txBody>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sz="3200" dirty="0"/>
              <a:t>MLS Year Classes in 2018-2020 Were Above Short-Term Average </a:t>
            </a:r>
          </a:p>
        </p:txBody>
      </p:sp>
      <p:pic>
        <p:nvPicPr>
          <p:cNvPr id="2" name="Picture 1">
            <a:extLst>
              <a:ext uri="{FF2B5EF4-FFF2-40B4-BE49-F238E27FC236}">
                <a16:creationId xmlns:a16="http://schemas.microsoft.com/office/drawing/2014/main" id="{DA71D41D-30A5-491D-AD6B-4EBEC3B94C1C}"/>
              </a:ext>
            </a:extLst>
          </p:cNvPr>
          <p:cNvPicPr>
            <a:picLocks noChangeAspect="1"/>
          </p:cNvPicPr>
          <p:nvPr/>
        </p:nvPicPr>
        <p:blipFill>
          <a:blip r:embed="rId2"/>
          <a:stretch>
            <a:fillRect/>
          </a:stretch>
        </p:blipFill>
        <p:spPr>
          <a:xfrm>
            <a:off x="1881351" y="732070"/>
            <a:ext cx="8429296" cy="6125930"/>
          </a:xfrm>
          <a:prstGeom prst="rect">
            <a:avLst/>
          </a:prstGeom>
        </p:spPr>
      </p:pic>
    </p:spTree>
    <p:extLst>
      <p:ext uri="{BB962C8B-B14F-4D97-AF65-F5344CB8AC3E}">
        <p14:creationId xmlns:p14="http://schemas.microsoft.com/office/powerpoint/2010/main" val="298747734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9FF6910-B1B5-4D4E-B81B-1E7048974DA6}"/>
              </a:ext>
            </a:extLst>
          </p:cNvPr>
          <p:cNvPicPr>
            <a:picLocks noChangeAspect="1"/>
          </p:cNvPicPr>
          <p:nvPr/>
        </p:nvPicPr>
        <p:blipFill>
          <a:blip r:embed="rId2"/>
          <a:stretch>
            <a:fillRect/>
          </a:stretch>
        </p:blipFill>
        <p:spPr>
          <a:xfrm>
            <a:off x="1908695" y="869436"/>
            <a:ext cx="8374609" cy="5959769"/>
          </a:xfrm>
          <a:prstGeom prst="rect">
            <a:avLst/>
          </a:prstGeom>
        </p:spPr>
      </p:pic>
      <p:sp>
        <p:nvSpPr>
          <p:cNvPr id="5" name="Title 1">
            <a:extLst>
              <a:ext uri="{FF2B5EF4-FFF2-40B4-BE49-F238E27FC236}">
                <a16:creationId xmlns:a16="http://schemas.microsoft.com/office/drawing/2014/main" id="{05669D09-2F3D-4274-9902-F37BF03B6178}"/>
              </a:ext>
            </a:extLst>
          </p:cNvPr>
          <p:cNvSpPr txBox="1">
            <a:spLocks/>
          </p:cNvSpPr>
          <p:nvPr/>
        </p:nvSpPr>
        <p:spPr>
          <a:xfrm>
            <a:off x="560988" y="0"/>
            <a:ext cx="11070022" cy="517743"/>
          </a:xfrm>
          <a:prstGeom prst="rect">
            <a:avLst/>
          </a:prstGeom>
        </p:spPr>
        <p:txBody>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sz="3200" dirty="0"/>
              <a:t>MLS Catches in 2021-2023 Were the Lowest Observed Since 1977 </a:t>
            </a:r>
          </a:p>
        </p:txBody>
      </p:sp>
    </p:spTree>
    <p:extLst>
      <p:ext uri="{BB962C8B-B14F-4D97-AF65-F5344CB8AC3E}">
        <p14:creationId xmlns:p14="http://schemas.microsoft.com/office/powerpoint/2010/main" val="72567083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0CB1F8D3-7DD6-4163-B4F1-FF04C2AA969D}"/>
              </a:ext>
            </a:extLst>
          </p:cNvPr>
          <p:cNvSpPr txBox="1">
            <a:spLocks/>
          </p:cNvSpPr>
          <p:nvPr/>
        </p:nvSpPr>
        <p:spPr>
          <a:xfrm>
            <a:off x="838199" y="28795"/>
            <a:ext cx="10515600" cy="517743"/>
          </a:xfrm>
          <a:prstGeom prst="rect">
            <a:avLst/>
          </a:prstGeom>
        </p:spPr>
        <p:txBody>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sz="3200" dirty="0"/>
              <a:t>What is the Abundance of the 2020 Year Class ?</a:t>
            </a:r>
          </a:p>
        </p:txBody>
      </p:sp>
      <p:pic>
        <p:nvPicPr>
          <p:cNvPr id="2" name="Picture 1">
            <a:extLst>
              <a:ext uri="{FF2B5EF4-FFF2-40B4-BE49-F238E27FC236}">
                <a16:creationId xmlns:a16="http://schemas.microsoft.com/office/drawing/2014/main" id="{4849D61F-9475-496F-AAEC-4CB3A0DC1D5C}"/>
              </a:ext>
            </a:extLst>
          </p:cNvPr>
          <p:cNvPicPr>
            <a:picLocks noChangeAspect="1"/>
          </p:cNvPicPr>
          <p:nvPr/>
        </p:nvPicPr>
        <p:blipFill>
          <a:blip r:embed="rId2"/>
          <a:stretch>
            <a:fillRect/>
          </a:stretch>
        </p:blipFill>
        <p:spPr>
          <a:xfrm>
            <a:off x="2617077" y="764305"/>
            <a:ext cx="7032730" cy="5943377"/>
          </a:xfrm>
          <a:prstGeom prst="rect">
            <a:avLst/>
          </a:prstGeom>
        </p:spPr>
      </p:pic>
    </p:spTree>
    <p:extLst>
      <p:ext uri="{BB962C8B-B14F-4D97-AF65-F5344CB8AC3E}">
        <p14:creationId xmlns:p14="http://schemas.microsoft.com/office/powerpoint/2010/main" val="803140889"/>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41F34FD8-F1E2-487E-8C89-4730F25731AE}"/>
              </a:ext>
            </a:extLst>
          </p:cNvPr>
          <p:cNvPicPr>
            <a:picLocks noChangeAspect="1"/>
          </p:cNvPicPr>
          <p:nvPr/>
        </p:nvPicPr>
        <p:blipFill>
          <a:blip r:embed="rId2"/>
          <a:stretch>
            <a:fillRect/>
          </a:stretch>
        </p:blipFill>
        <p:spPr>
          <a:xfrm>
            <a:off x="3358896" y="1110996"/>
            <a:ext cx="5474208" cy="4636008"/>
          </a:xfrm>
          <a:prstGeom prst="rect">
            <a:avLst/>
          </a:prstGeom>
        </p:spPr>
      </p:pic>
      <p:sp>
        <p:nvSpPr>
          <p:cNvPr id="5" name="Title 1">
            <a:extLst>
              <a:ext uri="{FF2B5EF4-FFF2-40B4-BE49-F238E27FC236}">
                <a16:creationId xmlns:a16="http://schemas.microsoft.com/office/drawing/2014/main" id="{1BDD3E14-CF22-4236-8246-47A1B960A8D4}"/>
              </a:ext>
            </a:extLst>
          </p:cNvPr>
          <p:cNvSpPr txBox="1">
            <a:spLocks/>
          </p:cNvSpPr>
          <p:nvPr/>
        </p:nvSpPr>
        <p:spPr>
          <a:xfrm>
            <a:off x="838199" y="28795"/>
            <a:ext cx="10515600" cy="517743"/>
          </a:xfrm>
          <a:prstGeom prst="rect">
            <a:avLst/>
          </a:prstGeom>
        </p:spPr>
        <p:txBody>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sz="3200" dirty="0"/>
              <a:t>What is the Abundance of the 2020 Year Class ?</a:t>
            </a:r>
          </a:p>
        </p:txBody>
      </p:sp>
    </p:spTree>
    <p:extLst>
      <p:ext uri="{BB962C8B-B14F-4D97-AF65-F5344CB8AC3E}">
        <p14:creationId xmlns:p14="http://schemas.microsoft.com/office/powerpoint/2010/main" val="1234524214"/>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1">
            <a:extLst>
              <a:ext uri="{FF2B5EF4-FFF2-40B4-BE49-F238E27FC236}">
                <a16:creationId xmlns:a16="http://schemas.microsoft.com/office/drawing/2014/main" id="{1BDD3E14-CF22-4236-8246-47A1B960A8D4}"/>
              </a:ext>
            </a:extLst>
          </p:cNvPr>
          <p:cNvSpPr txBox="1">
            <a:spLocks/>
          </p:cNvSpPr>
          <p:nvPr/>
        </p:nvSpPr>
        <p:spPr>
          <a:xfrm>
            <a:off x="0" y="28795"/>
            <a:ext cx="12192000" cy="517743"/>
          </a:xfrm>
          <a:prstGeom prst="rect">
            <a:avLst/>
          </a:prstGeom>
        </p:spPr>
        <p:txBody>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sz="3200" dirty="0"/>
              <a:t>Apportion Projected Taiwanese Catch in 2025-2027 to Fleet Groups</a:t>
            </a:r>
          </a:p>
        </p:txBody>
      </p:sp>
      <p:pic>
        <p:nvPicPr>
          <p:cNvPr id="7" name="Picture 6">
            <a:extLst>
              <a:ext uri="{FF2B5EF4-FFF2-40B4-BE49-F238E27FC236}">
                <a16:creationId xmlns:a16="http://schemas.microsoft.com/office/drawing/2014/main" id="{027D59E2-669C-4329-8149-87239D72201D}"/>
              </a:ext>
            </a:extLst>
          </p:cNvPr>
          <p:cNvPicPr>
            <a:picLocks noChangeAspect="1"/>
          </p:cNvPicPr>
          <p:nvPr/>
        </p:nvPicPr>
        <p:blipFill>
          <a:blip r:embed="rId2"/>
          <a:stretch>
            <a:fillRect/>
          </a:stretch>
        </p:blipFill>
        <p:spPr>
          <a:xfrm>
            <a:off x="3376422" y="964853"/>
            <a:ext cx="5439156" cy="5864352"/>
          </a:xfrm>
          <a:prstGeom prst="rect">
            <a:avLst/>
          </a:prstGeom>
        </p:spPr>
      </p:pic>
    </p:spTree>
    <p:extLst>
      <p:ext uri="{BB962C8B-B14F-4D97-AF65-F5344CB8AC3E}">
        <p14:creationId xmlns:p14="http://schemas.microsoft.com/office/powerpoint/2010/main" val="3824768005"/>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1">
            <a:extLst>
              <a:ext uri="{FF2B5EF4-FFF2-40B4-BE49-F238E27FC236}">
                <a16:creationId xmlns:a16="http://schemas.microsoft.com/office/drawing/2014/main" id="{1BDD3E14-CF22-4236-8246-47A1B960A8D4}"/>
              </a:ext>
            </a:extLst>
          </p:cNvPr>
          <p:cNvSpPr txBox="1">
            <a:spLocks/>
          </p:cNvSpPr>
          <p:nvPr/>
        </p:nvSpPr>
        <p:spPr>
          <a:xfrm>
            <a:off x="0" y="28795"/>
            <a:ext cx="12192000" cy="517743"/>
          </a:xfrm>
          <a:prstGeom prst="rect">
            <a:avLst/>
          </a:prstGeom>
        </p:spPr>
        <p:txBody>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sz="3200" dirty="0"/>
              <a:t>Apportion Projected Japanese Catch in 2025-2027 to Fleet Groups</a:t>
            </a:r>
          </a:p>
        </p:txBody>
      </p:sp>
      <p:pic>
        <p:nvPicPr>
          <p:cNvPr id="3" name="Picture 2">
            <a:extLst>
              <a:ext uri="{FF2B5EF4-FFF2-40B4-BE49-F238E27FC236}">
                <a16:creationId xmlns:a16="http://schemas.microsoft.com/office/drawing/2014/main" id="{457EF2D6-7C14-4428-BE50-58ED3C5230D5}"/>
              </a:ext>
            </a:extLst>
          </p:cNvPr>
          <p:cNvPicPr>
            <a:picLocks noChangeAspect="1"/>
          </p:cNvPicPr>
          <p:nvPr/>
        </p:nvPicPr>
        <p:blipFill>
          <a:blip r:embed="rId2"/>
          <a:stretch>
            <a:fillRect/>
          </a:stretch>
        </p:blipFill>
        <p:spPr>
          <a:xfrm>
            <a:off x="3134868" y="682752"/>
            <a:ext cx="5922264" cy="6175248"/>
          </a:xfrm>
          <a:prstGeom prst="rect">
            <a:avLst/>
          </a:prstGeom>
        </p:spPr>
      </p:pic>
    </p:spTree>
    <p:extLst>
      <p:ext uri="{BB962C8B-B14F-4D97-AF65-F5344CB8AC3E}">
        <p14:creationId xmlns:p14="http://schemas.microsoft.com/office/powerpoint/2010/main" val="421150023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9DA9BD18-74E2-466B-B059-FCF5305EFC4F}"/>
              </a:ext>
            </a:extLst>
          </p:cNvPr>
          <p:cNvPicPr>
            <a:picLocks noChangeAspect="1"/>
          </p:cNvPicPr>
          <p:nvPr/>
        </p:nvPicPr>
        <p:blipFill>
          <a:blip r:embed="rId2"/>
          <a:stretch>
            <a:fillRect/>
          </a:stretch>
        </p:blipFill>
        <p:spPr>
          <a:xfrm>
            <a:off x="6999890" y="1405257"/>
            <a:ext cx="5192109" cy="4569873"/>
          </a:xfrm>
          <a:prstGeom prst="rect">
            <a:avLst/>
          </a:prstGeom>
        </p:spPr>
      </p:pic>
      <p:pic>
        <p:nvPicPr>
          <p:cNvPr id="7" name="Picture 6">
            <a:extLst>
              <a:ext uri="{FF2B5EF4-FFF2-40B4-BE49-F238E27FC236}">
                <a16:creationId xmlns:a16="http://schemas.microsoft.com/office/drawing/2014/main" id="{FA211A78-C4F3-433E-AB20-00BEB1D279C1}"/>
              </a:ext>
            </a:extLst>
          </p:cNvPr>
          <p:cNvPicPr>
            <a:picLocks noChangeAspect="1"/>
          </p:cNvPicPr>
          <p:nvPr/>
        </p:nvPicPr>
        <p:blipFill>
          <a:blip r:embed="rId3"/>
          <a:stretch>
            <a:fillRect/>
          </a:stretch>
        </p:blipFill>
        <p:spPr>
          <a:xfrm>
            <a:off x="0" y="714704"/>
            <a:ext cx="6999890" cy="3974904"/>
          </a:xfrm>
          <a:prstGeom prst="rect">
            <a:avLst/>
          </a:prstGeom>
        </p:spPr>
      </p:pic>
    </p:spTree>
    <p:extLst>
      <p:ext uri="{BB962C8B-B14F-4D97-AF65-F5344CB8AC3E}">
        <p14:creationId xmlns:p14="http://schemas.microsoft.com/office/powerpoint/2010/main" val="192982382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8D6B2DB9-54ED-462C-A1B1-2BD7E37489D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438392" y="685794"/>
            <a:ext cx="7315215" cy="5486411"/>
          </a:xfrm>
          <a:prstGeom prst="rect">
            <a:avLst/>
          </a:prstGeom>
        </p:spPr>
      </p:pic>
    </p:spTree>
    <p:extLst>
      <p:ext uri="{BB962C8B-B14F-4D97-AF65-F5344CB8AC3E}">
        <p14:creationId xmlns:p14="http://schemas.microsoft.com/office/powerpoint/2010/main" val="2633043179"/>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6C33B37E-7AA2-4F63-892D-46C1E765F2B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438392" y="685794"/>
            <a:ext cx="7315215" cy="5486411"/>
          </a:xfrm>
          <a:prstGeom prst="rect">
            <a:avLst/>
          </a:prstGeom>
        </p:spPr>
      </p:pic>
    </p:spTree>
    <p:extLst>
      <p:ext uri="{BB962C8B-B14F-4D97-AF65-F5344CB8AC3E}">
        <p14:creationId xmlns:p14="http://schemas.microsoft.com/office/powerpoint/2010/main" val="3123275491"/>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0EAF6C84-C43D-4F27-BB95-DB863F83DA0B}"/>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438392" y="685794"/>
            <a:ext cx="7315215" cy="5486411"/>
          </a:xfrm>
          <a:prstGeom prst="rect">
            <a:avLst/>
          </a:prstGeom>
        </p:spPr>
      </p:pic>
    </p:spTree>
    <p:extLst>
      <p:ext uri="{BB962C8B-B14F-4D97-AF65-F5344CB8AC3E}">
        <p14:creationId xmlns:p14="http://schemas.microsoft.com/office/powerpoint/2010/main" val="893625728"/>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755F1C88-2CFC-4CFF-9AE9-A74C9A4E9EB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438392" y="685794"/>
            <a:ext cx="7315215" cy="5486411"/>
          </a:xfrm>
          <a:prstGeom prst="rect">
            <a:avLst/>
          </a:prstGeom>
        </p:spPr>
      </p:pic>
    </p:spTree>
    <p:extLst>
      <p:ext uri="{BB962C8B-B14F-4D97-AF65-F5344CB8AC3E}">
        <p14:creationId xmlns:p14="http://schemas.microsoft.com/office/powerpoint/2010/main" val="24859259"/>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65FBE467-6AB0-4D7E-AF0F-E46E4F3C301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438392" y="685794"/>
            <a:ext cx="7315215" cy="5486411"/>
          </a:xfrm>
          <a:prstGeom prst="rect">
            <a:avLst/>
          </a:prstGeom>
        </p:spPr>
      </p:pic>
      <p:pic>
        <p:nvPicPr>
          <p:cNvPr id="5" name="Picture 4">
            <a:extLst>
              <a:ext uri="{FF2B5EF4-FFF2-40B4-BE49-F238E27FC236}">
                <a16:creationId xmlns:a16="http://schemas.microsoft.com/office/drawing/2014/main" id="{7D72D1C0-92E5-48F7-A54B-6E1E9E11E05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438392" y="685794"/>
            <a:ext cx="7315215" cy="5486411"/>
          </a:xfrm>
          <a:prstGeom prst="rect">
            <a:avLst/>
          </a:prstGeom>
        </p:spPr>
      </p:pic>
    </p:spTree>
    <p:extLst>
      <p:ext uri="{BB962C8B-B14F-4D97-AF65-F5344CB8AC3E}">
        <p14:creationId xmlns:p14="http://schemas.microsoft.com/office/powerpoint/2010/main" val="145854298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BB35E1EA-8C2F-4FCF-8597-6CF2F5CCA7F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438392" y="685794"/>
            <a:ext cx="7315215" cy="5486411"/>
          </a:xfrm>
          <a:prstGeom prst="rect">
            <a:avLst/>
          </a:prstGeom>
        </p:spPr>
      </p:pic>
    </p:spTree>
    <p:extLst>
      <p:ext uri="{BB962C8B-B14F-4D97-AF65-F5344CB8AC3E}">
        <p14:creationId xmlns:p14="http://schemas.microsoft.com/office/powerpoint/2010/main" val="3585162620"/>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55B61416-53D2-4435-81BF-414A383D7A0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438392" y="685794"/>
            <a:ext cx="7315215" cy="5486411"/>
          </a:xfrm>
          <a:prstGeom prst="rect">
            <a:avLst/>
          </a:prstGeom>
        </p:spPr>
      </p:pic>
    </p:spTree>
    <p:extLst>
      <p:ext uri="{BB962C8B-B14F-4D97-AF65-F5344CB8AC3E}">
        <p14:creationId xmlns:p14="http://schemas.microsoft.com/office/powerpoint/2010/main" val="3161407642"/>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3D313C70-E9D8-4380-9DDC-9A0510FABF2F}"/>
              </a:ext>
            </a:extLst>
          </p:cNvPr>
          <p:cNvPicPr>
            <a:picLocks noChangeAspect="1"/>
          </p:cNvPicPr>
          <p:nvPr/>
        </p:nvPicPr>
        <p:blipFill>
          <a:blip r:embed="rId2"/>
          <a:stretch>
            <a:fillRect/>
          </a:stretch>
        </p:blipFill>
        <p:spPr>
          <a:xfrm>
            <a:off x="12634" y="672662"/>
            <a:ext cx="7033152" cy="4014951"/>
          </a:xfrm>
          <a:prstGeom prst="rect">
            <a:avLst/>
          </a:prstGeom>
        </p:spPr>
      </p:pic>
      <p:pic>
        <p:nvPicPr>
          <p:cNvPr id="3" name="Picture 2">
            <a:extLst>
              <a:ext uri="{FF2B5EF4-FFF2-40B4-BE49-F238E27FC236}">
                <a16:creationId xmlns:a16="http://schemas.microsoft.com/office/drawing/2014/main" id="{AB63EFB0-8B1E-4379-BECF-02D51699BBC6}"/>
              </a:ext>
            </a:extLst>
          </p:cNvPr>
          <p:cNvPicPr>
            <a:picLocks noChangeAspect="1"/>
          </p:cNvPicPr>
          <p:nvPr/>
        </p:nvPicPr>
        <p:blipFill>
          <a:blip r:embed="rId3"/>
          <a:stretch>
            <a:fillRect/>
          </a:stretch>
        </p:blipFill>
        <p:spPr>
          <a:xfrm>
            <a:off x="7033152" y="1398356"/>
            <a:ext cx="5146214" cy="4529477"/>
          </a:xfrm>
          <a:prstGeom prst="rect">
            <a:avLst/>
          </a:prstGeom>
        </p:spPr>
      </p:pic>
    </p:spTree>
    <p:extLst>
      <p:ext uri="{BB962C8B-B14F-4D97-AF65-F5344CB8AC3E}">
        <p14:creationId xmlns:p14="http://schemas.microsoft.com/office/powerpoint/2010/main" val="40729249"/>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735E24EF-27B8-4188-81E7-E6B8221A19E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438392" y="685794"/>
            <a:ext cx="7315215" cy="5486411"/>
          </a:xfrm>
          <a:prstGeom prst="rect">
            <a:avLst/>
          </a:prstGeom>
        </p:spPr>
      </p:pic>
    </p:spTree>
    <p:extLst>
      <p:ext uri="{BB962C8B-B14F-4D97-AF65-F5344CB8AC3E}">
        <p14:creationId xmlns:p14="http://schemas.microsoft.com/office/powerpoint/2010/main" val="4191796787"/>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065E1F26-34AF-44D5-91DA-85F5C1B30E2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438392" y="685794"/>
            <a:ext cx="7315215" cy="5486411"/>
          </a:xfrm>
          <a:prstGeom prst="rect">
            <a:avLst/>
          </a:prstGeom>
        </p:spPr>
      </p:pic>
    </p:spTree>
    <p:extLst>
      <p:ext uri="{BB962C8B-B14F-4D97-AF65-F5344CB8AC3E}">
        <p14:creationId xmlns:p14="http://schemas.microsoft.com/office/powerpoint/2010/main" val="1731947228"/>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5" name="Picture 14">
            <a:extLst>
              <a:ext uri="{FF2B5EF4-FFF2-40B4-BE49-F238E27FC236}">
                <a16:creationId xmlns:a16="http://schemas.microsoft.com/office/drawing/2014/main" id="{FDDF58E6-EE7C-42BC-AE1A-52657CAF9A3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438392" y="685794"/>
            <a:ext cx="7315215" cy="5486411"/>
          </a:xfrm>
          <a:prstGeom prst="rect">
            <a:avLst/>
          </a:prstGeom>
        </p:spPr>
      </p:pic>
    </p:spTree>
    <p:extLst>
      <p:ext uri="{BB962C8B-B14F-4D97-AF65-F5344CB8AC3E}">
        <p14:creationId xmlns:p14="http://schemas.microsoft.com/office/powerpoint/2010/main" val="1223912951"/>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5B5EAE8A-BA13-473D-9DF5-51A8837E0DBB}"/>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438392" y="685794"/>
            <a:ext cx="7315215" cy="5486411"/>
          </a:xfrm>
          <a:prstGeom prst="rect">
            <a:avLst/>
          </a:prstGeom>
        </p:spPr>
      </p:pic>
    </p:spTree>
    <p:extLst>
      <p:ext uri="{BB962C8B-B14F-4D97-AF65-F5344CB8AC3E}">
        <p14:creationId xmlns:p14="http://schemas.microsoft.com/office/powerpoint/2010/main" val="2849604814"/>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6953F1BE-A9AF-4DDC-ABA9-161E46419B4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438392" y="685794"/>
            <a:ext cx="7315215" cy="5486411"/>
          </a:xfrm>
          <a:prstGeom prst="rect">
            <a:avLst/>
          </a:prstGeom>
        </p:spPr>
      </p:pic>
    </p:spTree>
    <p:extLst>
      <p:ext uri="{BB962C8B-B14F-4D97-AF65-F5344CB8AC3E}">
        <p14:creationId xmlns:p14="http://schemas.microsoft.com/office/powerpoint/2010/main" val="1337347460"/>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514A2D3D-AA9B-478F-BF0A-1DB4807037F7}"/>
              </a:ext>
            </a:extLst>
          </p:cNvPr>
          <p:cNvPicPr>
            <a:picLocks noChangeAspect="1"/>
          </p:cNvPicPr>
          <p:nvPr/>
        </p:nvPicPr>
        <p:blipFill>
          <a:blip r:embed="rId2"/>
          <a:stretch>
            <a:fillRect/>
          </a:stretch>
        </p:blipFill>
        <p:spPr>
          <a:xfrm>
            <a:off x="12634" y="679512"/>
            <a:ext cx="7020917" cy="4018612"/>
          </a:xfrm>
          <a:prstGeom prst="rect">
            <a:avLst/>
          </a:prstGeom>
        </p:spPr>
      </p:pic>
      <p:pic>
        <p:nvPicPr>
          <p:cNvPr id="5" name="Picture 4">
            <a:extLst>
              <a:ext uri="{FF2B5EF4-FFF2-40B4-BE49-F238E27FC236}">
                <a16:creationId xmlns:a16="http://schemas.microsoft.com/office/drawing/2014/main" id="{D6ADEE82-6307-429E-B0DF-E48920E40773}"/>
              </a:ext>
            </a:extLst>
          </p:cNvPr>
          <p:cNvPicPr>
            <a:picLocks noChangeAspect="1"/>
          </p:cNvPicPr>
          <p:nvPr/>
        </p:nvPicPr>
        <p:blipFill>
          <a:blip r:embed="rId3"/>
          <a:stretch>
            <a:fillRect/>
          </a:stretch>
        </p:blipFill>
        <p:spPr>
          <a:xfrm>
            <a:off x="7033551" y="1406555"/>
            <a:ext cx="5160781" cy="4542299"/>
          </a:xfrm>
          <a:prstGeom prst="rect">
            <a:avLst/>
          </a:prstGeom>
        </p:spPr>
      </p:pic>
    </p:spTree>
    <p:extLst>
      <p:ext uri="{BB962C8B-B14F-4D97-AF65-F5344CB8AC3E}">
        <p14:creationId xmlns:p14="http://schemas.microsoft.com/office/powerpoint/2010/main" val="331025844"/>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B2484C8B-A0DC-4C16-B17A-A3F43E03DF5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438392" y="685794"/>
            <a:ext cx="7315215" cy="5486411"/>
          </a:xfrm>
          <a:prstGeom prst="rect">
            <a:avLst/>
          </a:prstGeom>
        </p:spPr>
      </p:pic>
    </p:spTree>
    <p:extLst>
      <p:ext uri="{BB962C8B-B14F-4D97-AF65-F5344CB8AC3E}">
        <p14:creationId xmlns:p14="http://schemas.microsoft.com/office/powerpoint/2010/main" val="594476056"/>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E9DA1954-73AB-4E02-B1E8-DB8932361C0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438392" y="685794"/>
            <a:ext cx="7315215" cy="5486411"/>
          </a:xfrm>
          <a:prstGeom prst="rect">
            <a:avLst/>
          </a:prstGeom>
        </p:spPr>
      </p:pic>
    </p:spTree>
    <p:extLst>
      <p:ext uri="{BB962C8B-B14F-4D97-AF65-F5344CB8AC3E}">
        <p14:creationId xmlns:p14="http://schemas.microsoft.com/office/powerpoint/2010/main" val="2201120605"/>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F664529E-5EC9-4C06-8DA7-B6E3DAA7DCA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438392" y="685794"/>
            <a:ext cx="7315215" cy="5486411"/>
          </a:xfrm>
          <a:prstGeom prst="rect">
            <a:avLst/>
          </a:prstGeom>
        </p:spPr>
      </p:pic>
    </p:spTree>
    <p:extLst>
      <p:ext uri="{BB962C8B-B14F-4D97-AF65-F5344CB8AC3E}">
        <p14:creationId xmlns:p14="http://schemas.microsoft.com/office/powerpoint/2010/main" val="1762344602"/>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987327EF-95B5-4D63-A7E4-A5C2894B388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438392" y="685794"/>
            <a:ext cx="7315215" cy="5486411"/>
          </a:xfrm>
          <a:prstGeom prst="rect">
            <a:avLst/>
          </a:prstGeom>
        </p:spPr>
      </p:pic>
    </p:spTree>
    <p:extLst>
      <p:ext uri="{BB962C8B-B14F-4D97-AF65-F5344CB8AC3E}">
        <p14:creationId xmlns:p14="http://schemas.microsoft.com/office/powerpoint/2010/main" val="3931093234"/>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1FA62858-0229-49E5-AB6C-DBEAE1EFA99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438392" y="685794"/>
            <a:ext cx="7315215" cy="5486411"/>
          </a:xfrm>
          <a:prstGeom prst="rect">
            <a:avLst/>
          </a:prstGeom>
        </p:spPr>
      </p:pic>
    </p:spTree>
    <p:extLst>
      <p:ext uri="{BB962C8B-B14F-4D97-AF65-F5344CB8AC3E}">
        <p14:creationId xmlns:p14="http://schemas.microsoft.com/office/powerpoint/2010/main" val="525137623"/>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39FDF0F8-D838-4750-BA3E-ABF7D0A602F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438392" y="685794"/>
            <a:ext cx="7315215" cy="5486411"/>
          </a:xfrm>
          <a:prstGeom prst="rect">
            <a:avLst/>
          </a:prstGeom>
        </p:spPr>
      </p:pic>
    </p:spTree>
    <p:extLst>
      <p:ext uri="{BB962C8B-B14F-4D97-AF65-F5344CB8AC3E}">
        <p14:creationId xmlns:p14="http://schemas.microsoft.com/office/powerpoint/2010/main" val="3148290867"/>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1673174526"/>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1DEAF34-7519-442F-8E23-1715A0C165F8}"/>
              </a:ext>
            </a:extLst>
          </p:cNvPr>
          <p:cNvSpPr>
            <a:spLocks noGrp="1"/>
          </p:cNvSpPr>
          <p:nvPr>
            <p:ph type="title"/>
          </p:nvPr>
        </p:nvSpPr>
        <p:spPr>
          <a:xfrm>
            <a:off x="630620" y="1"/>
            <a:ext cx="10909739" cy="714702"/>
          </a:xfrm>
        </p:spPr>
        <p:txBody>
          <a:bodyPr>
            <a:normAutofit fontScale="90000"/>
          </a:bodyPr>
          <a:lstStyle/>
          <a:p>
            <a:pPr algn="ctr"/>
            <a:r>
              <a:rPr lang="en-US" sz="3600" dirty="0"/>
              <a:t>Fleet Groups with Identical Fishery Selectivity for Striped Marlin</a:t>
            </a:r>
          </a:p>
        </p:txBody>
      </p:sp>
      <p:pic>
        <p:nvPicPr>
          <p:cNvPr id="4" name="Picture 3">
            <a:extLst>
              <a:ext uri="{FF2B5EF4-FFF2-40B4-BE49-F238E27FC236}">
                <a16:creationId xmlns:a16="http://schemas.microsoft.com/office/drawing/2014/main" id="{2272FD61-77D9-4A4B-8691-D3A889E04F6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933473" y="712592"/>
            <a:ext cx="6325054" cy="6145407"/>
          </a:xfrm>
          <a:prstGeom prst="rect">
            <a:avLst/>
          </a:prstGeom>
        </p:spPr>
      </p:pic>
    </p:spTree>
    <p:extLst>
      <p:ext uri="{BB962C8B-B14F-4D97-AF65-F5344CB8AC3E}">
        <p14:creationId xmlns:p14="http://schemas.microsoft.com/office/powerpoint/2010/main" val="3638555175"/>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1DEAF34-7519-442F-8E23-1715A0C165F8}"/>
              </a:ext>
            </a:extLst>
          </p:cNvPr>
          <p:cNvSpPr>
            <a:spLocks noGrp="1"/>
          </p:cNvSpPr>
          <p:nvPr>
            <p:ph type="title"/>
          </p:nvPr>
        </p:nvSpPr>
        <p:spPr>
          <a:xfrm>
            <a:off x="630620" y="1"/>
            <a:ext cx="10909739" cy="714702"/>
          </a:xfrm>
        </p:spPr>
        <p:txBody>
          <a:bodyPr>
            <a:normAutofit fontScale="90000"/>
          </a:bodyPr>
          <a:lstStyle/>
          <a:p>
            <a:pPr algn="ctr"/>
            <a:r>
              <a:rPr lang="en-US" sz="3600" dirty="0"/>
              <a:t>Fleet Groups with Identical Fishery Selectivity for Striped Marlin</a:t>
            </a:r>
          </a:p>
        </p:txBody>
      </p:sp>
      <p:pic>
        <p:nvPicPr>
          <p:cNvPr id="5" name="Picture 4">
            <a:extLst>
              <a:ext uri="{FF2B5EF4-FFF2-40B4-BE49-F238E27FC236}">
                <a16:creationId xmlns:a16="http://schemas.microsoft.com/office/drawing/2014/main" id="{964F877C-5450-4B03-A382-DCF90E17D38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842750" y="714703"/>
            <a:ext cx="6758748" cy="6143296"/>
          </a:xfrm>
          <a:prstGeom prst="rect">
            <a:avLst/>
          </a:prstGeom>
        </p:spPr>
      </p:pic>
    </p:spTree>
    <p:extLst>
      <p:ext uri="{BB962C8B-B14F-4D97-AF65-F5344CB8AC3E}">
        <p14:creationId xmlns:p14="http://schemas.microsoft.com/office/powerpoint/2010/main" val="1281724836"/>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1DEAF34-7519-442F-8E23-1715A0C165F8}"/>
              </a:ext>
            </a:extLst>
          </p:cNvPr>
          <p:cNvSpPr>
            <a:spLocks noGrp="1"/>
          </p:cNvSpPr>
          <p:nvPr>
            <p:ph type="title"/>
          </p:nvPr>
        </p:nvSpPr>
        <p:spPr>
          <a:xfrm>
            <a:off x="630620" y="1"/>
            <a:ext cx="10909739" cy="714702"/>
          </a:xfrm>
        </p:spPr>
        <p:txBody>
          <a:bodyPr>
            <a:normAutofit fontScale="90000"/>
          </a:bodyPr>
          <a:lstStyle/>
          <a:p>
            <a:pPr algn="ctr"/>
            <a:r>
              <a:rPr lang="en-US" sz="3600" dirty="0"/>
              <a:t>Fleet Groups with Identical Fishery Selectivity for Striped Marlin</a:t>
            </a:r>
          </a:p>
        </p:txBody>
      </p:sp>
      <p:pic>
        <p:nvPicPr>
          <p:cNvPr id="5" name="Picture 4">
            <a:extLst>
              <a:ext uri="{FF2B5EF4-FFF2-40B4-BE49-F238E27FC236}">
                <a16:creationId xmlns:a16="http://schemas.microsoft.com/office/drawing/2014/main" id="{CB327DC8-7700-40E5-A1F5-36A722B7513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104806" y="714705"/>
            <a:ext cx="8521153" cy="6143295"/>
          </a:xfrm>
          <a:prstGeom prst="rect">
            <a:avLst/>
          </a:prstGeom>
        </p:spPr>
      </p:pic>
    </p:spTree>
    <p:extLst>
      <p:ext uri="{BB962C8B-B14F-4D97-AF65-F5344CB8AC3E}">
        <p14:creationId xmlns:p14="http://schemas.microsoft.com/office/powerpoint/2010/main" val="1166851138"/>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1DEAF34-7519-442F-8E23-1715A0C165F8}"/>
              </a:ext>
            </a:extLst>
          </p:cNvPr>
          <p:cNvSpPr>
            <a:spLocks noGrp="1"/>
          </p:cNvSpPr>
          <p:nvPr>
            <p:ph type="title"/>
          </p:nvPr>
        </p:nvSpPr>
        <p:spPr>
          <a:xfrm>
            <a:off x="630620" y="1"/>
            <a:ext cx="10909739" cy="714702"/>
          </a:xfrm>
        </p:spPr>
        <p:txBody>
          <a:bodyPr>
            <a:normAutofit fontScale="90000"/>
          </a:bodyPr>
          <a:lstStyle/>
          <a:p>
            <a:pPr algn="ctr"/>
            <a:r>
              <a:rPr lang="en-US" sz="3600" dirty="0"/>
              <a:t>Fleet Groups with Identical Fishery Selectivity for Striped Marlin</a:t>
            </a:r>
          </a:p>
        </p:txBody>
      </p:sp>
      <p:pic>
        <p:nvPicPr>
          <p:cNvPr id="4" name="Picture 3">
            <a:extLst>
              <a:ext uri="{FF2B5EF4-FFF2-40B4-BE49-F238E27FC236}">
                <a16:creationId xmlns:a16="http://schemas.microsoft.com/office/drawing/2014/main" id="{2001740E-17D6-4970-8F96-554ECCB121A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143865" y="714703"/>
            <a:ext cx="6303664" cy="6279189"/>
          </a:xfrm>
          <a:prstGeom prst="rect">
            <a:avLst/>
          </a:prstGeom>
        </p:spPr>
      </p:pic>
    </p:spTree>
    <p:extLst>
      <p:ext uri="{BB962C8B-B14F-4D97-AF65-F5344CB8AC3E}">
        <p14:creationId xmlns:p14="http://schemas.microsoft.com/office/powerpoint/2010/main" val="3078111614"/>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1DEAF34-7519-442F-8E23-1715A0C165F8}"/>
              </a:ext>
            </a:extLst>
          </p:cNvPr>
          <p:cNvSpPr>
            <a:spLocks noGrp="1"/>
          </p:cNvSpPr>
          <p:nvPr>
            <p:ph type="title"/>
          </p:nvPr>
        </p:nvSpPr>
        <p:spPr>
          <a:xfrm>
            <a:off x="630620" y="1"/>
            <a:ext cx="10909739" cy="714702"/>
          </a:xfrm>
        </p:spPr>
        <p:txBody>
          <a:bodyPr>
            <a:normAutofit fontScale="90000"/>
          </a:bodyPr>
          <a:lstStyle/>
          <a:p>
            <a:pPr algn="ctr"/>
            <a:r>
              <a:rPr lang="en-US" sz="3600" dirty="0"/>
              <a:t>Fleet Groups with Identical Fishery Selectivity for Striped Marlin</a:t>
            </a:r>
          </a:p>
        </p:txBody>
      </p:sp>
      <p:pic>
        <p:nvPicPr>
          <p:cNvPr id="4" name="Picture 3">
            <a:extLst>
              <a:ext uri="{FF2B5EF4-FFF2-40B4-BE49-F238E27FC236}">
                <a16:creationId xmlns:a16="http://schemas.microsoft.com/office/drawing/2014/main" id="{DFE642F4-A00F-488B-858F-C68E585A083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314693" y="851630"/>
            <a:ext cx="5100159" cy="6006369"/>
          </a:xfrm>
          <a:prstGeom prst="rect">
            <a:avLst/>
          </a:prstGeom>
        </p:spPr>
      </p:pic>
    </p:spTree>
    <p:extLst>
      <p:ext uri="{BB962C8B-B14F-4D97-AF65-F5344CB8AC3E}">
        <p14:creationId xmlns:p14="http://schemas.microsoft.com/office/powerpoint/2010/main" val="1825621374"/>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1DEAF34-7519-442F-8E23-1715A0C165F8}"/>
              </a:ext>
            </a:extLst>
          </p:cNvPr>
          <p:cNvSpPr>
            <a:spLocks noGrp="1"/>
          </p:cNvSpPr>
          <p:nvPr>
            <p:ph type="title"/>
          </p:nvPr>
        </p:nvSpPr>
        <p:spPr>
          <a:xfrm>
            <a:off x="630620" y="1"/>
            <a:ext cx="10909739" cy="714702"/>
          </a:xfrm>
        </p:spPr>
        <p:txBody>
          <a:bodyPr>
            <a:normAutofit fontScale="90000"/>
          </a:bodyPr>
          <a:lstStyle/>
          <a:p>
            <a:pPr algn="ctr"/>
            <a:r>
              <a:rPr lang="en-US" sz="3600" dirty="0"/>
              <a:t>Fleet Groups with Identical Fishery Selectivity for Striped Marlin</a:t>
            </a:r>
          </a:p>
        </p:txBody>
      </p:sp>
      <p:pic>
        <p:nvPicPr>
          <p:cNvPr id="4" name="Picture 3">
            <a:extLst>
              <a:ext uri="{FF2B5EF4-FFF2-40B4-BE49-F238E27FC236}">
                <a16:creationId xmlns:a16="http://schemas.microsoft.com/office/drawing/2014/main" id="{F4CF1743-6A4F-44AB-AA27-7F8FC70EA82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224158" y="631732"/>
            <a:ext cx="5071022" cy="6226268"/>
          </a:xfrm>
          <a:prstGeom prst="rect">
            <a:avLst/>
          </a:prstGeom>
        </p:spPr>
      </p:pic>
    </p:spTree>
    <p:extLst>
      <p:ext uri="{BB962C8B-B14F-4D97-AF65-F5344CB8AC3E}">
        <p14:creationId xmlns:p14="http://schemas.microsoft.com/office/powerpoint/2010/main" val="4227844650"/>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39FBA505-0A1C-4571-887B-E2147BA111E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438392" y="685794"/>
            <a:ext cx="7315215" cy="5486411"/>
          </a:xfrm>
          <a:prstGeom prst="rect">
            <a:avLst/>
          </a:prstGeom>
        </p:spPr>
      </p:pic>
      <p:pic>
        <p:nvPicPr>
          <p:cNvPr id="5" name="Picture 4">
            <a:extLst>
              <a:ext uri="{FF2B5EF4-FFF2-40B4-BE49-F238E27FC236}">
                <a16:creationId xmlns:a16="http://schemas.microsoft.com/office/drawing/2014/main" id="{4C1A08A5-0309-43EF-8BA8-7F6255B6EFE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438392" y="685794"/>
            <a:ext cx="7315215" cy="5486411"/>
          </a:xfrm>
          <a:prstGeom prst="rect">
            <a:avLst/>
          </a:prstGeom>
        </p:spPr>
      </p:pic>
    </p:spTree>
    <p:extLst>
      <p:ext uri="{BB962C8B-B14F-4D97-AF65-F5344CB8AC3E}">
        <p14:creationId xmlns:p14="http://schemas.microsoft.com/office/powerpoint/2010/main" val="2038772097"/>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ABDC551A-32A5-4DD3-A153-EDFD9203CD2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438392" y="685794"/>
            <a:ext cx="7315215" cy="5486411"/>
          </a:xfrm>
          <a:prstGeom prst="rect">
            <a:avLst/>
          </a:prstGeom>
        </p:spPr>
      </p:pic>
    </p:spTree>
    <p:extLst>
      <p:ext uri="{BB962C8B-B14F-4D97-AF65-F5344CB8AC3E}">
        <p14:creationId xmlns:p14="http://schemas.microsoft.com/office/powerpoint/2010/main" val="2195210828"/>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64AE2EC8-007F-4B1C-80FC-4574CD9CA437}"/>
              </a:ext>
            </a:extLst>
          </p:cNvPr>
          <p:cNvPicPr>
            <a:picLocks noChangeAspect="1"/>
          </p:cNvPicPr>
          <p:nvPr/>
        </p:nvPicPr>
        <p:blipFill>
          <a:blip r:embed="rId2"/>
          <a:stretch>
            <a:fillRect/>
          </a:stretch>
        </p:blipFill>
        <p:spPr>
          <a:xfrm>
            <a:off x="2764698" y="714702"/>
            <a:ext cx="6652570" cy="5465381"/>
          </a:xfrm>
          <a:prstGeom prst="rect">
            <a:avLst/>
          </a:prstGeom>
        </p:spPr>
      </p:pic>
    </p:spTree>
    <p:extLst>
      <p:ext uri="{BB962C8B-B14F-4D97-AF65-F5344CB8AC3E}">
        <p14:creationId xmlns:p14="http://schemas.microsoft.com/office/powerpoint/2010/main" val="1369271121"/>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1710</TotalTime>
  <Words>967</Words>
  <Application>Microsoft Office PowerPoint</Application>
  <PresentationFormat>Widescreen</PresentationFormat>
  <Paragraphs>170</Paragraphs>
  <Slides>57</Slides>
  <Notes>4</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57</vt:i4>
      </vt:variant>
    </vt:vector>
  </HeadingPairs>
  <TitlesOfParts>
    <vt:vector size="61" baseType="lpstr">
      <vt:lpstr>Arial</vt:lpstr>
      <vt:lpstr>Calibri</vt:lpstr>
      <vt:lpstr>Calibri Light</vt:lpstr>
      <vt:lpstr>Office Theme</vt:lpstr>
      <vt:lpstr>WCNPO Striped Marlin Rebuilding Scenarios 2025 Projection Scenarios for CMM 24-06</vt:lpstr>
      <vt:lpstr>Open Science with Documentation and Reproducibility  for the ISC Billfish Working Group</vt:lpstr>
      <vt:lpstr>Rebuilding Target</vt:lpstr>
      <vt:lpstr>CMM 2024-06 Revision to CMM 2010-01 for NP MLS</vt:lpstr>
      <vt:lpstr>Scenario 1. Set CMM 2024-06 Catch Limits at 2,400 mt</vt:lpstr>
      <vt:lpstr>Scenario 2. Set CMM 2024-06 Catch Limits with 2025 Carryover</vt:lpstr>
      <vt:lpstr>Scenario 3. Set CMM 2024-06 Catch Limits and 2025-2026 Carryover</vt:lpstr>
      <vt:lpstr>Apportion MLS Catch to Fleet Groups from the 2023 Assessment</vt:lpstr>
      <vt:lpstr>Japanese Longline Quarter 2 – Area 1 Fleet Group 3</vt:lpstr>
      <vt:lpstr>Hawaii Longline  Fleet Group 8</vt:lpstr>
      <vt:lpstr>Taiwanese Longline  Fleet Group 9</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Fleet Groups with Identical Fishery Selectivity for Striped Marlin</vt:lpstr>
      <vt:lpstr>Fleet Groups with Identical Fishery Selectivity for Striped Marlin</vt:lpstr>
      <vt:lpstr>Fleet Groups with Identical Fishery Selectivity for Striped Marlin</vt:lpstr>
      <vt:lpstr>Fleet Groups with Identical Fishery Selectivity for Striped Marlin</vt:lpstr>
      <vt:lpstr>Fleet Groups with Identical Fishery Selectivity for Striped Marlin</vt:lpstr>
      <vt:lpstr>Fleet Groups with Identical Fishery Selectivity for Striped Marlin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Jon Brodziak</dc:creator>
  <cp:lastModifiedBy>Jon Brodziak</cp:lastModifiedBy>
  <cp:revision>117</cp:revision>
  <cp:lastPrinted>2025-04-01T02:04:17Z</cp:lastPrinted>
  <dcterms:created xsi:type="dcterms:W3CDTF">2025-03-12T03:22:33Z</dcterms:created>
  <dcterms:modified xsi:type="dcterms:W3CDTF">2025-04-25T19:51:36Z</dcterms:modified>
</cp:coreProperties>
</file>