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6"/>
  </p:notesMasterIdLst>
  <p:sldIdLst>
    <p:sldId id="256" r:id="rId2"/>
    <p:sldId id="257" r:id="rId3"/>
    <p:sldId id="258" r:id="rId4"/>
    <p:sldId id="259" r:id="rId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E169607-FFEB-4533-B4FA-59AED2BB88A6}">
  <a:tblStyle styleId="{FE169607-FFEB-4533-B4FA-59AED2BB88A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905" y="4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24be3cb2ee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24be3cb2ee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24be3cb2ee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24be3cb2ee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24be3cb2ee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24be3cb2ee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400" dirty="0"/>
              <a:t>CMM 2024-06 Revision to CMM 2010-01 for NP MLS</a:t>
            </a:r>
            <a:endParaRPr sz="2400" dirty="0"/>
          </a:p>
        </p:txBody>
      </p:sp>
      <p:sp>
        <p:nvSpPr>
          <p:cNvPr id="55" name="Google Shape;55;p13"/>
          <p:cNvSpPr txBox="1">
            <a:spLocks noGrp="1"/>
          </p:cNvSpPr>
          <p:nvPr>
            <p:ph type="body" idx="1"/>
          </p:nvPr>
        </p:nvSpPr>
        <p:spPr>
          <a:xfrm>
            <a:off x="0" y="1152474"/>
            <a:ext cx="5878286" cy="3991026"/>
          </a:xfrm>
          <a:prstGeom prst="rect">
            <a:avLst/>
          </a:prstGeom>
        </p:spPr>
        <p:txBody>
          <a:bodyPr spcFirstLastPara="1" wrap="square" lIns="91425" tIns="91425" rIns="91425" bIns="91425" anchor="t" anchorCtr="0">
            <a:normAutofit fontScale="92500" lnSpcReduction="10000"/>
          </a:bodyPr>
          <a:lstStyle/>
          <a:p>
            <a:pPr marL="457200" lvl="0" indent="-334327" algn="l" rtl="0">
              <a:spcBef>
                <a:spcPts val="0"/>
              </a:spcBef>
              <a:spcAft>
                <a:spcPts val="0"/>
              </a:spcAft>
              <a:buSzPct val="100000"/>
              <a:buChar char="●"/>
            </a:pPr>
            <a:r>
              <a:rPr lang="en" dirty="0"/>
              <a:t>Maximum catch limit of 2400 mt</a:t>
            </a:r>
            <a:endParaRPr dirty="0"/>
          </a:p>
          <a:p>
            <a:pPr marL="457200" lvl="0" indent="-334327" algn="l" rtl="0">
              <a:spcBef>
                <a:spcPts val="0"/>
              </a:spcBef>
              <a:spcAft>
                <a:spcPts val="0"/>
              </a:spcAft>
              <a:buSzPct val="100000"/>
              <a:buChar char="●"/>
            </a:pPr>
            <a:r>
              <a:rPr lang="en" dirty="0"/>
              <a:t>In 2025-2027, each country can take up to 165 mt additional to their individual limit if the catch limit in 2023-2025 is not reached</a:t>
            </a:r>
            <a:endParaRPr dirty="0"/>
          </a:p>
          <a:p>
            <a:pPr marL="914400" lvl="1" indent="-310832" algn="l" rtl="0">
              <a:spcBef>
                <a:spcPts val="0"/>
              </a:spcBef>
              <a:spcAft>
                <a:spcPts val="0"/>
              </a:spcAft>
              <a:buSzPct val="100000"/>
              <a:buChar char="○"/>
            </a:pPr>
            <a:r>
              <a:rPr lang="en" dirty="0"/>
              <a:t>In 2023 there was an underage of 826mt therefore countries are allowed to increase their limit by 165mt in 2025.</a:t>
            </a:r>
            <a:endParaRPr dirty="0"/>
          </a:p>
          <a:p>
            <a:pPr marL="914400" lvl="1" indent="-310832" algn="l" rtl="0">
              <a:spcBef>
                <a:spcPts val="0"/>
              </a:spcBef>
              <a:spcAft>
                <a:spcPts val="0"/>
              </a:spcAft>
              <a:buSzPct val="100000"/>
              <a:buChar char="○"/>
            </a:pPr>
            <a:r>
              <a:rPr lang="en" dirty="0"/>
              <a:t>Any underage in 2024 can be applied to 2026, and 2025 to 2027.</a:t>
            </a:r>
            <a:endParaRPr dirty="0"/>
          </a:p>
          <a:p>
            <a:pPr marL="457200" lvl="0" indent="-334327" algn="l" rtl="0">
              <a:spcBef>
                <a:spcPts val="0"/>
              </a:spcBef>
              <a:spcAft>
                <a:spcPts val="0"/>
              </a:spcAft>
              <a:buSzPct val="100000"/>
              <a:buChar char="●"/>
            </a:pPr>
            <a:r>
              <a:rPr lang="en" dirty="0"/>
              <a:t>No country is allowed to increase their catch by more than 165 mt.</a:t>
            </a:r>
            <a:endParaRPr dirty="0"/>
          </a:p>
          <a:p>
            <a:pPr marL="457200" lvl="0" indent="-334327" algn="l" rtl="0">
              <a:spcBef>
                <a:spcPts val="0"/>
              </a:spcBef>
              <a:spcAft>
                <a:spcPts val="0"/>
              </a:spcAft>
              <a:buSzPct val="100000"/>
              <a:buChar char="●"/>
            </a:pPr>
            <a:r>
              <a:rPr lang="en" dirty="0"/>
              <a:t>If underage is less than 826 mt, then there will be decisions made about who gets that extra catch (not our problem)</a:t>
            </a:r>
            <a:endParaRPr dirty="0"/>
          </a:p>
          <a:p>
            <a:pPr marL="457200" lvl="0" indent="-334327" algn="l" rtl="0">
              <a:spcBef>
                <a:spcPts val="0"/>
              </a:spcBef>
              <a:spcAft>
                <a:spcPts val="0"/>
              </a:spcAft>
              <a:buSzPct val="100000"/>
              <a:buChar char="●"/>
            </a:pPr>
            <a:r>
              <a:rPr lang="en" dirty="0"/>
              <a:t>Overage for each country is subtracted from their next year’s individual limit</a:t>
            </a:r>
            <a:endParaRPr dirty="0"/>
          </a:p>
        </p:txBody>
      </p:sp>
      <p:graphicFrame>
        <p:nvGraphicFramePr>
          <p:cNvPr id="56" name="Google Shape;56;p13"/>
          <p:cNvGraphicFramePr/>
          <p:nvPr/>
        </p:nvGraphicFramePr>
        <p:xfrm>
          <a:off x="6156000" y="1152475"/>
          <a:ext cx="2758500" cy="3169680"/>
        </p:xfrm>
        <a:graphic>
          <a:graphicData uri="http://schemas.openxmlformats.org/drawingml/2006/table">
            <a:tbl>
              <a:tblPr>
                <a:noFill/>
                <a:tableStyleId>{FE169607-FFEB-4533-B4FA-59AED2BB88A6}</a:tableStyleId>
              </a:tblPr>
              <a:tblGrid>
                <a:gridCol w="1379250">
                  <a:extLst>
                    <a:ext uri="{9D8B030D-6E8A-4147-A177-3AD203B41FA5}">
                      <a16:colId xmlns:a16="http://schemas.microsoft.com/office/drawing/2014/main" val="20000"/>
                    </a:ext>
                  </a:extLst>
                </a:gridCol>
                <a:gridCol w="137925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 b="1"/>
                        <a:t>Country</a:t>
                      </a:r>
                      <a:endParaRPr b="1"/>
                    </a:p>
                  </a:txBody>
                  <a:tcPr marL="91425" marR="91425" marT="91425" marB="91425"/>
                </a:tc>
                <a:tc>
                  <a:txBody>
                    <a:bodyPr/>
                    <a:lstStyle/>
                    <a:p>
                      <a:pPr marL="0" lvl="0" indent="0" algn="l" rtl="0">
                        <a:spcBef>
                          <a:spcPts val="0"/>
                        </a:spcBef>
                        <a:spcAft>
                          <a:spcPts val="0"/>
                        </a:spcAft>
                        <a:buNone/>
                      </a:pPr>
                      <a:r>
                        <a:rPr lang="en" b="1"/>
                        <a:t>Catch Limit</a:t>
                      </a:r>
                      <a:endParaRPr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Japan</a:t>
                      </a:r>
                      <a:endParaRPr/>
                    </a:p>
                  </a:txBody>
                  <a:tcPr marL="91425" marR="91425" marT="91425" marB="91425"/>
                </a:tc>
                <a:tc>
                  <a:txBody>
                    <a:bodyPr/>
                    <a:lstStyle/>
                    <a:p>
                      <a:pPr marL="0" lvl="0" indent="0" algn="l" rtl="0">
                        <a:spcBef>
                          <a:spcPts val="0"/>
                        </a:spcBef>
                        <a:spcAft>
                          <a:spcPts val="0"/>
                        </a:spcAft>
                        <a:buNone/>
                      </a:pPr>
                      <a:r>
                        <a:rPr lang="en"/>
                        <a:t>1454.4mt</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t>Chinese Taipei</a:t>
                      </a:r>
                      <a:endParaRPr/>
                    </a:p>
                  </a:txBody>
                  <a:tcPr marL="91425" marR="91425" marT="91425" marB="91425"/>
                </a:tc>
                <a:tc>
                  <a:txBody>
                    <a:bodyPr/>
                    <a:lstStyle/>
                    <a:p>
                      <a:pPr marL="0" lvl="0" indent="0" algn="l" rtl="0">
                        <a:spcBef>
                          <a:spcPts val="0"/>
                        </a:spcBef>
                        <a:spcAft>
                          <a:spcPts val="0"/>
                        </a:spcAft>
                        <a:buNone/>
                      </a:pPr>
                      <a:r>
                        <a:rPr lang="en"/>
                        <a:t>358.4mt</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t>Korea</a:t>
                      </a:r>
                      <a:endParaRPr/>
                    </a:p>
                  </a:txBody>
                  <a:tcPr marL="91425" marR="91425" marT="91425" marB="91425"/>
                </a:tc>
                <a:tc>
                  <a:txBody>
                    <a:bodyPr/>
                    <a:lstStyle/>
                    <a:p>
                      <a:pPr marL="0" lvl="0" indent="0" algn="l" rtl="0">
                        <a:spcBef>
                          <a:spcPts val="0"/>
                        </a:spcBef>
                        <a:spcAft>
                          <a:spcPts val="0"/>
                        </a:spcAft>
                        <a:buNone/>
                      </a:pPr>
                      <a:r>
                        <a:rPr lang="en"/>
                        <a:t>214.8mt</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t>United States</a:t>
                      </a:r>
                      <a:endParaRPr/>
                    </a:p>
                  </a:txBody>
                  <a:tcPr marL="91425" marR="91425" marT="91425" marB="91425"/>
                </a:tc>
                <a:tc>
                  <a:txBody>
                    <a:bodyPr/>
                    <a:lstStyle/>
                    <a:p>
                      <a:pPr marL="0" lvl="0" indent="0" algn="l" rtl="0">
                        <a:spcBef>
                          <a:spcPts val="0"/>
                        </a:spcBef>
                        <a:spcAft>
                          <a:spcPts val="0"/>
                        </a:spcAft>
                        <a:buNone/>
                      </a:pPr>
                      <a:r>
                        <a:rPr lang="en"/>
                        <a:t>228.4mt</a:t>
                      </a:r>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a:t>China</a:t>
                      </a:r>
                      <a:endParaRPr/>
                    </a:p>
                  </a:txBody>
                  <a:tcPr marL="91425" marR="91425" marT="91425" marB="91425"/>
                </a:tc>
                <a:tc>
                  <a:txBody>
                    <a:bodyPr/>
                    <a:lstStyle/>
                    <a:p>
                      <a:pPr marL="0" lvl="0" indent="0" algn="l" rtl="0">
                        <a:spcBef>
                          <a:spcPts val="0"/>
                        </a:spcBef>
                        <a:spcAft>
                          <a:spcPts val="0"/>
                        </a:spcAft>
                        <a:buNone/>
                      </a:pPr>
                      <a:r>
                        <a:rPr lang="en"/>
                        <a:t>68.8 mt</a:t>
                      </a:r>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a:t>Other SIDS</a:t>
                      </a:r>
                      <a:endParaRPr/>
                    </a:p>
                  </a:txBody>
                  <a:tcPr marL="91425" marR="91425" marT="91425" marB="91425"/>
                </a:tc>
                <a:tc>
                  <a:txBody>
                    <a:bodyPr/>
                    <a:lstStyle/>
                    <a:p>
                      <a:pPr marL="0" lvl="0" indent="0" algn="l" rtl="0">
                        <a:spcBef>
                          <a:spcPts val="0"/>
                        </a:spcBef>
                        <a:spcAft>
                          <a:spcPts val="0"/>
                        </a:spcAft>
                        <a:buNone/>
                      </a:pPr>
                      <a:r>
                        <a:rPr lang="en"/>
                        <a:t>75.2 mt</a:t>
                      </a:r>
                      <a:endParaRPr/>
                    </a:p>
                  </a:txBody>
                  <a:tcPr marL="91425" marR="91425" marT="91425" marB="91425"/>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en" b="1"/>
                        <a:t>Total</a:t>
                      </a:r>
                      <a:endParaRPr b="1"/>
                    </a:p>
                  </a:txBody>
                  <a:tcPr marL="91425" marR="91425" marT="91425" marB="91425"/>
                </a:tc>
                <a:tc>
                  <a:txBody>
                    <a:bodyPr/>
                    <a:lstStyle/>
                    <a:p>
                      <a:pPr marL="0" lvl="0" indent="0" algn="l" rtl="0">
                        <a:spcBef>
                          <a:spcPts val="0"/>
                        </a:spcBef>
                        <a:spcAft>
                          <a:spcPts val="0"/>
                        </a:spcAft>
                        <a:buNone/>
                      </a:pPr>
                      <a:r>
                        <a:rPr lang="en" b="1"/>
                        <a:t>2400 mt</a:t>
                      </a:r>
                      <a:endParaRPr b="1"/>
                    </a:p>
                  </a:txBody>
                  <a:tcPr marL="91425" marR="91425" marT="91425" marB="91425"/>
                </a:tc>
                <a:extLst>
                  <a:ext uri="{0D108BD9-81ED-4DB2-BD59-A6C34878D82A}">
                    <a16:rowId xmlns:a16="http://schemas.microsoft.com/office/drawing/2014/main" val="10007"/>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400" dirty="0"/>
              <a:t>Scenario 1. CMM 2024-06 Catch Limits</a:t>
            </a:r>
            <a:endParaRPr sz="2400" dirty="0"/>
          </a:p>
        </p:txBody>
      </p:sp>
      <p:graphicFrame>
        <p:nvGraphicFramePr>
          <p:cNvPr id="62" name="Google Shape;62;p14"/>
          <p:cNvGraphicFramePr/>
          <p:nvPr/>
        </p:nvGraphicFramePr>
        <p:xfrm>
          <a:off x="643000" y="682150"/>
          <a:ext cx="6645700" cy="3169680"/>
        </p:xfrm>
        <a:graphic>
          <a:graphicData uri="http://schemas.openxmlformats.org/drawingml/2006/table">
            <a:tbl>
              <a:tblPr>
                <a:noFill/>
                <a:tableStyleId>{FE169607-FFEB-4533-B4FA-59AED2BB88A6}</a:tableStyleId>
              </a:tblPr>
              <a:tblGrid>
                <a:gridCol w="1661425">
                  <a:extLst>
                    <a:ext uri="{9D8B030D-6E8A-4147-A177-3AD203B41FA5}">
                      <a16:colId xmlns:a16="http://schemas.microsoft.com/office/drawing/2014/main" val="20000"/>
                    </a:ext>
                  </a:extLst>
                </a:gridCol>
                <a:gridCol w="1661425">
                  <a:extLst>
                    <a:ext uri="{9D8B030D-6E8A-4147-A177-3AD203B41FA5}">
                      <a16:colId xmlns:a16="http://schemas.microsoft.com/office/drawing/2014/main" val="20001"/>
                    </a:ext>
                  </a:extLst>
                </a:gridCol>
                <a:gridCol w="1661425">
                  <a:extLst>
                    <a:ext uri="{9D8B030D-6E8A-4147-A177-3AD203B41FA5}">
                      <a16:colId xmlns:a16="http://schemas.microsoft.com/office/drawing/2014/main" val="20002"/>
                    </a:ext>
                  </a:extLst>
                </a:gridCol>
                <a:gridCol w="1661425">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en" b="1"/>
                        <a:t>Country</a:t>
                      </a:r>
                      <a:endParaRPr b="1"/>
                    </a:p>
                  </a:txBody>
                  <a:tcPr marL="91425" marR="91425" marT="91425" marB="91425"/>
                </a:tc>
                <a:tc>
                  <a:txBody>
                    <a:bodyPr/>
                    <a:lstStyle/>
                    <a:p>
                      <a:pPr marL="0" lvl="0" indent="0" algn="l" rtl="0">
                        <a:spcBef>
                          <a:spcPts val="0"/>
                        </a:spcBef>
                        <a:spcAft>
                          <a:spcPts val="0"/>
                        </a:spcAft>
                        <a:buNone/>
                      </a:pPr>
                      <a:r>
                        <a:rPr lang="en" b="1"/>
                        <a:t>2025</a:t>
                      </a:r>
                      <a:endParaRPr b="1"/>
                    </a:p>
                  </a:txBody>
                  <a:tcPr marL="91425" marR="91425" marT="91425" marB="91425"/>
                </a:tc>
                <a:tc>
                  <a:txBody>
                    <a:bodyPr/>
                    <a:lstStyle/>
                    <a:p>
                      <a:pPr marL="0" lvl="0" indent="0" algn="l" rtl="0">
                        <a:spcBef>
                          <a:spcPts val="0"/>
                        </a:spcBef>
                        <a:spcAft>
                          <a:spcPts val="0"/>
                        </a:spcAft>
                        <a:buNone/>
                      </a:pPr>
                      <a:r>
                        <a:rPr lang="en" b="1"/>
                        <a:t>2026</a:t>
                      </a:r>
                      <a:endParaRPr b="1"/>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b="1"/>
                        <a:t>2027</a:t>
                      </a:r>
                      <a:endParaRPr b="1"/>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Japan</a:t>
                      </a:r>
                      <a:endParaRPr/>
                    </a:p>
                  </a:txBody>
                  <a:tcPr marL="91425" marR="91425" marT="91425" marB="91425"/>
                </a:tc>
                <a:tc>
                  <a:txBody>
                    <a:bodyPr/>
                    <a:lstStyle/>
                    <a:p>
                      <a:pPr marL="0" lvl="0" indent="0" algn="l" rtl="0">
                        <a:spcBef>
                          <a:spcPts val="0"/>
                        </a:spcBef>
                        <a:spcAft>
                          <a:spcPts val="0"/>
                        </a:spcAft>
                        <a:buNone/>
                      </a:pPr>
                      <a:r>
                        <a:rPr lang="en"/>
                        <a:t>1454.4mt</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1454.4mt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1454.4mt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t>Chinese Taipei</a:t>
                      </a:r>
                      <a:endParaRPr/>
                    </a:p>
                  </a:txBody>
                  <a:tcPr marL="91425" marR="91425" marT="91425" marB="91425"/>
                </a:tc>
                <a:tc>
                  <a:txBody>
                    <a:bodyPr/>
                    <a:lstStyle/>
                    <a:p>
                      <a:pPr marL="0" lvl="0" indent="0" algn="l" rtl="0">
                        <a:spcBef>
                          <a:spcPts val="0"/>
                        </a:spcBef>
                        <a:spcAft>
                          <a:spcPts val="0"/>
                        </a:spcAft>
                        <a:buNone/>
                      </a:pPr>
                      <a:r>
                        <a:rPr lang="en"/>
                        <a:t>358.4mt</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358.4mt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358.4mt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t>Korea</a:t>
                      </a:r>
                      <a:endParaRPr/>
                    </a:p>
                  </a:txBody>
                  <a:tcPr marL="91425" marR="91425" marT="91425" marB="91425"/>
                </a:tc>
                <a:tc>
                  <a:txBody>
                    <a:bodyPr/>
                    <a:lstStyle/>
                    <a:p>
                      <a:pPr marL="0" lvl="0" indent="0" algn="l" rtl="0">
                        <a:spcBef>
                          <a:spcPts val="0"/>
                        </a:spcBef>
                        <a:spcAft>
                          <a:spcPts val="0"/>
                        </a:spcAft>
                        <a:buNone/>
                      </a:pPr>
                      <a:r>
                        <a:rPr lang="en"/>
                        <a:t>214.8mt</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214.8mt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214.8mt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t>United States</a:t>
                      </a:r>
                      <a:endParaRPr/>
                    </a:p>
                  </a:txBody>
                  <a:tcPr marL="91425" marR="91425" marT="91425" marB="91425"/>
                </a:tc>
                <a:tc>
                  <a:txBody>
                    <a:bodyPr/>
                    <a:lstStyle/>
                    <a:p>
                      <a:pPr marL="0" lvl="0" indent="0" algn="l" rtl="0">
                        <a:spcBef>
                          <a:spcPts val="0"/>
                        </a:spcBef>
                        <a:spcAft>
                          <a:spcPts val="0"/>
                        </a:spcAft>
                        <a:buNone/>
                      </a:pPr>
                      <a:r>
                        <a:rPr lang="en"/>
                        <a:t>228.4mt</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228.4mt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228.4mt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a:t>China</a:t>
                      </a:r>
                      <a:endParaRPr/>
                    </a:p>
                  </a:txBody>
                  <a:tcPr marL="91425" marR="91425" marT="91425" marB="91425"/>
                </a:tc>
                <a:tc>
                  <a:txBody>
                    <a:bodyPr/>
                    <a:lstStyle/>
                    <a:p>
                      <a:pPr marL="0" lvl="0" indent="0" algn="l" rtl="0">
                        <a:spcBef>
                          <a:spcPts val="0"/>
                        </a:spcBef>
                        <a:spcAft>
                          <a:spcPts val="0"/>
                        </a:spcAft>
                        <a:buNone/>
                      </a:pPr>
                      <a:r>
                        <a:rPr lang="en"/>
                        <a:t>68.8 mt</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68.8 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68.8 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a:t>Other SIDS</a:t>
                      </a:r>
                      <a:endParaRPr/>
                    </a:p>
                  </a:txBody>
                  <a:tcPr marL="91425" marR="91425" marT="91425" marB="91425"/>
                </a:tc>
                <a:tc>
                  <a:txBody>
                    <a:bodyPr/>
                    <a:lstStyle/>
                    <a:p>
                      <a:pPr marL="0" lvl="0" indent="0" algn="l" rtl="0">
                        <a:spcBef>
                          <a:spcPts val="0"/>
                        </a:spcBef>
                        <a:spcAft>
                          <a:spcPts val="0"/>
                        </a:spcAft>
                        <a:buNone/>
                      </a:pPr>
                      <a:r>
                        <a:rPr lang="en"/>
                        <a:t>75.2 mt</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75.2 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75.2 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en" b="1"/>
                        <a:t>Total</a:t>
                      </a:r>
                      <a:endParaRPr b="1"/>
                    </a:p>
                  </a:txBody>
                  <a:tcPr marL="91425" marR="91425" marT="91425" marB="91425"/>
                </a:tc>
                <a:tc>
                  <a:txBody>
                    <a:bodyPr/>
                    <a:lstStyle/>
                    <a:p>
                      <a:pPr marL="0" lvl="0" indent="0" algn="l" rtl="0">
                        <a:spcBef>
                          <a:spcPts val="0"/>
                        </a:spcBef>
                        <a:spcAft>
                          <a:spcPts val="0"/>
                        </a:spcAft>
                        <a:buNone/>
                      </a:pPr>
                      <a:r>
                        <a:rPr lang="en" b="1"/>
                        <a:t>2400 mt</a:t>
                      </a:r>
                      <a:endParaRPr b="1"/>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b="1"/>
                        <a:t>2400 mt</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b="1"/>
                        <a:t>2400 mt</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63" name="Google Shape;63;p14"/>
          <p:cNvSpPr txBox="1"/>
          <p:nvPr/>
        </p:nvSpPr>
        <p:spPr>
          <a:xfrm>
            <a:off x="81300" y="3901974"/>
            <a:ext cx="8897700" cy="1241525"/>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2"/>
              </a:buClr>
              <a:buSzPts val="1400"/>
              <a:buChar char="●"/>
            </a:pPr>
            <a:r>
              <a:rPr lang="en" dirty="0">
                <a:solidFill>
                  <a:schemeClr val="dk2"/>
                </a:solidFill>
              </a:rPr>
              <a:t>For countries which are represented by more than one fleet in the rebuilding analysis, catch would be distributed between fleets based upon the proportion of catch for each fleet in 2020 (last year of the assessment)</a:t>
            </a:r>
            <a:endParaRPr dirty="0">
              <a:solidFill>
                <a:schemeClr val="dk2"/>
              </a:solidFill>
            </a:endParaRPr>
          </a:p>
          <a:p>
            <a:pPr marL="457200" lvl="0" indent="-317500" algn="l" rtl="0">
              <a:spcBef>
                <a:spcPts val="0"/>
              </a:spcBef>
              <a:spcAft>
                <a:spcPts val="0"/>
              </a:spcAft>
              <a:buClr>
                <a:schemeClr val="dk2"/>
              </a:buClr>
              <a:buSzPts val="1400"/>
              <a:buChar char="●"/>
            </a:pPr>
            <a:r>
              <a:rPr lang="en" dirty="0">
                <a:solidFill>
                  <a:schemeClr val="dk2"/>
                </a:solidFill>
              </a:rPr>
              <a:t>For 2021-2022, catch would be updated to reported (yearbook catch) from WCPFC, and 2023-2024 would be carryover catch from 2022 if updated catch is not available.</a:t>
            </a:r>
            <a:endParaRPr dirty="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69300" y="140225"/>
            <a:ext cx="92133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400" dirty="0"/>
              <a:t>Scenario 2. CMM 2024-06 Catch Limits with 2025 Carryover</a:t>
            </a:r>
            <a:endParaRPr sz="2400" dirty="0"/>
          </a:p>
        </p:txBody>
      </p:sp>
      <p:graphicFrame>
        <p:nvGraphicFramePr>
          <p:cNvPr id="69" name="Google Shape;69;p15"/>
          <p:cNvGraphicFramePr/>
          <p:nvPr/>
        </p:nvGraphicFramePr>
        <p:xfrm>
          <a:off x="643000" y="682150"/>
          <a:ext cx="6645700" cy="3169680"/>
        </p:xfrm>
        <a:graphic>
          <a:graphicData uri="http://schemas.openxmlformats.org/drawingml/2006/table">
            <a:tbl>
              <a:tblPr>
                <a:noFill/>
                <a:tableStyleId>{FE169607-FFEB-4533-B4FA-59AED2BB88A6}</a:tableStyleId>
              </a:tblPr>
              <a:tblGrid>
                <a:gridCol w="1661425">
                  <a:extLst>
                    <a:ext uri="{9D8B030D-6E8A-4147-A177-3AD203B41FA5}">
                      <a16:colId xmlns:a16="http://schemas.microsoft.com/office/drawing/2014/main" val="20000"/>
                    </a:ext>
                  </a:extLst>
                </a:gridCol>
                <a:gridCol w="1661425">
                  <a:extLst>
                    <a:ext uri="{9D8B030D-6E8A-4147-A177-3AD203B41FA5}">
                      <a16:colId xmlns:a16="http://schemas.microsoft.com/office/drawing/2014/main" val="20001"/>
                    </a:ext>
                  </a:extLst>
                </a:gridCol>
                <a:gridCol w="1661425">
                  <a:extLst>
                    <a:ext uri="{9D8B030D-6E8A-4147-A177-3AD203B41FA5}">
                      <a16:colId xmlns:a16="http://schemas.microsoft.com/office/drawing/2014/main" val="20002"/>
                    </a:ext>
                  </a:extLst>
                </a:gridCol>
                <a:gridCol w="1661425">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en" b="1"/>
                        <a:t>Country</a:t>
                      </a:r>
                      <a:endParaRPr b="1"/>
                    </a:p>
                  </a:txBody>
                  <a:tcPr marL="91425" marR="91425" marT="91425" marB="91425"/>
                </a:tc>
                <a:tc>
                  <a:txBody>
                    <a:bodyPr/>
                    <a:lstStyle/>
                    <a:p>
                      <a:pPr marL="0" lvl="0" indent="0" algn="l" rtl="0">
                        <a:spcBef>
                          <a:spcPts val="0"/>
                        </a:spcBef>
                        <a:spcAft>
                          <a:spcPts val="0"/>
                        </a:spcAft>
                        <a:buNone/>
                      </a:pPr>
                      <a:r>
                        <a:rPr lang="en" b="1"/>
                        <a:t>2025</a:t>
                      </a:r>
                      <a:endParaRPr b="1"/>
                    </a:p>
                  </a:txBody>
                  <a:tcPr marL="91425" marR="91425" marT="91425" marB="91425"/>
                </a:tc>
                <a:tc>
                  <a:txBody>
                    <a:bodyPr/>
                    <a:lstStyle/>
                    <a:p>
                      <a:pPr marL="0" lvl="0" indent="0" algn="l" rtl="0">
                        <a:spcBef>
                          <a:spcPts val="0"/>
                        </a:spcBef>
                        <a:spcAft>
                          <a:spcPts val="0"/>
                        </a:spcAft>
                        <a:buNone/>
                      </a:pPr>
                      <a:r>
                        <a:rPr lang="en" b="1"/>
                        <a:t>2026</a:t>
                      </a:r>
                      <a:endParaRPr b="1"/>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b="1"/>
                        <a:t>2027</a:t>
                      </a:r>
                      <a:endParaRPr b="1"/>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Japan</a:t>
                      </a:r>
                      <a:endParaRPr/>
                    </a:p>
                  </a:txBody>
                  <a:tcPr marL="91425" marR="91425" marT="91425" marB="91425"/>
                </a:tc>
                <a:tc>
                  <a:txBody>
                    <a:bodyPr/>
                    <a:lstStyle/>
                    <a:p>
                      <a:pPr marL="0" lvl="0" indent="0" algn="l" rtl="0">
                        <a:spcBef>
                          <a:spcPts val="0"/>
                        </a:spcBef>
                        <a:spcAft>
                          <a:spcPts val="0"/>
                        </a:spcAft>
                        <a:buNone/>
                      </a:pPr>
                      <a:r>
                        <a:rPr lang="en"/>
                        <a:t>1454.4mt + 165mt</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1454.4mt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1454.4mt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t>Chinese Taipei</a:t>
                      </a:r>
                      <a:endParaRPr/>
                    </a:p>
                  </a:txBody>
                  <a:tcPr marL="91425" marR="91425" marT="91425" marB="91425"/>
                </a:tc>
                <a:tc>
                  <a:txBody>
                    <a:bodyPr/>
                    <a:lstStyle/>
                    <a:p>
                      <a:pPr marL="0" lvl="0" indent="0" algn="l" rtl="0">
                        <a:spcBef>
                          <a:spcPts val="0"/>
                        </a:spcBef>
                        <a:spcAft>
                          <a:spcPts val="0"/>
                        </a:spcAft>
                        <a:buNone/>
                      </a:pPr>
                      <a:r>
                        <a:rPr lang="en"/>
                        <a:t>358.4mt + 165 mt</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358.4mt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358.4mt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t>Korea</a:t>
                      </a:r>
                      <a:endParaRPr/>
                    </a:p>
                  </a:txBody>
                  <a:tcPr marL="91425" marR="91425" marT="91425" marB="91425"/>
                </a:tc>
                <a:tc>
                  <a:txBody>
                    <a:bodyPr/>
                    <a:lstStyle/>
                    <a:p>
                      <a:pPr marL="0" lvl="0" indent="0" algn="l" rtl="0">
                        <a:spcBef>
                          <a:spcPts val="0"/>
                        </a:spcBef>
                        <a:spcAft>
                          <a:spcPts val="0"/>
                        </a:spcAft>
                        <a:buNone/>
                      </a:pPr>
                      <a:r>
                        <a:rPr lang="en"/>
                        <a:t>214.8mt + 165 mt</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214.8mt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214.8mt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t>United States</a:t>
                      </a:r>
                      <a:endParaRPr/>
                    </a:p>
                  </a:txBody>
                  <a:tcPr marL="91425" marR="91425" marT="91425" marB="91425"/>
                </a:tc>
                <a:tc>
                  <a:txBody>
                    <a:bodyPr/>
                    <a:lstStyle/>
                    <a:p>
                      <a:pPr marL="0" lvl="0" indent="0" algn="l" rtl="0">
                        <a:spcBef>
                          <a:spcPts val="0"/>
                        </a:spcBef>
                        <a:spcAft>
                          <a:spcPts val="0"/>
                        </a:spcAft>
                        <a:buNone/>
                      </a:pPr>
                      <a:r>
                        <a:rPr lang="en"/>
                        <a:t>228.4mt + 165 mt</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228.4mt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228.4mt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a:t>China</a:t>
                      </a:r>
                      <a:endParaRPr/>
                    </a:p>
                  </a:txBody>
                  <a:tcPr marL="91425" marR="91425" marT="91425" marB="91425"/>
                </a:tc>
                <a:tc>
                  <a:txBody>
                    <a:bodyPr/>
                    <a:lstStyle/>
                    <a:p>
                      <a:pPr marL="0" lvl="0" indent="0" algn="l" rtl="0">
                        <a:spcBef>
                          <a:spcPts val="0"/>
                        </a:spcBef>
                        <a:spcAft>
                          <a:spcPts val="0"/>
                        </a:spcAft>
                        <a:buNone/>
                      </a:pPr>
                      <a:r>
                        <a:rPr lang="en"/>
                        <a:t>68.8 mt + 165 mt</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68.8 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68.8 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a:t>Other SIDS</a:t>
                      </a:r>
                      <a:endParaRPr/>
                    </a:p>
                  </a:txBody>
                  <a:tcPr marL="91425" marR="91425" marT="91425" marB="91425"/>
                </a:tc>
                <a:tc>
                  <a:txBody>
                    <a:bodyPr/>
                    <a:lstStyle/>
                    <a:p>
                      <a:pPr marL="0" lvl="0" indent="0" algn="l" rtl="0">
                        <a:spcBef>
                          <a:spcPts val="0"/>
                        </a:spcBef>
                        <a:spcAft>
                          <a:spcPts val="0"/>
                        </a:spcAft>
                        <a:buNone/>
                      </a:pPr>
                      <a:r>
                        <a:rPr lang="en"/>
                        <a:t>75.2 mt</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75.2 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75.2 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en" b="1"/>
                        <a:t>Total</a:t>
                      </a:r>
                      <a:endParaRPr b="1"/>
                    </a:p>
                  </a:txBody>
                  <a:tcPr marL="91425" marR="91425" marT="91425" marB="91425"/>
                </a:tc>
                <a:tc>
                  <a:txBody>
                    <a:bodyPr/>
                    <a:lstStyle/>
                    <a:p>
                      <a:pPr marL="0" lvl="0" indent="0" algn="l" rtl="0">
                        <a:spcBef>
                          <a:spcPts val="0"/>
                        </a:spcBef>
                        <a:spcAft>
                          <a:spcPts val="0"/>
                        </a:spcAft>
                        <a:buNone/>
                      </a:pPr>
                      <a:r>
                        <a:rPr lang="en" b="1"/>
                        <a:t>3225 mt</a:t>
                      </a:r>
                      <a:endParaRPr b="1"/>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b="1"/>
                        <a:t>2400 mt</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b="1"/>
                        <a:t>2400 mt</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70" name="Google Shape;70;p15"/>
          <p:cNvSpPr txBox="1"/>
          <p:nvPr/>
        </p:nvSpPr>
        <p:spPr>
          <a:xfrm>
            <a:off x="81300" y="3901974"/>
            <a:ext cx="8897700" cy="1241525"/>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2"/>
              </a:buClr>
              <a:buSzPts val="1400"/>
              <a:buChar char="●"/>
            </a:pPr>
            <a:r>
              <a:rPr lang="en" dirty="0">
                <a:solidFill>
                  <a:schemeClr val="dk2"/>
                </a:solidFill>
              </a:rPr>
              <a:t>For countries which are represented by more than one fleet in the rebuilding analysis, catch would be distributed between fleets based upon the proportion of catch for each fleet in 2020 (last year of the assessment)</a:t>
            </a:r>
            <a:endParaRPr dirty="0">
              <a:solidFill>
                <a:schemeClr val="dk2"/>
              </a:solidFill>
            </a:endParaRPr>
          </a:p>
          <a:p>
            <a:pPr marL="457200" lvl="0" indent="-317500" algn="l" rtl="0">
              <a:spcBef>
                <a:spcPts val="0"/>
              </a:spcBef>
              <a:spcAft>
                <a:spcPts val="0"/>
              </a:spcAft>
              <a:buClr>
                <a:schemeClr val="dk2"/>
              </a:buClr>
              <a:buSzPts val="1400"/>
              <a:buChar char="●"/>
            </a:pPr>
            <a:r>
              <a:rPr lang="en" dirty="0">
                <a:solidFill>
                  <a:schemeClr val="dk2"/>
                </a:solidFill>
              </a:rPr>
              <a:t>For 2021-2022, catch would be updated to reported (yearbook catch) from WCPFC, and 2023-2024 would be carryover catch from 2022 if updated catch is not available.</a:t>
            </a:r>
            <a:endParaRPr dirty="0">
              <a:solidFill>
                <a:schemeClr val="dk2"/>
              </a:solidFill>
            </a:endParaRPr>
          </a:p>
          <a:p>
            <a:pPr marL="457200" lvl="0" indent="0" algn="l" rtl="0">
              <a:spcBef>
                <a:spcPts val="0"/>
              </a:spcBef>
              <a:spcAft>
                <a:spcPts val="0"/>
              </a:spcAft>
              <a:buNone/>
            </a:pPr>
            <a:r>
              <a:rPr lang="en" dirty="0">
                <a:solidFill>
                  <a:schemeClr val="dk2"/>
                </a:solidFill>
              </a:rPr>
              <a:t>.</a:t>
            </a:r>
            <a:endParaRPr dirty="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0" y="110825"/>
            <a:ext cx="914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2400" dirty="0"/>
              <a:t>Scenario 3. CMM 2024-06 Catch Limits and 2025-2026 Carryover</a:t>
            </a:r>
            <a:endParaRPr sz="2400" dirty="0"/>
          </a:p>
        </p:txBody>
      </p:sp>
      <p:graphicFrame>
        <p:nvGraphicFramePr>
          <p:cNvPr id="76" name="Google Shape;76;p16"/>
          <p:cNvGraphicFramePr/>
          <p:nvPr/>
        </p:nvGraphicFramePr>
        <p:xfrm>
          <a:off x="643000" y="682150"/>
          <a:ext cx="6645700" cy="3169680"/>
        </p:xfrm>
        <a:graphic>
          <a:graphicData uri="http://schemas.openxmlformats.org/drawingml/2006/table">
            <a:tbl>
              <a:tblPr>
                <a:noFill/>
                <a:tableStyleId>{FE169607-FFEB-4533-B4FA-59AED2BB88A6}</a:tableStyleId>
              </a:tblPr>
              <a:tblGrid>
                <a:gridCol w="1661425">
                  <a:extLst>
                    <a:ext uri="{9D8B030D-6E8A-4147-A177-3AD203B41FA5}">
                      <a16:colId xmlns:a16="http://schemas.microsoft.com/office/drawing/2014/main" val="20000"/>
                    </a:ext>
                  </a:extLst>
                </a:gridCol>
                <a:gridCol w="1661425">
                  <a:extLst>
                    <a:ext uri="{9D8B030D-6E8A-4147-A177-3AD203B41FA5}">
                      <a16:colId xmlns:a16="http://schemas.microsoft.com/office/drawing/2014/main" val="20001"/>
                    </a:ext>
                  </a:extLst>
                </a:gridCol>
                <a:gridCol w="1661425">
                  <a:extLst>
                    <a:ext uri="{9D8B030D-6E8A-4147-A177-3AD203B41FA5}">
                      <a16:colId xmlns:a16="http://schemas.microsoft.com/office/drawing/2014/main" val="20002"/>
                    </a:ext>
                  </a:extLst>
                </a:gridCol>
                <a:gridCol w="1661425">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en" b="1" dirty="0"/>
                        <a:t>Country</a:t>
                      </a:r>
                      <a:endParaRPr b="1" dirty="0"/>
                    </a:p>
                  </a:txBody>
                  <a:tcPr marL="91425" marR="91425" marT="91425" marB="91425"/>
                </a:tc>
                <a:tc>
                  <a:txBody>
                    <a:bodyPr/>
                    <a:lstStyle/>
                    <a:p>
                      <a:pPr marL="0" lvl="0" indent="0" algn="l" rtl="0">
                        <a:spcBef>
                          <a:spcPts val="0"/>
                        </a:spcBef>
                        <a:spcAft>
                          <a:spcPts val="0"/>
                        </a:spcAft>
                        <a:buNone/>
                      </a:pPr>
                      <a:r>
                        <a:rPr lang="en" b="1"/>
                        <a:t>2025</a:t>
                      </a:r>
                      <a:endParaRPr b="1"/>
                    </a:p>
                  </a:txBody>
                  <a:tcPr marL="91425" marR="91425" marT="91425" marB="91425"/>
                </a:tc>
                <a:tc>
                  <a:txBody>
                    <a:bodyPr/>
                    <a:lstStyle/>
                    <a:p>
                      <a:pPr marL="0" lvl="0" indent="0" algn="l" rtl="0">
                        <a:spcBef>
                          <a:spcPts val="0"/>
                        </a:spcBef>
                        <a:spcAft>
                          <a:spcPts val="0"/>
                        </a:spcAft>
                        <a:buNone/>
                      </a:pPr>
                      <a:r>
                        <a:rPr lang="en" b="1"/>
                        <a:t>2026</a:t>
                      </a:r>
                      <a:endParaRPr b="1"/>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b="1"/>
                        <a:t>2027</a:t>
                      </a:r>
                      <a:endParaRPr b="1"/>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Japan</a:t>
                      </a:r>
                      <a:endParaRPr/>
                    </a:p>
                  </a:txBody>
                  <a:tcPr marL="91425" marR="91425" marT="91425" marB="91425"/>
                </a:tc>
                <a:tc>
                  <a:txBody>
                    <a:bodyPr/>
                    <a:lstStyle/>
                    <a:p>
                      <a:pPr marL="0" lvl="0" indent="0" algn="l" rtl="0">
                        <a:spcBef>
                          <a:spcPts val="0"/>
                        </a:spcBef>
                        <a:spcAft>
                          <a:spcPts val="0"/>
                        </a:spcAft>
                        <a:buNone/>
                      </a:pPr>
                      <a:r>
                        <a:rPr lang="en"/>
                        <a:t>1454.4mt + 165mt</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1454.4mt + 165mt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1454.4mt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t>Chinese Taipei</a:t>
                      </a:r>
                      <a:endParaRPr/>
                    </a:p>
                  </a:txBody>
                  <a:tcPr marL="91425" marR="91425" marT="91425" marB="91425"/>
                </a:tc>
                <a:tc>
                  <a:txBody>
                    <a:bodyPr/>
                    <a:lstStyle/>
                    <a:p>
                      <a:pPr marL="0" lvl="0" indent="0" algn="l" rtl="0">
                        <a:spcBef>
                          <a:spcPts val="0"/>
                        </a:spcBef>
                        <a:spcAft>
                          <a:spcPts val="0"/>
                        </a:spcAft>
                        <a:buNone/>
                      </a:pPr>
                      <a:r>
                        <a:rPr lang="en"/>
                        <a:t>358.4mt + 165 mt</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358.4mt + 165mt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358.4mt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t>Korea</a:t>
                      </a:r>
                      <a:endParaRPr/>
                    </a:p>
                  </a:txBody>
                  <a:tcPr marL="91425" marR="91425" marT="91425" marB="91425"/>
                </a:tc>
                <a:tc>
                  <a:txBody>
                    <a:bodyPr/>
                    <a:lstStyle/>
                    <a:p>
                      <a:pPr marL="0" lvl="0" indent="0" algn="l" rtl="0">
                        <a:spcBef>
                          <a:spcPts val="0"/>
                        </a:spcBef>
                        <a:spcAft>
                          <a:spcPts val="0"/>
                        </a:spcAft>
                        <a:buNone/>
                      </a:pPr>
                      <a:r>
                        <a:rPr lang="en"/>
                        <a:t>214.8mt + 165 mt</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214.8mt + 165mt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214.8mt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t>United States</a:t>
                      </a:r>
                      <a:endParaRPr/>
                    </a:p>
                  </a:txBody>
                  <a:tcPr marL="91425" marR="91425" marT="91425" marB="91425"/>
                </a:tc>
                <a:tc>
                  <a:txBody>
                    <a:bodyPr/>
                    <a:lstStyle/>
                    <a:p>
                      <a:pPr marL="0" lvl="0" indent="0" algn="l" rtl="0">
                        <a:spcBef>
                          <a:spcPts val="0"/>
                        </a:spcBef>
                        <a:spcAft>
                          <a:spcPts val="0"/>
                        </a:spcAft>
                        <a:buNone/>
                      </a:pPr>
                      <a:r>
                        <a:rPr lang="en"/>
                        <a:t>228.4mt + 165 mt</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228.4mt + 165mt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228.4mt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a:t>China</a:t>
                      </a:r>
                      <a:endParaRPr/>
                    </a:p>
                  </a:txBody>
                  <a:tcPr marL="91425" marR="91425" marT="91425" marB="91425"/>
                </a:tc>
                <a:tc>
                  <a:txBody>
                    <a:bodyPr/>
                    <a:lstStyle/>
                    <a:p>
                      <a:pPr marL="0" lvl="0" indent="0" algn="l" rtl="0">
                        <a:spcBef>
                          <a:spcPts val="0"/>
                        </a:spcBef>
                        <a:spcAft>
                          <a:spcPts val="0"/>
                        </a:spcAft>
                        <a:buNone/>
                      </a:pPr>
                      <a:r>
                        <a:rPr lang="en"/>
                        <a:t>68.8 mt + 165 mt</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68.8 mt + 165mt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68.8 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a:t>Other SIDS</a:t>
                      </a:r>
                      <a:endParaRPr/>
                    </a:p>
                  </a:txBody>
                  <a:tcPr marL="91425" marR="91425" marT="91425" marB="91425"/>
                </a:tc>
                <a:tc>
                  <a:txBody>
                    <a:bodyPr/>
                    <a:lstStyle/>
                    <a:p>
                      <a:pPr marL="0" lvl="0" indent="0" algn="l" rtl="0">
                        <a:spcBef>
                          <a:spcPts val="0"/>
                        </a:spcBef>
                        <a:spcAft>
                          <a:spcPts val="0"/>
                        </a:spcAft>
                        <a:buNone/>
                      </a:pPr>
                      <a:r>
                        <a:rPr lang="en"/>
                        <a:t>75.2 mt</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75.2 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75.2 mt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en" b="1"/>
                        <a:t>Total</a:t>
                      </a:r>
                      <a:endParaRPr b="1"/>
                    </a:p>
                  </a:txBody>
                  <a:tcPr marL="91425" marR="91425" marT="91425" marB="91425"/>
                </a:tc>
                <a:tc>
                  <a:txBody>
                    <a:bodyPr/>
                    <a:lstStyle/>
                    <a:p>
                      <a:pPr marL="0" lvl="0" indent="0" algn="l" rtl="0">
                        <a:spcBef>
                          <a:spcPts val="0"/>
                        </a:spcBef>
                        <a:spcAft>
                          <a:spcPts val="0"/>
                        </a:spcAft>
                        <a:buNone/>
                      </a:pPr>
                      <a:r>
                        <a:rPr lang="en" b="1"/>
                        <a:t>3225 mt</a:t>
                      </a:r>
                      <a:endParaRPr b="1"/>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b="1"/>
                        <a:t>3225 mt</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b="1" dirty="0"/>
                        <a:t>2400 mt</a:t>
                      </a:r>
                      <a:endParaRPr b="1"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77" name="Google Shape;77;p16"/>
          <p:cNvSpPr txBox="1"/>
          <p:nvPr/>
        </p:nvSpPr>
        <p:spPr>
          <a:xfrm>
            <a:off x="0" y="4012800"/>
            <a:ext cx="8897700" cy="11307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2"/>
              </a:buClr>
              <a:buSzPts val="1400"/>
              <a:buChar char="●"/>
            </a:pPr>
            <a:r>
              <a:rPr lang="en" dirty="0">
                <a:solidFill>
                  <a:schemeClr val="dk2"/>
                </a:solidFill>
              </a:rPr>
              <a:t>For countries which are represented by more than one fleet in the rebuilding analysis, catch would be distributed between fleets based upon the proportion of catch for each fleet in 2020 (last year of the assessment)</a:t>
            </a:r>
            <a:endParaRPr dirty="0">
              <a:solidFill>
                <a:schemeClr val="dk2"/>
              </a:solidFill>
            </a:endParaRPr>
          </a:p>
          <a:p>
            <a:pPr marL="457200" lvl="0" indent="-317500" algn="l" rtl="0">
              <a:spcBef>
                <a:spcPts val="0"/>
              </a:spcBef>
              <a:spcAft>
                <a:spcPts val="0"/>
              </a:spcAft>
              <a:buClr>
                <a:schemeClr val="dk2"/>
              </a:buClr>
              <a:buSzPts val="1400"/>
              <a:buChar char="●"/>
            </a:pPr>
            <a:r>
              <a:rPr lang="en" dirty="0">
                <a:solidFill>
                  <a:schemeClr val="dk2"/>
                </a:solidFill>
              </a:rPr>
              <a:t>For 2021-2022, catch would be updated to reported (yearbook catch) from WCPFC, and 2023-2024 would be carryover catch from 2022 if updated catch is not available.</a:t>
            </a:r>
            <a:endParaRPr dirty="0">
              <a:solidFill>
                <a:schemeClr val="dk2"/>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558</Words>
  <Application>Microsoft Office PowerPoint</Application>
  <PresentationFormat>On-screen Show (16:9)</PresentationFormat>
  <Paragraphs>130</Paragraphs>
  <Slides>4</Slides>
  <Notes>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vt:i4>
      </vt:variant>
    </vt:vector>
  </HeadingPairs>
  <TitlesOfParts>
    <vt:vector size="6" baseType="lpstr">
      <vt:lpstr>Arial</vt:lpstr>
      <vt:lpstr>Simple Light</vt:lpstr>
      <vt:lpstr>CMM 2024-06 Revision to CMM 2010-01 for NP MLS</vt:lpstr>
      <vt:lpstr>Scenario 1. CMM 2024-06 Catch Limits</vt:lpstr>
      <vt:lpstr>Scenario 2. CMM 2024-06 Catch Limits with 2025 Carryover</vt:lpstr>
      <vt:lpstr>Scenario 3. CMM 2024-06 Catch Limits and 2025-2026 Carryover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CMM 2024-06 Revision to CMM 2010-01 for NP MLS</dc:title>
  <cp:lastModifiedBy>Jon Brodziak</cp:lastModifiedBy>
  <cp:revision>11</cp:revision>
  <dcterms:modified xsi:type="dcterms:W3CDTF">2025-03-18T02:34:04Z</dcterms:modified>
</cp:coreProperties>
</file>