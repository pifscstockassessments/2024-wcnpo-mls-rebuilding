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318" r:id="rId3"/>
    <p:sldId id="257" r:id="rId4"/>
    <p:sldId id="258" r:id="rId5"/>
    <p:sldId id="259" r:id="rId6"/>
    <p:sldId id="279" r:id="rId7"/>
    <p:sldId id="289" r:id="rId8"/>
    <p:sldId id="290" r:id="rId9"/>
    <p:sldId id="291" r:id="rId10"/>
    <p:sldId id="292" r:id="rId11"/>
    <p:sldId id="293" r:id="rId12"/>
    <p:sldId id="294" r:id="rId13"/>
    <p:sldId id="295" r:id="rId14"/>
    <p:sldId id="296" r:id="rId15"/>
    <p:sldId id="306" r:id="rId16"/>
    <p:sldId id="299" r:id="rId17"/>
    <p:sldId id="298" r:id="rId18"/>
    <p:sldId id="319" r:id="rId19"/>
    <p:sldId id="300" r:id="rId20"/>
    <p:sldId id="320" r:id="rId21"/>
    <p:sldId id="297" r:id="rId22"/>
    <p:sldId id="305" r:id="rId23"/>
    <p:sldId id="302" r:id="rId24"/>
    <p:sldId id="308" r:id="rId25"/>
    <p:sldId id="309" r:id="rId26"/>
    <p:sldId id="303" r:id="rId27"/>
    <p:sldId id="304" r:id="rId28"/>
    <p:sldId id="310" r:id="rId29"/>
    <p:sldId id="315" r:id="rId30"/>
    <p:sldId id="316" r:id="rId31"/>
    <p:sldId id="311" r:id="rId32"/>
    <p:sldId id="312" r:id="rId33"/>
    <p:sldId id="313" r:id="rId34"/>
    <p:sldId id="317" r:id="rId35"/>
    <p:sldId id="307" r:id="rId36"/>
    <p:sldId id="314" r:id="rId37"/>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5" autoAdjust="0"/>
    <p:restoredTop sz="94660"/>
  </p:normalViewPr>
  <p:slideViewPr>
    <p:cSldViewPr snapToGrid="0" showGuides="1">
      <p:cViewPr varScale="1">
        <p:scale>
          <a:sx n="52" d="100"/>
          <a:sy n="52" d="100"/>
        </p:scale>
        <p:origin x="737" y="34"/>
      </p:cViewPr>
      <p:guideLst>
        <p:guide orient="horz" pos="2160"/>
        <p:guide pos="3840"/>
      </p:guideLst>
    </p:cSldViewPr>
  </p:slideViewPr>
  <p:notesTextViewPr>
    <p:cViewPr>
      <p:scale>
        <a:sx n="1" d="1"/>
        <a:sy n="1" d="1"/>
      </p:scale>
      <p:origin x="0" y="0"/>
    </p:cViewPr>
  </p:notesTextViewPr>
  <p:sorterViewPr>
    <p:cViewPr>
      <p:scale>
        <a:sx n="42" d="100"/>
        <a:sy n="42"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BC031577-5721-4099-A8DD-A5FBA8B6DDB0}" type="datetimeFigureOut">
              <a:rPr lang="en-US" smtClean="0"/>
              <a:t>4/1/2025</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E09054BB-462B-4B97-BD91-75B19DEDED3E}" type="slidenum">
              <a:rPr lang="en-US" smtClean="0"/>
              <a:t>‹#›</a:t>
            </a:fld>
            <a:endParaRPr lang="en-US"/>
          </a:p>
        </p:txBody>
      </p:sp>
    </p:spTree>
    <p:extLst>
      <p:ext uri="{BB962C8B-B14F-4D97-AF65-F5344CB8AC3E}">
        <p14:creationId xmlns:p14="http://schemas.microsoft.com/office/powerpoint/2010/main" val="4046175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24be3cb2ee_0_1: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24be3cb2ee_0_1: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24be3cb2ee_0_8: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24be3cb2ee_0_8: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24be3cb2ee_0_14: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24be3cb2ee_0_14: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B00-7547-4792-A81C-25F15AE8A7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BED56E-61C4-45EE-9C06-0C24E410FC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B5DD01-1CBE-48E7-9ED9-50BDD8781D75}"/>
              </a:ext>
            </a:extLst>
          </p:cNvPr>
          <p:cNvSpPr>
            <a:spLocks noGrp="1"/>
          </p:cNvSpPr>
          <p:nvPr>
            <p:ph type="dt" sz="half" idx="10"/>
          </p:nvPr>
        </p:nvSpPr>
        <p:spPr/>
        <p:txBody>
          <a:bodyPr/>
          <a:lstStyle/>
          <a:p>
            <a:fld id="{2F4D5645-23AA-4DCF-893C-4CB75AE73D5B}" type="datetimeFigureOut">
              <a:rPr lang="en-US" smtClean="0"/>
              <a:t>4/1/2025</a:t>
            </a:fld>
            <a:endParaRPr lang="en-US"/>
          </a:p>
        </p:txBody>
      </p:sp>
      <p:sp>
        <p:nvSpPr>
          <p:cNvPr id="5" name="Footer Placeholder 4">
            <a:extLst>
              <a:ext uri="{FF2B5EF4-FFF2-40B4-BE49-F238E27FC236}">
                <a16:creationId xmlns:a16="http://schemas.microsoft.com/office/drawing/2014/main" id="{BC72D369-EAC0-4F21-9FF0-654FB290CB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DB676-CE33-4593-9FFC-8C07CF9A8179}"/>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3186215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DF018-18F0-48EA-AD1A-97675E4767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587D3B-E804-47ED-88BB-092661E2F7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B4206B-8C25-4360-8A85-7540149DAE75}"/>
              </a:ext>
            </a:extLst>
          </p:cNvPr>
          <p:cNvSpPr>
            <a:spLocks noGrp="1"/>
          </p:cNvSpPr>
          <p:nvPr>
            <p:ph type="dt" sz="half" idx="10"/>
          </p:nvPr>
        </p:nvSpPr>
        <p:spPr/>
        <p:txBody>
          <a:bodyPr/>
          <a:lstStyle/>
          <a:p>
            <a:fld id="{2F4D5645-23AA-4DCF-893C-4CB75AE73D5B}" type="datetimeFigureOut">
              <a:rPr lang="en-US" smtClean="0"/>
              <a:t>4/1/2025</a:t>
            </a:fld>
            <a:endParaRPr lang="en-US"/>
          </a:p>
        </p:txBody>
      </p:sp>
      <p:sp>
        <p:nvSpPr>
          <p:cNvPr id="5" name="Footer Placeholder 4">
            <a:extLst>
              <a:ext uri="{FF2B5EF4-FFF2-40B4-BE49-F238E27FC236}">
                <a16:creationId xmlns:a16="http://schemas.microsoft.com/office/drawing/2014/main" id="{AA159549-6165-46A4-8E57-CD47DB442B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C36106-2642-429E-9D2A-C3084F173282}"/>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4013159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22011-7EE7-43E0-ABB6-BD75CAD002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D1CF69-B52A-47E0-B418-1DC767AE66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A99CEC-3358-4B09-AFA6-B7DFD07E7FE9}"/>
              </a:ext>
            </a:extLst>
          </p:cNvPr>
          <p:cNvSpPr>
            <a:spLocks noGrp="1"/>
          </p:cNvSpPr>
          <p:nvPr>
            <p:ph type="dt" sz="half" idx="10"/>
          </p:nvPr>
        </p:nvSpPr>
        <p:spPr/>
        <p:txBody>
          <a:bodyPr/>
          <a:lstStyle/>
          <a:p>
            <a:fld id="{2F4D5645-23AA-4DCF-893C-4CB75AE73D5B}" type="datetimeFigureOut">
              <a:rPr lang="en-US" smtClean="0"/>
              <a:t>4/1/2025</a:t>
            </a:fld>
            <a:endParaRPr lang="en-US"/>
          </a:p>
        </p:txBody>
      </p:sp>
      <p:sp>
        <p:nvSpPr>
          <p:cNvPr id="5" name="Footer Placeholder 4">
            <a:extLst>
              <a:ext uri="{FF2B5EF4-FFF2-40B4-BE49-F238E27FC236}">
                <a16:creationId xmlns:a16="http://schemas.microsoft.com/office/drawing/2014/main" id="{259970E1-C59E-4CB0-8B28-D0DBB3837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04582-5D85-40DD-B001-F892B2BF4C62}"/>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2480315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E79FF-74E4-416A-872F-E479E90BB2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4CBD2A-4848-464F-BAB4-FDD9092023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F47ED0-4868-477A-AEC6-293E4B2BAA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2858BD-EF64-469E-BD4F-C0CA14FA5151}"/>
              </a:ext>
            </a:extLst>
          </p:cNvPr>
          <p:cNvSpPr>
            <a:spLocks noGrp="1"/>
          </p:cNvSpPr>
          <p:nvPr>
            <p:ph type="dt" sz="half" idx="10"/>
          </p:nvPr>
        </p:nvSpPr>
        <p:spPr/>
        <p:txBody>
          <a:bodyPr/>
          <a:lstStyle/>
          <a:p>
            <a:fld id="{2F4D5645-23AA-4DCF-893C-4CB75AE73D5B}" type="datetimeFigureOut">
              <a:rPr lang="en-US" smtClean="0"/>
              <a:t>4/1/2025</a:t>
            </a:fld>
            <a:endParaRPr lang="en-US"/>
          </a:p>
        </p:txBody>
      </p:sp>
      <p:sp>
        <p:nvSpPr>
          <p:cNvPr id="6" name="Footer Placeholder 5">
            <a:extLst>
              <a:ext uri="{FF2B5EF4-FFF2-40B4-BE49-F238E27FC236}">
                <a16:creationId xmlns:a16="http://schemas.microsoft.com/office/drawing/2014/main" id="{7E31C73C-EF22-413E-AB01-D74CF168C2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0ED99F-E47E-43D8-8136-36E1F88C8C09}"/>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1851827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2F88D-25DE-4861-8269-BC1AA80804E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123F79-4F45-4657-8C11-9C841F08DD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93E313-2E2B-4B13-AE00-70A44D1693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A1DCF9-02E0-4506-B296-E20DE9D6F3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309B03-61FC-4A65-AA23-8066A570B4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F01659-2AA1-46ED-BF70-B6F166B133B5}"/>
              </a:ext>
            </a:extLst>
          </p:cNvPr>
          <p:cNvSpPr>
            <a:spLocks noGrp="1"/>
          </p:cNvSpPr>
          <p:nvPr>
            <p:ph type="dt" sz="half" idx="10"/>
          </p:nvPr>
        </p:nvSpPr>
        <p:spPr/>
        <p:txBody>
          <a:bodyPr/>
          <a:lstStyle/>
          <a:p>
            <a:fld id="{2F4D5645-23AA-4DCF-893C-4CB75AE73D5B}" type="datetimeFigureOut">
              <a:rPr lang="en-US" smtClean="0"/>
              <a:t>4/1/2025</a:t>
            </a:fld>
            <a:endParaRPr lang="en-US"/>
          </a:p>
        </p:txBody>
      </p:sp>
      <p:sp>
        <p:nvSpPr>
          <p:cNvPr id="8" name="Footer Placeholder 7">
            <a:extLst>
              <a:ext uri="{FF2B5EF4-FFF2-40B4-BE49-F238E27FC236}">
                <a16:creationId xmlns:a16="http://schemas.microsoft.com/office/drawing/2014/main" id="{FA688C36-85B9-4ABF-95C4-7DA05DF25A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F7281D-E3E3-4A4E-933B-B61F23B6BDAF}"/>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2752455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1DA1F-C216-4059-B3F5-50BFC440F2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527C02-2773-4132-9354-607C7B922DAC}"/>
              </a:ext>
            </a:extLst>
          </p:cNvPr>
          <p:cNvSpPr>
            <a:spLocks noGrp="1"/>
          </p:cNvSpPr>
          <p:nvPr>
            <p:ph type="dt" sz="half" idx="10"/>
          </p:nvPr>
        </p:nvSpPr>
        <p:spPr/>
        <p:txBody>
          <a:bodyPr/>
          <a:lstStyle/>
          <a:p>
            <a:fld id="{2F4D5645-23AA-4DCF-893C-4CB75AE73D5B}" type="datetimeFigureOut">
              <a:rPr lang="en-US" smtClean="0"/>
              <a:t>4/1/2025</a:t>
            </a:fld>
            <a:endParaRPr lang="en-US"/>
          </a:p>
        </p:txBody>
      </p:sp>
      <p:sp>
        <p:nvSpPr>
          <p:cNvPr id="4" name="Footer Placeholder 3">
            <a:extLst>
              <a:ext uri="{FF2B5EF4-FFF2-40B4-BE49-F238E27FC236}">
                <a16:creationId xmlns:a16="http://schemas.microsoft.com/office/drawing/2014/main" id="{EB6DC3A1-EC46-4AF5-BC4C-41FEF999F5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A68303-C715-4516-8C17-A64C9A98C61C}"/>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3186893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E2E674-63DB-4A81-AAC5-A599E8FD2254}"/>
              </a:ext>
            </a:extLst>
          </p:cNvPr>
          <p:cNvSpPr>
            <a:spLocks noGrp="1"/>
          </p:cNvSpPr>
          <p:nvPr>
            <p:ph type="dt" sz="half" idx="10"/>
          </p:nvPr>
        </p:nvSpPr>
        <p:spPr/>
        <p:txBody>
          <a:bodyPr/>
          <a:lstStyle/>
          <a:p>
            <a:fld id="{2F4D5645-23AA-4DCF-893C-4CB75AE73D5B}" type="datetimeFigureOut">
              <a:rPr lang="en-US" smtClean="0"/>
              <a:t>4/1/2025</a:t>
            </a:fld>
            <a:endParaRPr lang="en-US"/>
          </a:p>
        </p:txBody>
      </p:sp>
      <p:sp>
        <p:nvSpPr>
          <p:cNvPr id="3" name="Footer Placeholder 2">
            <a:extLst>
              <a:ext uri="{FF2B5EF4-FFF2-40B4-BE49-F238E27FC236}">
                <a16:creationId xmlns:a16="http://schemas.microsoft.com/office/drawing/2014/main" id="{BF477E99-16A7-4C07-9B2D-FE6D34DC4D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8D8D10-8314-418A-8654-0834BE0B3B3B}"/>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4000548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55FDA-C129-4C48-B32E-0A930D3BBD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BC12DC-3A64-4397-8711-82DC608FCF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B0F6B9-AB76-4798-BB69-969F32DCE1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A2B619-25C2-471E-983A-7BC75C73A601}"/>
              </a:ext>
            </a:extLst>
          </p:cNvPr>
          <p:cNvSpPr>
            <a:spLocks noGrp="1"/>
          </p:cNvSpPr>
          <p:nvPr>
            <p:ph type="dt" sz="half" idx="10"/>
          </p:nvPr>
        </p:nvSpPr>
        <p:spPr/>
        <p:txBody>
          <a:bodyPr/>
          <a:lstStyle/>
          <a:p>
            <a:fld id="{2F4D5645-23AA-4DCF-893C-4CB75AE73D5B}" type="datetimeFigureOut">
              <a:rPr lang="en-US" smtClean="0"/>
              <a:t>4/1/2025</a:t>
            </a:fld>
            <a:endParaRPr lang="en-US"/>
          </a:p>
        </p:txBody>
      </p:sp>
      <p:sp>
        <p:nvSpPr>
          <p:cNvPr id="6" name="Footer Placeholder 5">
            <a:extLst>
              <a:ext uri="{FF2B5EF4-FFF2-40B4-BE49-F238E27FC236}">
                <a16:creationId xmlns:a16="http://schemas.microsoft.com/office/drawing/2014/main" id="{B65F96EF-5716-42F8-956A-C69EFEB1F3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E34605-7495-44D4-9DE9-1F2DE3D15449}"/>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901507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7345C-3AC3-446F-9A05-71EB8F7B19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59C4F2-8ABE-48F8-BE4C-5C3ECF0691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02AB2E-C870-49AB-B857-D8B585EBD2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0B84E9-12A2-4186-8BBC-6E3B5ACD4DE0}"/>
              </a:ext>
            </a:extLst>
          </p:cNvPr>
          <p:cNvSpPr>
            <a:spLocks noGrp="1"/>
          </p:cNvSpPr>
          <p:nvPr>
            <p:ph type="dt" sz="half" idx="10"/>
          </p:nvPr>
        </p:nvSpPr>
        <p:spPr/>
        <p:txBody>
          <a:bodyPr/>
          <a:lstStyle/>
          <a:p>
            <a:fld id="{2F4D5645-23AA-4DCF-893C-4CB75AE73D5B}" type="datetimeFigureOut">
              <a:rPr lang="en-US" smtClean="0"/>
              <a:t>4/1/2025</a:t>
            </a:fld>
            <a:endParaRPr lang="en-US"/>
          </a:p>
        </p:txBody>
      </p:sp>
      <p:sp>
        <p:nvSpPr>
          <p:cNvPr id="6" name="Footer Placeholder 5">
            <a:extLst>
              <a:ext uri="{FF2B5EF4-FFF2-40B4-BE49-F238E27FC236}">
                <a16:creationId xmlns:a16="http://schemas.microsoft.com/office/drawing/2014/main" id="{7D6CF9BC-B01F-4ACC-B3A1-D543FBE7E6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3DE915-3C30-4FE0-9B71-A8B16AA9F3A7}"/>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373343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B3538-2230-4441-AAE3-B9FA1613D7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644754-BFAA-4BDA-B7FE-0329951EDC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4D930-A630-4BD1-8758-69063986E595}"/>
              </a:ext>
            </a:extLst>
          </p:cNvPr>
          <p:cNvSpPr>
            <a:spLocks noGrp="1"/>
          </p:cNvSpPr>
          <p:nvPr>
            <p:ph type="dt" sz="half" idx="10"/>
          </p:nvPr>
        </p:nvSpPr>
        <p:spPr/>
        <p:txBody>
          <a:bodyPr/>
          <a:lstStyle/>
          <a:p>
            <a:fld id="{2F4D5645-23AA-4DCF-893C-4CB75AE73D5B}" type="datetimeFigureOut">
              <a:rPr lang="en-US" smtClean="0"/>
              <a:t>4/1/2025</a:t>
            </a:fld>
            <a:endParaRPr lang="en-US"/>
          </a:p>
        </p:txBody>
      </p:sp>
      <p:sp>
        <p:nvSpPr>
          <p:cNvPr id="5" name="Footer Placeholder 4">
            <a:extLst>
              <a:ext uri="{FF2B5EF4-FFF2-40B4-BE49-F238E27FC236}">
                <a16:creationId xmlns:a16="http://schemas.microsoft.com/office/drawing/2014/main" id="{A7A3E5D0-E650-4BCC-8DA6-FC652DE3B4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56A9B5-7809-4F98-AD87-C04741281926}"/>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63887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A51487-EADC-441E-BE71-59BF59E57A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F626D7-10FE-4F5A-9DB5-975D15AFEA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B926DC-5B8F-4DD1-AB13-A86948C2E114}"/>
              </a:ext>
            </a:extLst>
          </p:cNvPr>
          <p:cNvSpPr>
            <a:spLocks noGrp="1"/>
          </p:cNvSpPr>
          <p:nvPr>
            <p:ph type="dt" sz="half" idx="10"/>
          </p:nvPr>
        </p:nvSpPr>
        <p:spPr/>
        <p:txBody>
          <a:bodyPr/>
          <a:lstStyle/>
          <a:p>
            <a:fld id="{2F4D5645-23AA-4DCF-893C-4CB75AE73D5B}" type="datetimeFigureOut">
              <a:rPr lang="en-US" smtClean="0"/>
              <a:t>4/1/2025</a:t>
            </a:fld>
            <a:endParaRPr lang="en-US"/>
          </a:p>
        </p:txBody>
      </p:sp>
      <p:sp>
        <p:nvSpPr>
          <p:cNvPr id="5" name="Footer Placeholder 4">
            <a:extLst>
              <a:ext uri="{FF2B5EF4-FFF2-40B4-BE49-F238E27FC236}">
                <a16:creationId xmlns:a16="http://schemas.microsoft.com/office/drawing/2014/main" id="{5C3FFB2A-C15B-4027-9424-502EE2E512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FC29A2-F86C-4BAC-8D3B-436F2ED60987}"/>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63760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48029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26195D-2D55-4550-B834-EA3BAEEE93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5B45E7-9B25-4B24-ADEC-430D33F9D5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1B3896-4739-49B7-9E75-53DF501F6B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4D5645-23AA-4DCF-893C-4CB75AE73D5B}" type="datetimeFigureOut">
              <a:rPr lang="en-US" smtClean="0"/>
              <a:t>4/1/2025</a:t>
            </a:fld>
            <a:endParaRPr lang="en-US"/>
          </a:p>
        </p:txBody>
      </p:sp>
      <p:sp>
        <p:nvSpPr>
          <p:cNvPr id="5" name="Footer Placeholder 4">
            <a:extLst>
              <a:ext uri="{FF2B5EF4-FFF2-40B4-BE49-F238E27FC236}">
                <a16:creationId xmlns:a16="http://schemas.microsoft.com/office/drawing/2014/main" id="{4FB0AA0A-F9D4-42B4-8028-46DB159B98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E7C39B-6132-4232-B090-D331833644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E49F46-903B-4DEA-A244-FFDEE93D2D96}" type="slidenum">
              <a:rPr lang="en-US" smtClean="0"/>
              <a:t>‹#›</a:t>
            </a:fld>
            <a:endParaRPr lang="en-US"/>
          </a:p>
        </p:txBody>
      </p:sp>
    </p:spTree>
    <p:extLst>
      <p:ext uri="{BB962C8B-B14F-4D97-AF65-F5344CB8AC3E}">
        <p14:creationId xmlns:p14="http://schemas.microsoft.com/office/powerpoint/2010/main" val="52117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7337B-71E6-4DDF-B454-86FB8D0BC88B}"/>
              </a:ext>
            </a:extLst>
          </p:cNvPr>
          <p:cNvSpPr>
            <a:spLocks noGrp="1"/>
          </p:cNvSpPr>
          <p:nvPr>
            <p:ph type="ctrTitle"/>
          </p:nvPr>
        </p:nvSpPr>
        <p:spPr/>
        <p:txBody>
          <a:bodyPr>
            <a:normAutofit fontScale="90000"/>
          </a:bodyPr>
          <a:lstStyle/>
          <a:p>
            <a:r>
              <a:rPr lang="en-US" dirty="0"/>
              <a:t>WCNPO Striped Marlin Rebuilding Scenarios</a:t>
            </a:r>
            <a:br>
              <a:rPr lang="en-US" dirty="0"/>
            </a:br>
            <a:r>
              <a:rPr lang="en-US" sz="4000" dirty="0"/>
              <a:t>Using 2020 Catch Proportions by </a:t>
            </a:r>
            <a:r>
              <a:rPr lang="en-US" sz="4000"/>
              <a:t>Fleet Group</a:t>
            </a:r>
            <a:endParaRPr lang="en-US" dirty="0"/>
          </a:p>
        </p:txBody>
      </p:sp>
      <p:sp>
        <p:nvSpPr>
          <p:cNvPr id="3" name="Subtitle 2">
            <a:extLst>
              <a:ext uri="{FF2B5EF4-FFF2-40B4-BE49-F238E27FC236}">
                <a16:creationId xmlns:a16="http://schemas.microsoft.com/office/drawing/2014/main" id="{1AB8104F-5D59-43ED-BB09-A2350CCBB4C9}"/>
              </a:ext>
            </a:extLst>
          </p:cNvPr>
          <p:cNvSpPr>
            <a:spLocks noGrp="1"/>
          </p:cNvSpPr>
          <p:nvPr>
            <p:ph type="subTitle" idx="1"/>
          </p:nvPr>
        </p:nvSpPr>
        <p:spPr/>
        <p:txBody>
          <a:bodyPr/>
          <a:lstStyle/>
          <a:p>
            <a:r>
              <a:rPr lang="en-US" dirty="0"/>
              <a:t>Jon Brodziak</a:t>
            </a:r>
          </a:p>
          <a:p>
            <a:r>
              <a:rPr lang="en-US" dirty="0"/>
              <a:t>NOAA Fisheries</a:t>
            </a:r>
          </a:p>
          <a:p>
            <a:r>
              <a:rPr lang="en-US" dirty="0"/>
              <a:t>Jon.Brodziak@NOAA.GOV</a:t>
            </a:r>
          </a:p>
        </p:txBody>
      </p:sp>
    </p:spTree>
    <p:extLst>
      <p:ext uri="{BB962C8B-B14F-4D97-AF65-F5344CB8AC3E}">
        <p14:creationId xmlns:p14="http://schemas.microsoft.com/office/powerpoint/2010/main" val="103445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415600" y="162442"/>
            <a:ext cx="11360800" cy="763600"/>
          </a:xfrm>
          <a:prstGeom prst="rect">
            <a:avLst/>
          </a:prstGeom>
        </p:spPr>
        <p:txBody>
          <a:bodyPr spcFirstLastPara="1" vert="horz" wrap="square" lIns="121900" tIns="121900" rIns="121900" bIns="121900" rtlCol="0" anchor="t" anchorCtr="0">
            <a:normAutofit/>
          </a:bodyPr>
          <a:lstStyle/>
          <a:p>
            <a:pPr algn="ctr"/>
            <a:r>
              <a:rPr lang="en" sz="3200" dirty="0"/>
              <a:t>CMM 2024-06 Revision to CMM 2010-01 for NP MLS</a:t>
            </a:r>
            <a:endParaRPr sz="3200" dirty="0"/>
          </a:p>
        </p:txBody>
      </p:sp>
      <p:sp>
        <p:nvSpPr>
          <p:cNvPr id="55" name="Google Shape;55;p13"/>
          <p:cNvSpPr txBox="1">
            <a:spLocks noGrp="1"/>
          </p:cNvSpPr>
          <p:nvPr>
            <p:ph type="body" idx="1"/>
          </p:nvPr>
        </p:nvSpPr>
        <p:spPr>
          <a:xfrm>
            <a:off x="0" y="1536632"/>
            <a:ext cx="7837715" cy="5321368"/>
          </a:xfrm>
          <a:prstGeom prst="rect">
            <a:avLst/>
          </a:prstGeom>
        </p:spPr>
        <p:txBody>
          <a:bodyPr spcFirstLastPara="1" vert="horz" wrap="square" lIns="121900" tIns="121900" rIns="121900" bIns="121900" rtlCol="0" anchor="t" anchorCtr="0">
            <a:normAutofit fontScale="92500" lnSpcReduction="10000"/>
          </a:bodyPr>
          <a:lstStyle/>
          <a:p>
            <a:pPr indent="-445758">
              <a:buSzPct val="100000"/>
            </a:pPr>
            <a:r>
              <a:rPr lang="en" dirty="0"/>
              <a:t>Maximum catch limit of 2400 mt</a:t>
            </a:r>
            <a:endParaRPr dirty="0"/>
          </a:p>
          <a:p>
            <a:pPr indent="-445758">
              <a:buSzPct val="100000"/>
            </a:pPr>
            <a:r>
              <a:rPr lang="en" dirty="0"/>
              <a:t>In 2025-2027, each country can take up to 165 mt additional to their individual limit if the catch limit in 2023-2025 is not reached</a:t>
            </a:r>
            <a:endParaRPr dirty="0"/>
          </a:p>
          <a:p>
            <a:pPr lvl="1" indent="-414432">
              <a:buSzPct val="100000"/>
            </a:pPr>
            <a:r>
              <a:rPr lang="en" dirty="0"/>
              <a:t>In 2023 there was an underage of 826mt therefore countries are allowed to increase their limit by 165mt in 2025.</a:t>
            </a:r>
            <a:endParaRPr dirty="0"/>
          </a:p>
          <a:p>
            <a:pPr lvl="1" indent="-414432">
              <a:buSzPct val="100000"/>
            </a:pPr>
            <a:r>
              <a:rPr lang="en" dirty="0"/>
              <a:t>Any underage in 2024 can be applied to 2026, and 2025 to 2027.</a:t>
            </a:r>
            <a:endParaRPr dirty="0"/>
          </a:p>
          <a:p>
            <a:pPr indent="-445758">
              <a:buSzPct val="100000"/>
            </a:pPr>
            <a:r>
              <a:rPr lang="en" dirty="0"/>
              <a:t>No country is allowed to increase their catch by more than 165 mt.</a:t>
            </a:r>
            <a:endParaRPr dirty="0"/>
          </a:p>
          <a:p>
            <a:pPr indent="-445758">
              <a:buSzPct val="100000"/>
            </a:pPr>
            <a:r>
              <a:rPr lang="en" dirty="0"/>
              <a:t>If underage is less than 826 mt, then there will be decisions made about who gets that extra catch (not our problem)</a:t>
            </a:r>
            <a:endParaRPr dirty="0"/>
          </a:p>
          <a:p>
            <a:pPr indent="-445758">
              <a:buSzPct val="100000"/>
            </a:pPr>
            <a:r>
              <a:rPr lang="en" dirty="0"/>
              <a:t>Overage for each country is subtracted from their next year’s individual limit</a:t>
            </a:r>
            <a:endParaRPr dirty="0"/>
          </a:p>
        </p:txBody>
      </p:sp>
      <p:graphicFrame>
        <p:nvGraphicFramePr>
          <p:cNvPr id="56" name="Google Shape;56;p13"/>
          <p:cNvGraphicFramePr/>
          <p:nvPr>
            <p:extLst>
              <p:ext uri="{D42A27DB-BD31-4B8C-83A1-F6EECF244321}">
                <p14:modId xmlns:p14="http://schemas.microsoft.com/office/powerpoint/2010/main" val="2579184875"/>
              </p:ext>
            </p:extLst>
          </p:nvPr>
        </p:nvGraphicFramePr>
        <p:xfrm>
          <a:off x="8098400" y="1168771"/>
          <a:ext cx="3678000" cy="5608000"/>
        </p:xfrm>
        <a:graphic>
          <a:graphicData uri="http://schemas.openxmlformats.org/drawingml/2006/table">
            <a:tbl>
              <a:tblPr>
                <a:noFill/>
              </a:tblPr>
              <a:tblGrid>
                <a:gridCol w="1839000">
                  <a:extLst>
                    <a:ext uri="{9D8B030D-6E8A-4147-A177-3AD203B41FA5}">
                      <a16:colId xmlns:a16="http://schemas.microsoft.com/office/drawing/2014/main" val="20000"/>
                    </a:ext>
                  </a:extLst>
                </a:gridCol>
                <a:gridCol w="1839000">
                  <a:extLst>
                    <a:ext uri="{9D8B030D-6E8A-4147-A177-3AD203B41FA5}">
                      <a16:colId xmlns:a16="http://schemas.microsoft.com/office/drawing/2014/main" val="20001"/>
                    </a:ext>
                  </a:extLst>
                </a:gridCol>
              </a:tblGrid>
              <a:tr h="609560">
                <a:tc>
                  <a:txBody>
                    <a:bodyPr/>
                    <a:lstStyle/>
                    <a:p>
                      <a:pPr marL="0" lvl="0" indent="0" algn="l" rtl="0">
                        <a:spcBef>
                          <a:spcPts val="0"/>
                        </a:spcBef>
                        <a:spcAft>
                          <a:spcPts val="0"/>
                        </a:spcAft>
                        <a:buNone/>
                      </a:pPr>
                      <a:r>
                        <a:rPr lang="en" sz="2400" b="1"/>
                        <a:t>Country</a:t>
                      </a:r>
                      <a:endParaRPr sz="2400" b="1"/>
                    </a:p>
                  </a:txBody>
                  <a:tcPr marL="121900" marR="121900" marT="121900" marB="121900"/>
                </a:tc>
                <a:tc>
                  <a:txBody>
                    <a:bodyPr/>
                    <a:lstStyle/>
                    <a:p>
                      <a:pPr marL="0" lvl="0" indent="0" algn="l" rtl="0">
                        <a:spcBef>
                          <a:spcPts val="0"/>
                        </a:spcBef>
                        <a:spcAft>
                          <a:spcPts val="0"/>
                        </a:spcAft>
                        <a:buNone/>
                      </a:pPr>
                      <a:r>
                        <a:rPr lang="en" sz="2400" b="1"/>
                        <a:t>Catch Limit</a:t>
                      </a:r>
                      <a:endParaRPr sz="2400" b="1"/>
                    </a:p>
                  </a:txBody>
                  <a:tcPr marL="121900" marR="121900" marT="121900" marB="121900"/>
                </a:tc>
                <a:extLst>
                  <a:ext uri="{0D108BD9-81ED-4DB2-BD59-A6C34878D82A}">
                    <a16:rowId xmlns:a16="http://schemas.microsoft.com/office/drawing/2014/main" val="10000"/>
                  </a:ext>
                </a:extLst>
              </a:tr>
              <a:tr h="609560">
                <a:tc>
                  <a:txBody>
                    <a:bodyPr/>
                    <a:lstStyle/>
                    <a:p>
                      <a:pPr marL="0" lvl="0" indent="0" algn="l" rtl="0">
                        <a:spcBef>
                          <a:spcPts val="0"/>
                        </a:spcBef>
                        <a:spcAft>
                          <a:spcPts val="0"/>
                        </a:spcAft>
                        <a:buNone/>
                      </a:pPr>
                      <a:r>
                        <a:rPr lang="en" sz="2400"/>
                        <a:t>Japan</a:t>
                      </a:r>
                      <a:endParaRPr sz="2400"/>
                    </a:p>
                  </a:txBody>
                  <a:tcPr marL="121900" marR="121900" marT="121900" marB="121900"/>
                </a:tc>
                <a:tc>
                  <a:txBody>
                    <a:bodyPr/>
                    <a:lstStyle/>
                    <a:p>
                      <a:pPr marL="0" lvl="0" indent="0" algn="l" rtl="0">
                        <a:spcBef>
                          <a:spcPts val="0"/>
                        </a:spcBef>
                        <a:spcAft>
                          <a:spcPts val="0"/>
                        </a:spcAft>
                        <a:buNone/>
                      </a:pPr>
                      <a:r>
                        <a:rPr lang="en" sz="2400"/>
                        <a:t>1454.4mt</a:t>
                      </a:r>
                      <a:endParaRPr sz="2400"/>
                    </a:p>
                  </a:txBody>
                  <a:tcPr marL="121900" marR="121900" marT="121900" marB="121900"/>
                </a:tc>
                <a:extLst>
                  <a:ext uri="{0D108BD9-81ED-4DB2-BD59-A6C34878D82A}">
                    <a16:rowId xmlns:a16="http://schemas.microsoft.com/office/drawing/2014/main" val="10001"/>
                  </a:ext>
                </a:extLst>
              </a:tr>
              <a:tr h="975320">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l" rtl="0">
                        <a:spcBef>
                          <a:spcPts val="0"/>
                        </a:spcBef>
                        <a:spcAft>
                          <a:spcPts val="0"/>
                        </a:spcAft>
                        <a:buNone/>
                      </a:pPr>
                      <a:r>
                        <a:rPr lang="en" sz="2400"/>
                        <a:t>358.4mt</a:t>
                      </a:r>
                      <a:endParaRPr sz="2400"/>
                    </a:p>
                  </a:txBody>
                  <a:tcPr marL="121900" marR="121900" marT="121900" marB="121900"/>
                </a:tc>
                <a:extLst>
                  <a:ext uri="{0D108BD9-81ED-4DB2-BD59-A6C34878D82A}">
                    <a16:rowId xmlns:a16="http://schemas.microsoft.com/office/drawing/2014/main" val="10002"/>
                  </a:ext>
                </a:extLst>
              </a:tr>
              <a:tr h="609560">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l" rtl="0">
                        <a:spcBef>
                          <a:spcPts val="0"/>
                        </a:spcBef>
                        <a:spcAft>
                          <a:spcPts val="0"/>
                        </a:spcAft>
                        <a:buNone/>
                      </a:pPr>
                      <a:r>
                        <a:rPr lang="en" sz="2400"/>
                        <a:t>214.8mt</a:t>
                      </a:r>
                      <a:endParaRPr sz="2400"/>
                    </a:p>
                  </a:txBody>
                  <a:tcPr marL="121900" marR="121900" marT="121900" marB="121900"/>
                </a:tc>
                <a:extLst>
                  <a:ext uri="{0D108BD9-81ED-4DB2-BD59-A6C34878D82A}">
                    <a16:rowId xmlns:a16="http://schemas.microsoft.com/office/drawing/2014/main" val="10003"/>
                  </a:ext>
                </a:extLst>
              </a:tr>
              <a:tr h="975320">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l" rtl="0">
                        <a:spcBef>
                          <a:spcPts val="0"/>
                        </a:spcBef>
                        <a:spcAft>
                          <a:spcPts val="0"/>
                        </a:spcAft>
                        <a:buNone/>
                      </a:pPr>
                      <a:r>
                        <a:rPr lang="en" sz="2400"/>
                        <a:t>228.4mt</a:t>
                      </a:r>
                      <a:endParaRPr sz="2400"/>
                    </a:p>
                  </a:txBody>
                  <a:tcPr marL="121900" marR="121900" marT="121900" marB="121900"/>
                </a:tc>
                <a:extLst>
                  <a:ext uri="{0D108BD9-81ED-4DB2-BD59-A6C34878D82A}">
                    <a16:rowId xmlns:a16="http://schemas.microsoft.com/office/drawing/2014/main" val="10004"/>
                  </a:ext>
                </a:extLst>
              </a:tr>
              <a:tr h="609560">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l" rtl="0">
                        <a:spcBef>
                          <a:spcPts val="0"/>
                        </a:spcBef>
                        <a:spcAft>
                          <a:spcPts val="0"/>
                        </a:spcAft>
                        <a:buNone/>
                      </a:pPr>
                      <a:r>
                        <a:rPr lang="en" sz="2400"/>
                        <a:t>68.8 mt</a:t>
                      </a:r>
                      <a:endParaRPr sz="2400"/>
                    </a:p>
                  </a:txBody>
                  <a:tcPr marL="121900" marR="121900" marT="121900" marB="121900"/>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l" rtl="0">
                        <a:spcBef>
                          <a:spcPts val="0"/>
                        </a:spcBef>
                        <a:spcAft>
                          <a:spcPts val="0"/>
                        </a:spcAft>
                        <a:buNone/>
                      </a:pPr>
                      <a:r>
                        <a:rPr lang="en" sz="2400"/>
                        <a:t>75.2 mt</a:t>
                      </a:r>
                      <a:endParaRPr sz="2400"/>
                    </a:p>
                  </a:txBody>
                  <a:tcPr marL="121900" marR="121900" marT="121900" marB="121900"/>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415600" y="0"/>
            <a:ext cx="11360800" cy="763600"/>
          </a:xfrm>
          <a:prstGeom prst="rect">
            <a:avLst/>
          </a:prstGeom>
        </p:spPr>
        <p:txBody>
          <a:bodyPr spcFirstLastPara="1" vert="horz" wrap="square" lIns="121900" tIns="121900" rIns="121900" bIns="121900" rtlCol="0" anchor="t" anchorCtr="0">
            <a:normAutofit/>
          </a:bodyPr>
          <a:lstStyle/>
          <a:p>
            <a:pPr algn="ctr"/>
            <a:r>
              <a:rPr lang="en" sz="3200" dirty="0"/>
              <a:t>Scenario 1. CMM 2024-06 Catch Limits</a:t>
            </a:r>
            <a:endParaRPr sz="3200" dirty="0"/>
          </a:p>
        </p:txBody>
      </p:sp>
      <p:graphicFrame>
        <p:nvGraphicFramePr>
          <p:cNvPr id="62" name="Google Shape;62;p14"/>
          <p:cNvGraphicFramePr/>
          <p:nvPr>
            <p:extLst>
              <p:ext uri="{D42A27DB-BD31-4B8C-83A1-F6EECF244321}">
                <p14:modId xmlns:p14="http://schemas.microsoft.com/office/powerpoint/2010/main" val="1750460927"/>
              </p:ext>
            </p:extLst>
          </p:nvPr>
        </p:nvGraphicFramePr>
        <p:xfrm>
          <a:off x="1665534" y="763600"/>
          <a:ext cx="8860932" cy="4876480"/>
        </p:xfrm>
        <a:graphic>
          <a:graphicData uri="http://schemas.openxmlformats.org/drawingml/2006/table">
            <a:tbl>
              <a:tblPr>
                <a:noFill/>
              </a:tblPr>
              <a:tblGrid>
                <a:gridCol w="2215233">
                  <a:extLst>
                    <a:ext uri="{9D8B030D-6E8A-4147-A177-3AD203B41FA5}">
                      <a16:colId xmlns:a16="http://schemas.microsoft.com/office/drawing/2014/main" val="20000"/>
                    </a:ext>
                  </a:extLst>
                </a:gridCol>
                <a:gridCol w="2215233">
                  <a:extLst>
                    <a:ext uri="{9D8B030D-6E8A-4147-A177-3AD203B41FA5}">
                      <a16:colId xmlns:a16="http://schemas.microsoft.com/office/drawing/2014/main" val="20001"/>
                    </a:ext>
                  </a:extLst>
                </a:gridCol>
                <a:gridCol w="2215233">
                  <a:extLst>
                    <a:ext uri="{9D8B030D-6E8A-4147-A177-3AD203B41FA5}">
                      <a16:colId xmlns:a16="http://schemas.microsoft.com/office/drawing/2014/main" val="20002"/>
                    </a:ext>
                  </a:extLst>
                </a:gridCol>
                <a:gridCol w="2215233">
                  <a:extLst>
                    <a:ext uri="{9D8B030D-6E8A-4147-A177-3AD203B41FA5}">
                      <a16:colId xmlns:a16="http://schemas.microsoft.com/office/drawing/2014/main" val="20003"/>
                    </a:ext>
                  </a:extLst>
                </a:gridCol>
              </a:tblGrid>
              <a:tr h="609560">
                <a:tc>
                  <a:txBody>
                    <a:bodyPr/>
                    <a:lstStyle/>
                    <a:p>
                      <a:pPr marL="0" lvl="0" indent="0" algn="l" rtl="0">
                        <a:spcBef>
                          <a:spcPts val="0"/>
                        </a:spcBef>
                        <a:spcAft>
                          <a:spcPts val="0"/>
                        </a:spcAft>
                        <a:buNone/>
                      </a:pPr>
                      <a:r>
                        <a:rPr lang="en" sz="2400" b="1"/>
                        <a:t>Country</a:t>
                      </a:r>
                      <a:endParaRPr sz="2400" b="1"/>
                    </a:p>
                  </a:txBody>
                  <a:tcPr marL="121900" marR="121900" marT="121900" marB="121900"/>
                </a:tc>
                <a:tc>
                  <a:txBody>
                    <a:bodyPr/>
                    <a:lstStyle/>
                    <a:p>
                      <a:pPr marL="0" lvl="0" indent="0" algn="l" rtl="0">
                        <a:spcBef>
                          <a:spcPts val="0"/>
                        </a:spcBef>
                        <a:spcAft>
                          <a:spcPts val="0"/>
                        </a:spcAft>
                        <a:buNone/>
                      </a:pPr>
                      <a:r>
                        <a:rPr lang="en" sz="2400" b="1" dirty="0"/>
                        <a:t>2025</a:t>
                      </a:r>
                      <a:endParaRPr sz="2400" b="1" dirty="0"/>
                    </a:p>
                  </a:txBody>
                  <a:tcPr marL="121900" marR="121900" marT="121900" marB="121900"/>
                </a:tc>
                <a:tc>
                  <a:txBody>
                    <a:bodyPr/>
                    <a:lstStyle/>
                    <a:p>
                      <a:pPr marL="0" lvl="0" indent="0" algn="l" rtl="0">
                        <a:spcBef>
                          <a:spcPts val="0"/>
                        </a:spcBef>
                        <a:spcAft>
                          <a:spcPts val="0"/>
                        </a:spcAft>
                        <a:buNone/>
                      </a:pPr>
                      <a:r>
                        <a:rPr lang="en" sz="2400" b="1"/>
                        <a:t>2026</a:t>
                      </a:r>
                      <a:endParaRPr sz="2400" b="1"/>
                    </a:p>
                  </a:txBody>
                  <a:tcPr marL="121900" marR="121900" marT="121900" marB="121900">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a:t>2027</a:t>
                      </a:r>
                      <a:endParaRPr sz="2400" b="1"/>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609560">
                <a:tc>
                  <a:txBody>
                    <a:bodyPr/>
                    <a:lstStyle/>
                    <a:p>
                      <a:pPr marL="0" lvl="0" indent="0" algn="l" rtl="0">
                        <a:spcBef>
                          <a:spcPts val="0"/>
                        </a:spcBef>
                        <a:spcAft>
                          <a:spcPts val="0"/>
                        </a:spcAft>
                        <a:buNone/>
                      </a:pPr>
                      <a:r>
                        <a:rPr lang="en" sz="2400"/>
                        <a:t>Japan</a:t>
                      </a:r>
                      <a:endParaRPr sz="2400"/>
                    </a:p>
                  </a:txBody>
                  <a:tcPr marL="121900" marR="121900" marT="121900" marB="121900"/>
                </a:tc>
                <a:tc>
                  <a:txBody>
                    <a:bodyPr/>
                    <a:lstStyle/>
                    <a:p>
                      <a:pPr marL="0" lvl="0" indent="0" algn="l" rtl="0">
                        <a:spcBef>
                          <a:spcPts val="0"/>
                        </a:spcBef>
                        <a:spcAft>
                          <a:spcPts val="0"/>
                        </a:spcAft>
                        <a:buNone/>
                      </a:pPr>
                      <a:r>
                        <a:rPr lang="en" sz="2400" dirty="0"/>
                        <a:t>1454.4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609560">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l" rtl="0">
                        <a:spcBef>
                          <a:spcPts val="0"/>
                        </a:spcBef>
                        <a:spcAft>
                          <a:spcPts val="0"/>
                        </a:spcAft>
                        <a:buNone/>
                      </a:pPr>
                      <a:r>
                        <a:rPr lang="en" sz="2400" dirty="0"/>
                        <a:t>358.4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609560">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l" rtl="0">
                        <a:spcBef>
                          <a:spcPts val="0"/>
                        </a:spcBef>
                        <a:spcAft>
                          <a:spcPts val="0"/>
                        </a:spcAft>
                        <a:buNone/>
                      </a:pPr>
                      <a:r>
                        <a:rPr lang="en" sz="2400" dirty="0"/>
                        <a:t>214.8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09560">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l" rtl="0">
                        <a:spcBef>
                          <a:spcPts val="0"/>
                        </a:spcBef>
                        <a:spcAft>
                          <a:spcPts val="0"/>
                        </a:spcAft>
                        <a:buNone/>
                      </a:pPr>
                      <a:r>
                        <a:rPr lang="en" sz="2400" dirty="0"/>
                        <a:t>228.4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609560">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l" rtl="0">
                        <a:spcBef>
                          <a:spcPts val="0"/>
                        </a:spcBef>
                        <a:spcAft>
                          <a:spcPts val="0"/>
                        </a:spcAft>
                        <a:buNone/>
                      </a:pPr>
                      <a:r>
                        <a:rPr lang="en" sz="2400"/>
                        <a:t>68.8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l" rtl="0">
                        <a:spcBef>
                          <a:spcPts val="0"/>
                        </a:spcBef>
                        <a:spcAft>
                          <a:spcPts val="0"/>
                        </a:spcAft>
                        <a:buNone/>
                      </a:pPr>
                      <a:r>
                        <a:rPr lang="en" sz="2400"/>
                        <a:t>75.2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l" rtl="0">
                        <a:spcBef>
                          <a:spcPts val="0"/>
                        </a:spcBef>
                        <a:spcAft>
                          <a:spcPts val="0"/>
                        </a:spcAft>
                        <a:buNone/>
                      </a:pPr>
                      <a:r>
                        <a:rPr lang="en" sz="2400" b="1"/>
                        <a:t>2400 mt</a:t>
                      </a:r>
                      <a:endParaRPr sz="2400" b="1"/>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b="1"/>
                        <a:t>2400 mt</a:t>
                      </a:r>
                      <a:endParaRPr sz="2400" b="1"/>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63" name="Google Shape;63;p14"/>
          <p:cNvSpPr txBox="1"/>
          <p:nvPr/>
        </p:nvSpPr>
        <p:spPr>
          <a:xfrm>
            <a:off x="108401" y="5640080"/>
            <a:ext cx="10418065" cy="1217920"/>
          </a:xfrm>
          <a:prstGeom prst="rect">
            <a:avLst/>
          </a:prstGeom>
          <a:noFill/>
          <a:ln>
            <a:noFill/>
          </a:ln>
        </p:spPr>
        <p:txBody>
          <a:bodyPr spcFirstLastPara="1" wrap="square" lIns="121900" tIns="121900" rIns="121900" bIns="121900" anchor="t" anchorCtr="0">
            <a:noAutofit/>
          </a:bodyPr>
          <a:lstStyle/>
          <a:p>
            <a:pPr marL="609585" indent="-423323">
              <a:buClr>
                <a:schemeClr val="dk2"/>
              </a:buClr>
              <a:buSzPts val="1400"/>
              <a:buChar char="●"/>
            </a:pPr>
            <a:r>
              <a:rPr lang="en" sz="1600" dirty="0">
                <a:solidFill>
                  <a:schemeClr val="dk2"/>
                </a:solidFill>
              </a:rPr>
              <a:t>For countries which are represented by more than one fleet in the rebuilding analysis, catch would be distributed between fleets based upon the proportion of catch for each fleet in 2020 (last year of the assessment)</a:t>
            </a:r>
            <a:endParaRPr sz="1600" dirty="0">
              <a:solidFill>
                <a:schemeClr val="dk2"/>
              </a:solidFill>
            </a:endParaRPr>
          </a:p>
          <a:p>
            <a:pPr marL="609585" indent="-423323">
              <a:buClr>
                <a:schemeClr val="dk2"/>
              </a:buClr>
              <a:buSzPts val="1400"/>
              <a:buChar char="●"/>
            </a:pPr>
            <a:r>
              <a:rPr lang="en" sz="1600" dirty="0">
                <a:solidFill>
                  <a:schemeClr val="dk2"/>
                </a:solidFill>
              </a:rPr>
              <a:t>For 2021-2022, catch would be updated to reported (yearbook catch) from WCPFC, and 2023-2024 would be carryover catch from 2022 if updated catch is not available.</a:t>
            </a:r>
            <a:endParaRPr sz="1600" dirty="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92400" y="0"/>
            <a:ext cx="12284400" cy="763600"/>
          </a:xfrm>
          <a:prstGeom prst="rect">
            <a:avLst/>
          </a:prstGeom>
        </p:spPr>
        <p:txBody>
          <a:bodyPr spcFirstLastPara="1" vert="horz" wrap="square" lIns="121900" tIns="121900" rIns="121900" bIns="121900" rtlCol="0" anchor="t" anchorCtr="0">
            <a:normAutofit/>
          </a:bodyPr>
          <a:lstStyle/>
          <a:p>
            <a:pPr algn="ctr"/>
            <a:r>
              <a:rPr lang="en" sz="3200" dirty="0"/>
              <a:t>Scenario 2. CMM 2024-06 Catch Limits with 2025 Carryover</a:t>
            </a:r>
            <a:endParaRPr sz="3200" dirty="0"/>
          </a:p>
        </p:txBody>
      </p:sp>
      <p:graphicFrame>
        <p:nvGraphicFramePr>
          <p:cNvPr id="69" name="Google Shape;69;p15"/>
          <p:cNvGraphicFramePr/>
          <p:nvPr>
            <p:extLst>
              <p:ext uri="{D42A27DB-BD31-4B8C-83A1-F6EECF244321}">
                <p14:modId xmlns:p14="http://schemas.microsoft.com/office/powerpoint/2010/main" val="1983984145"/>
              </p:ext>
            </p:extLst>
          </p:nvPr>
        </p:nvGraphicFramePr>
        <p:xfrm>
          <a:off x="1508976" y="646774"/>
          <a:ext cx="8860932" cy="4876480"/>
        </p:xfrm>
        <a:graphic>
          <a:graphicData uri="http://schemas.openxmlformats.org/drawingml/2006/table">
            <a:tbl>
              <a:tblPr>
                <a:noFill/>
              </a:tblPr>
              <a:tblGrid>
                <a:gridCol w="2215233">
                  <a:extLst>
                    <a:ext uri="{9D8B030D-6E8A-4147-A177-3AD203B41FA5}">
                      <a16:colId xmlns:a16="http://schemas.microsoft.com/office/drawing/2014/main" val="20000"/>
                    </a:ext>
                  </a:extLst>
                </a:gridCol>
                <a:gridCol w="2802715">
                  <a:extLst>
                    <a:ext uri="{9D8B030D-6E8A-4147-A177-3AD203B41FA5}">
                      <a16:colId xmlns:a16="http://schemas.microsoft.com/office/drawing/2014/main" val="20001"/>
                    </a:ext>
                  </a:extLst>
                </a:gridCol>
                <a:gridCol w="1627751">
                  <a:extLst>
                    <a:ext uri="{9D8B030D-6E8A-4147-A177-3AD203B41FA5}">
                      <a16:colId xmlns:a16="http://schemas.microsoft.com/office/drawing/2014/main" val="20002"/>
                    </a:ext>
                  </a:extLst>
                </a:gridCol>
                <a:gridCol w="2215233">
                  <a:extLst>
                    <a:ext uri="{9D8B030D-6E8A-4147-A177-3AD203B41FA5}">
                      <a16:colId xmlns:a16="http://schemas.microsoft.com/office/drawing/2014/main" val="20003"/>
                    </a:ext>
                  </a:extLst>
                </a:gridCol>
              </a:tblGrid>
              <a:tr h="609560">
                <a:tc>
                  <a:txBody>
                    <a:bodyPr/>
                    <a:lstStyle/>
                    <a:p>
                      <a:pPr marL="0" lvl="0" indent="0" algn="l" rtl="0">
                        <a:spcBef>
                          <a:spcPts val="0"/>
                        </a:spcBef>
                        <a:spcAft>
                          <a:spcPts val="0"/>
                        </a:spcAft>
                        <a:buNone/>
                      </a:pPr>
                      <a:r>
                        <a:rPr lang="en" sz="2400" b="1"/>
                        <a:t>Country</a:t>
                      </a:r>
                      <a:endParaRPr sz="2400" b="1"/>
                    </a:p>
                  </a:txBody>
                  <a:tcPr marL="121900" marR="121900" marT="121900" marB="121900"/>
                </a:tc>
                <a:tc>
                  <a:txBody>
                    <a:bodyPr/>
                    <a:lstStyle/>
                    <a:p>
                      <a:pPr marL="0" lvl="0" indent="0" algn="l" rtl="0">
                        <a:spcBef>
                          <a:spcPts val="0"/>
                        </a:spcBef>
                        <a:spcAft>
                          <a:spcPts val="0"/>
                        </a:spcAft>
                        <a:buNone/>
                      </a:pPr>
                      <a:r>
                        <a:rPr lang="en" sz="2400" b="1"/>
                        <a:t>2025</a:t>
                      </a:r>
                      <a:endParaRPr sz="2400" b="1"/>
                    </a:p>
                  </a:txBody>
                  <a:tcPr marL="121900" marR="121900" marT="121900" marB="121900"/>
                </a:tc>
                <a:tc>
                  <a:txBody>
                    <a:bodyPr/>
                    <a:lstStyle/>
                    <a:p>
                      <a:pPr marL="0" lvl="0" indent="0" algn="l" rtl="0">
                        <a:spcBef>
                          <a:spcPts val="0"/>
                        </a:spcBef>
                        <a:spcAft>
                          <a:spcPts val="0"/>
                        </a:spcAft>
                        <a:buNone/>
                      </a:pPr>
                      <a:r>
                        <a:rPr lang="en" sz="2400" b="1"/>
                        <a:t>2026</a:t>
                      </a:r>
                      <a:endParaRPr sz="2400" b="1"/>
                    </a:p>
                  </a:txBody>
                  <a:tcPr marL="121900" marR="121900" marT="121900" marB="121900">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a:t>2027</a:t>
                      </a:r>
                      <a:endParaRPr sz="2400" b="1"/>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582976">
                <a:tc>
                  <a:txBody>
                    <a:bodyPr/>
                    <a:lstStyle/>
                    <a:p>
                      <a:pPr marL="0" lvl="0" indent="0" algn="l" rtl="0">
                        <a:spcBef>
                          <a:spcPts val="0"/>
                        </a:spcBef>
                        <a:spcAft>
                          <a:spcPts val="0"/>
                        </a:spcAft>
                        <a:buNone/>
                      </a:pPr>
                      <a:r>
                        <a:rPr lang="en" sz="2400" dirty="0"/>
                        <a:t>Japan</a:t>
                      </a:r>
                      <a:endParaRPr sz="2400" dirty="0"/>
                    </a:p>
                  </a:txBody>
                  <a:tcPr marL="121900" marR="121900" marT="121900" marB="121900"/>
                </a:tc>
                <a:tc>
                  <a:txBody>
                    <a:bodyPr/>
                    <a:lstStyle/>
                    <a:p>
                      <a:pPr marL="0" lvl="0" indent="0" algn="l" rtl="0">
                        <a:spcBef>
                          <a:spcPts val="0"/>
                        </a:spcBef>
                        <a:spcAft>
                          <a:spcPts val="0"/>
                        </a:spcAft>
                        <a:buNone/>
                      </a:pPr>
                      <a:r>
                        <a:rPr lang="en" sz="2400" dirty="0"/>
                        <a:t>1454.4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572506">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l" rtl="0">
                        <a:spcBef>
                          <a:spcPts val="0"/>
                        </a:spcBef>
                        <a:spcAft>
                          <a:spcPts val="0"/>
                        </a:spcAft>
                        <a:buNone/>
                      </a:pPr>
                      <a:r>
                        <a:rPr lang="en" sz="2400"/>
                        <a:t>358.4mt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93567">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l" rtl="0">
                        <a:spcBef>
                          <a:spcPts val="0"/>
                        </a:spcBef>
                        <a:spcAft>
                          <a:spcPts val="0"/>
                        </a:spcAft>
                        <a:buNone/>
                      </a:pPr>
                      <a:r>
                        <a:rPr lang="en" sz="2400"/>
                        <a:t>214.8mt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04117">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l" rtl="0">
                        <a:spcBef>
                          <a:spcPts val="0"/>
                        </a:spcBef>
                        <a:spcAft>
                          <a:spcPts val="0"/>
                        </a:spcAft>
                        <a:buNone/>
                      </a:pPr>
                      <a:r>
                        <a:rPr lang="en" sz="2400"/>
                        <a:t>228.4mt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83136">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l" rtl="0">
                        <a:spcBef>
                          <a:spcPts val="0"/>
                        </a:spcBef>
                        <a:spcAft>
                          <a:spcPts val="0"/>
                        </a:spcAft>
                        <a:buNone/>
                      </a:pPr>
                      <a:r>
                        <a:rPr lang="en" sz="2400"/>
                        <a:t>68.8 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l" rtl="0">
                        <a:spcBef>
                          <a:spcPts val="0"/>
                        </a:spcBef>
                        <a:spcAft>
                          <a:spcPts val="0"/>
                        </a:spcAft>
                        <a:buNone/>
                      </a:pPr>
                      <a:r>
                        <a:rPr lang="en" sz="2400"/>
                        <a:t>75.2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l" rtl="0">
                        <a:spcBef>
                          <a:spcPts val="0"/>
                        </a:spcBef>
                        <a:spcAft>
                          <a:spcPts val="0"/>
                        </a:spcAft>
                        <a:buNone/>
                      </a:pPr>
                      <a:r>
                        <a:rPr lang="en" sz="2400" b="1"/>
                        <a:t>3225 mt</a:t>
                      </a:r>
                      <a:endParaRPr sz="2400" b="1"/>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70" name="Google Shape;70;p15"/>
          <p:cNvSpPr txBox="1"/>
          <p:nvPr/>
        </p:nvSpPr>
        <p:spPr>
          <a:xfrm>
            <a:off x="-280869" y="5542035"/>
            <a:ext cx="11863600" cy="1255986"/>
          </a:xfrm>
          <a:prstGeom prst="rect">
            <a:avLst/>
          </a:prstGeom>
          <a:noFill/>
          <a:ln>
            <a:noFill/>
          </a:ln>
        </p:spPr>
        <p:txBody>
          <a:bodyPr spcFirstLastPara="1" wrap="square" lIns="121900" tIns="121900" rIns="121900" bIns="121900" anchor="t" anchorCtr="0">
            <a:noAutofit/>
          </a:bodyPr>
          <a:lstStyle/>
          <a:p>
            <a:pPr marL="609585" indent="-423323">
              <a:buClr>
                <a:schemeClr val="dk2"/>
              </a:buClr>
              <a:buSzPts val="1400"/>
              <a:buChar char="●"/>
            </a:pPr>
            <a:r>
              <a:rPr lang="en" sz="1600" dirty="0">
                <a:solidFill>
                  <a:schemeClr val="dk2"/>
                </a:solidFill>
              </a:rPr>
              <a:t>For countries which are represented by more than one fleet in the rebuilding analysis, catch would be distributed between fleets based upon the proportion of catch for each fleet in 2020 (last year of the assessment)</a:t>
            </a:r>
            <a:endParaRPr sz="1600" dirty="0">
              <a:solidFill>
                <a:schemeClr val="dk2"/>
              </a:solidFill>
            </a:endParaRPr>
          </a:p>
          <a:p>
            <a:pPr marL="609585" indent="-423323">
              <a:buClr>
                <a:schemeClr val="dk2"/>
              </a:buClr>
              <a:buSzPts val="1400"/>
              <a:buChar char="●"/>
            </a:pPr>
            <a:r>
              <a:rPr lang="en" sz="1600" dirty="0">
                <a:solidFill>
                  <a:schemeClr val="dk2"/>
                </a:solidFill>
              </a:rPr>
              <a:t>For 2021-2022, catch would be updated to reported (yearbook catch) from WCPFC, and 2023-2024 would be carryover catch from 2022 if updated catch is not available.</a:t>
            </a:r>
            <a:endParaRPr sz="1600" dirty="0">
              <a:solidFill>
                <a:schemeClr val="dk2"/>
              </a:solidFill>
            </a:endParaRPr>
          </a:p>
          <a:p>
            <a:pPr marL="609585"/>
            <a:r>
              <a:rPr lang="en" sz="2400" dirty="0">
                <a:solidFill>
                  <a:schemeClr val="dk2"/>
                </a:solidFill>
              </a:rPr>
              <a:t>.</a:t>
            </a:r>
            <a:endParaRPr sz="2400" dirty="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0" y="147767"/>
            <a:ext cx="12192000" cy="763600"/>
          </a:xfrm>
          <a:prstGeom prst="rect">
            <a:avLst/>
          </a:prstGeom>
        </p:spPr>
        <p:txBody>
          <a:bodyPr spcFirstLastPara="1" vert="horz" wrap="square" lIns="121900" tIns="121900" rIns="121900" bIns="121900" rtlCol="0" anchor="t" anchorCtr="0">
            <a:noAutofit/>
          </a:bodyPr>
          <a:lstStyle/>
          <a:p>
            <a:pPr algn="ctr">
              <a:buSzPts val="990"/>
            </a:pPr>
            <a:r>
              <a:rPr lang="en" sz="3200" dirty="0"/>
              <a:t>Scenario 3. CMM 2024-06 Catch Limits and 2025-2026 Carryover</a:t>
            </a:r>
            <a:endParaRPr sz="3200" dirty="0"/>
          </a:p>
        </p:txBody>
      </p:sp>
      <p:graphicFrame>
        <p:nvGraphicFramePr>
          <p:cNvPr id="76" name="Google Shape;76;p16"/>
          <p:cNvGraphicFramePr/>
          <p:nvPr>
            <p:extLst>
              <p:ext uri="{D42A27DB-BD31-4B8C-83A1-F6EECF244321}">
                <p14:modId xmlns:p14="http://schemas.microsoft.com/office/powerpoint/2010/main" val="140272135"/>
              </p:ext>
            </p:extLst>
          </p:nvPr>
        </p:nvGraphicFramePr>
        <p:xfrm>
          <a:off x="1248473" y="846554"/>
          <a:ext cx="9695053" cy="4876480"/>
        </p:xfrm>
        <a:graphic>
          <a:graphicData uri="http://schemas.openxmlformats.org/drawingml/2006/table">
            <a:tbl>
              <a:tblPr>
                <a:noFill/>
              </a:tblPr>
              <a:tblGrid>
                <a:gridCol w="2423763">
                  <a:extLst>
                    <a:ext uri="{9D8B030D-6E8A-4147-A177-3AD203B41FA5}">
                      <a16:colId xmlns:a16="http://schemas.microsoft.com/office/drawing/2014/main" val="20000"/>
                    </a:ext>
                  </a:extLst>
                </a:gridCol>
                <a:gridCol w="2678270">
                  <a:extLst>
                    <a:ext uri="{9D8B030D-6E8A-4147-A177-3AD203B41FA5}">
                      <a16:colId xmlns:a16="http://schemas.microsoft.com/office/drawing/2014/main" val="20001"/>
                    </a:ext>
                  </a:extLst>
                </a:gridCol>
                <a:gridCol w="2911365">
                  <a:extLst>
                    <a:ext uri="{9D8B030D-6E8A-4147-A177-3AD203B41FA5}">
                      <a16:colId xmlns:a16="http://schemas.microsoft.com/office/drawing/2014/main" val="20002"/>
                    </a:ext>
                  </a:extLst>
                </a:gridCol>
                <a:gridCol w="1681655">
                  <a:extLst>
                    <a:ext uri="{9D8B030D-6E8A-4147-A177-3AD203B41FA5}">
                      <a16:colId xmlns:a16="http://schemas.microsoft.com/office/drawing/2014/main" val="20003"/>
                    </a:ext>
                  </a:extLst>
                </a:gridCol>
              </a:tblGrid>
              <a:tr h="609560">
                <a:tc>
                  <a:txBody>
                    <a:bodyPr/>
                    <a:lstStyle/>
                    <a:p>
                      <a:pPr marL="0" lvl="0" indent="0" algn="l" rtl="0">
                        <a:spcBef>
                          <a:spcPts val="0"/>
                        </a:spcBef>
                        <a:spcAft>
                          <a:spcPts val="0"/>
                        </a:spcAft>
                        <a:buNone/>
                      </a:pPr>
                      <a:r>
                        <a:rPr lang="en" sz="2400" b="1" dirty="0"/>
                        <a:t>Country</a:t>
                      </a:r>
                      <a:endParaRPr sz="2400" b="1" dirty="0"/>
                    </a:p>
                  </a:txBody>
                  <a:tcPr marL="121900" marR="121900" marT="121900" marB="121900"/>
                </a:tc>
                <a:tc>
                  <a:txBody>
                    <a:bodyPr/>
                    <a:lstStyle/>
                    <a:p>
                      <a:pPr marL="0" lvl="0" indent="0" algn="l" rtl="0">
                        <a:spcBef>
                          <a:spcPts val="0"/>
                        </a:spcBef>
                        <a:spcAft>
                          <a:spcPts val="0"/>
                        </a:spcAft>
                        <a:buNone/>
                      </a:pPr>
                      <a:r>
                        <a:rPr lang="en" sz="2400" b="1"/>
                        <a:t>2025</a:t>
                      </a:r>
                      <a:endParaRPr sz="2400" b="1"/>
                    </a:p>
                  </a:txBody>
                  <a:tcPr marL="121900" marR="121900" marT="121900" marB="121900"/>
                </a:tc>
                <a:tc>
                  <a:txBody>
                    <a:bodyPr/>
                    <a:lstStyle/>
                    <a:p>
                      <a:pPr marL="0" lvl="0" indent="0" algn="l" rtl="0">
                        <a:spcBef>
                          <a:spcPts val="0"/>
                        </a:spcBef>
                        <a:spcAft>
                          <a:spcPts val="0"/>
                        </a:spcAft>
                        <a:buNone/>
                      </a:pPr>
                      <a:r>
                        <a:rPr lang="en" sz="2400" b="1"/>
                        <a:t>2026</a:t>
                      </a:r>
                      <a:endParaRPr sz="2400" b="1"/>
                    </a:p>
                  </a:txBody>
                  <a:tcPr marL="121900" marR="121900" marT="121900" marB="121900">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a:t>2027</a:t>
                      </a:r>
                      <a:endParaRPr sz="2400" b="1"/>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591652">
                <a:tc>
                  <a:txBody>
                    <a:bodyPr/>
                    <a:lstStyle/>
                    <a:p>
                      <a:pPr marL="0" lvl="0" indent="0" algn="l" rtl="0">
                        <a:spcBef>
                          <a:spcPts val="0"/>
                        </a:spcBef>
                        <a:spcAft>
                          <a:spcPts val="0"/>
                        </a:spcAft>
                        <a:buNone/>
                      </a:pPr>
                      <a:r>
                        <a:rPr lang="en" sz="2400"/>
                        <a:t>Japan</a:t>
                      </a:r>
                      <a:endParaRPr sz="2400"/>
                    </a:p>
                  </a:txBody>
                  <a:tcPr marL="121900" marR="121900" marT="121900" marB="121900"/>
                </a:tc>
                <a:tc>
                  <a:txBody>
                    <a:bodyPr/>
                    <a:lstStyle/>
                    <a:p>
                      <a:pPr marL="0" lvl="0" indent="0" algn="l" rtl="0">
                        <a:spcBef>
                          <a:spcPts val="0"/>
                        </a:spcBef>
                        <a:spcAft>
                          <a:spcPts val="0"/>
                        </a:spcAft>
                        <a:buNone/>
                      </a:pPr>
                      <a:r>
                        <a:rPr lang="en" sz="2400" dirty="0"/>
                        <a:t>1454.4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1454.4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591692">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l" rtl="0">
                        <a:spcBef>
                          <a:spcPts val="0"/>
                        </a:spcBef>
                        <a:spcAft>
                          <a:spcPts val="0"/>
                        </a:spcAft>
                        <a:buNone/>
                      </a:pPr>
                      <a:r>
                        <a:rPr lang="en" sz="2400" dirty="0"/>
                        <a:t>358.4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358.4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39181">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l" rtl="0">
                        <a:spcBef>
                          <a:spcPts val="0"/>
                        </a:spcBef>
                        <a:spcAft>
                          <a:spcPts val="0"/>
                        </a:spcAft>
                        <a:buNone/>
                      </a:pPr>
                      <a:r>
                        <a:rPr lang="en" sz="2400" dirty="0"/>
                        <a:t>214.8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214.8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539221">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l" rtl="0">
                        <a:spcBef>
                          <a:spcPts val="0"/>
                        </a:spcBef>
                        <a:spcAft>
                          <a:spcPts val="0"/>
                        </a:spcAft>
                        <a:buNone/>
                      </a:pPr>
                      <a:r>
                        <a:rPr lang="en" sz="2400" dirty="0"/>
                        <a:t>228.4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228.4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28750">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l" rtl="0">
                        <a:spcBef>
                          <a:spcPts val="0"/>
                        </a:spcBef>
                        <a:spcAft>
                          <a:spcPts val="0"/>
                        </a:spcAft>
                        <a:buNone/>
                      </a:pPr>
                      <a:r>
                        <a:rPr lang="en" sz="2400"/>
                        <a:t>68.8 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68.8 mt + 165mt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l" rtl="0">
                        <a:spcBef>
                          <a:spcPts val="0"/>
                        </a:spcBef>
                        <a:spcAft>
                          <a:spcPts val="0"/>
                        </a:spcAft>
                        <a:buNone/>
                      </a:pPr>
                      <a:r>
                        <a:rPr lang="en" sz="2400"/>
                        <a:t>75.2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l" rtl="0">
                        <a:spcBef>
                          <a:spcPts val="0"/>
                        </a:spcBef>
                        <a:spcAft>
                          <a:spcPts val="0"/>
                        </a:spcAft>
                        <a:buNone/>
                      </a:pPr>
                      <a:r>
                        <a:rPr lang="en" sz="2400" b="1" dirty="0"/>
                        <a:t>3225 mt</a:t>
                      </a:r>
                      <a:endParaRPr sz="2400" b="1"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b="1"/>
                        <a:t>3225 mt</a:t>
                      </a:r>
                      <a:endParaRPr sz="2400" b="1"/>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77" name="Google Shape;77;p16"/>
          <p:cNvSpPr txBox="1"/>
          <p:nvPr/>
        </p:nvSpPr>
        <p:spPr>
          <a:xfrm>
            <a:off x="0" y="5658221"/>
            <a:ext cx="11863600" cy="1120951"/>
          </a:xfrm>
          <a:prstGeom prst="rect">
            <a:avLst/>
          </a:prstGeom>
          <a:noFill/>
          <a:ln>
            <a:noFill/>
          </a:ln>
        </p:spPr>
        <p:txBody>
          <a:bodyPr spcFirstLastPara="1" wrap="square" lIns="121900" tIns="121900" rIns="121900" bIns="121900" anchor="t" anchorCtr="0">
            <a:noAutofit/>
          </a:bodyPr>
          <a:lstStyle/>
          <a:p>
            <a:pPr marL="609585" indent="-423323">
              <a:buClr>
                <a:schemeClr val="dk2"/>
              </a:buClr>
              <a:buSzPts val="1400"/>
              <a:buChar char="●"/>
            </a:pPr>
            <a:r>
              <a:rPr lang="en" sz="1600" dirty="0">
                <a:solidFill>
                  <a:schemeClr val="dk2"/>
                </a:solidFill>
              </a:rPr>
              <a:t>For countries which are represented by more than one fleet in the rebuilding analysis, catch would be distributed between fleets based upon the proportion of catch for each fleet in 2020 (last year of the assessment)</a:t>
            </a:r>
            <a:endParaRPr sz="1600" dirty="0">
              <a:solidFill>
                <a:schemeClr val="dk2"/>
              </a:solidFill>
            </a:endParaRPr>
          </a:p>
          <a:p>
            <a:pPr marL="609585" indent="-423323">
              <a:buClr>
                <a:schemeClr val="dk2"/>
              </a:buClr>
              <a:buSzPts val="1400"/>
              <a:buChar char="●"/>
            </a:pPr>
            <a:r>
              <a:rPr lang="en" sz="1600" dirty="0">
                <a:solidFill>
                  <a:schemeClr val="dk2"/>
                </a:solidFill>
              </a:rPr>
              <a:t>For 2021-2022, catch would be updated to reported (yearbook catch) from WCPFC, and 2023-2024 would be carryover catch from 2022 if updated catch is not available.</a:t>
            </a:r>
            <a:endParaRPr sz="1600" dirty="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2272FD61-77D9-4A4B-8691-D3A889E04F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9662" y="714703"/>
            <a:ext cx="6322882" cy="6143297"/>
          </a:xfrm>
          <a:prstGeom prst="rect">
            <a:avLst/>
          </a:prstGeom>
        </p:spPr>
      </p:pic>
    </p:spTree>
    <p:extLst>
      <p:ext uri="{BB962C8B-B14F-4D97-AF65-F5344CB8AC3E}">
        <p14:creationId xmlns:p14="http://schemas.microsoft.com/office/powerpoint/2010/main" val="3638555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5" name="Picture 4">
            <a:extLst>
              <a:ext uri="{FF2B5EF4-FFF2-40B4-BE49-F238E27FC236}">
                <a16:creationId xmlns:a16="http://schemas.microsoft.com/office/drawing/2014/main" id="{964F877C-5450-4B03-A382-DCF90E17D3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750" y="714703"/>
            <a:ext cx="6758748" cy="6143296"/>
          </a:xfrm>
          <a:prstGeom prst="rect">
            <a:avLst/>
          </a:prstGeom>
        </p:spPr>
      </p:pic>
    </p:spTree>
    <p:extLst>
      <p:ext uri="{BB962C8B-B14F-4D97-AF65-F5344CB8AC3E}">
        <p14:creationId xmlns:p14="http://schemas.microsoft.com/office/powerpoint/2010/main" val="1281724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5F185FD6-077A-4E3E-9C03-4DE1C23068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3875" y="714703"/>
            <a:ext cx="10166923" cy="6150200"/>
          </a:xfrm>
          <a:prstGeom prst="rect">
            <a:avLst/>
          </a:prstGeom>
        </p:spPr>
      </p:pic>
    </p:spTree>
    <p:extLst>
      <p:ext uri="{BB962C8B-B14F-4D97-AF65-F5344CB8AC3E}">
        <p14:creationId xmlns:p14="http://schemas.microsoft.com/office/powerpoint/2010/main" val="3372255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5" name="Picture 4">
            <a:extLst>
              <a:ext uri="{FF2B5EF4-FFF2-40B4-BE49-F238E27FC236}">
                <a16:creationId xmlns:a16="http://schemas.microsoft.com/office/drawing/2014/main" id="{CB327DC8-7700-40E5-A1F5-36A722B751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4806" y="714705"/>
            <a:ext cx="8521153" cy="6143295"/>
          </a:xfrm>
          <a:prstGeom prst="rect">
            <a:avLst/>
          </a:prstGeom>
        </p:spPr>
      </p:pic>
    </p:spTree>
    <p:extLst>
      <p:ext uri="{BB962C8B-B14F-4D97-AF65-F5344CB8AC3E}">
        <p14:creationId xmlns:p14="http://schemas.microsoft.com/office/powerpoint/2010/main" val="1166851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2001740E-17D6-4970-8F96-554ECCB12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3865" y="714703"/>
            <a:ext cx="6303664" cy="6279189"/>
          </a:xfrm>
          <a:prstGeom prst="rect">
            <a:avLst/>
          </a:prstGeom>
        </p:spPr>
      </p:pic>
    </p:spTree>
    <p:extLst>
      <p:ext uri="{BB962C8B-B14F-4D97-AF65-F5344CB8AC3E}">
        <p14:creationId xmlns:p14="http://schemas.microsoft.com/office/powerpoint/2010/main" val="3078111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DFE642F4-A00F-488B-858F-C68E585A08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4693" y="851630"/>
            <a:ext cx="5100159" cy="6006369"/>
          </a:xfrm>
          <a:prstGeom prst="rect">
            <a:avLst/>
          </a:prstGeom>
        </p:spPr>
      </p:pic>
    </p:spTree>
    <p:extLst>
      <p:ext uri="{BB962C8B-B14F-4D97-AF65-F5344CB8AC3E}">
        <p14:creationId xmlns:p14="http://schemas.microsoft.com/office/powerpoint/2010/main" val="1825621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F4CF1743-6A4F-44AB-AA27-7F8FC70EA8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4158" y="631732"/>
            <a:ext cx="5071022" cy="6226268"/>
          </a:xfrm>
          <a:prstGeom prst="rect">
            <a:avLst/>
          </a:prstGeom>
        </p:spPr>
      </p:pic>
    </p:spTree>
    <p:extLst>
      <p:ext uri="{BB962C8B-B14F-4D97-AF65-F5344CB8AC3E}">
        <p14:creationId xmlns:p14="http://schemas.microsoft.com/office/powerpoint/2010/main" val="4227844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4350813D-D3BF-4403-B46F-5C5FE7FC08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9947" y="714704"/>
            <a:ext cx="4838010" cy="6143296"/>
          </a:xfrm>
          <a:prstGeom prst="rect">
            <a:avLst/>
          </a:prstGeom>
        </p:spPr>
      </p:pic>
    </p:spTree>
    <p:extLst>
      <p:ext uri="{BB962C8B-B14F-4D97-AF65-F5344CB8AC3E}">
        <p14:creationId xmlns:p14="http://schemas.microsoft.com/office/powerpoint/2010/main" val="327374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2782A813-8266-453E-8425-4773C076CB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3070" y="714703"/>
            <a:ext cx="5913495" cy="6143297"/>
          </a:xfrm>
          <a:prstGeom prst="rect">
            <a:avLst/>
          </a:prstGeom>
        </p:spPr>
      </p:pic>
    </p:spTree>
    <p:extLst>
      <p:ext uri="{BB962C8B-B14F-4D97-AF65-F5344CB8AC3E}">
        <p14:creationId xmlns:p14="http://schemas.microsoft.com/office/powerpoint/2010/main" val="3955818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6B2DB9-54ED-462C-A1B1-2BD7E37489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703576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33B37E-7AA2-4F63-892D-46C1E765F2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123275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AF6C84-C43D-4F27-BB95-DB863F83D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8936257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5F1C88-2CFC-4CFF-9AE9-A74C9A4E9E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4859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FBE467-6AB0-4D7E-AF0F-E46E4F3C30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pic>
        <p:nvPicPr>
          <p:cNvPr id="5" name="Picture 4">
            <a:extLst>
              <a:ext uri="{FF2B5EF4-FFF2-40B4-BE49-F238E27FC236}">
                <a16:creationId xmlns:a16="http://schemas.microsoft.com/office/drawing/2014/main" id="{7D72D1C0-92E5-48F7-A54B-6E1E9E11E0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458542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AE2EC8-007F-4B1C-80FC-4574CD9CA437}"/>
              </a:ext>
            </a:extLst>
          </p:cNvPr>
          <p:cNvPicPr>
            <a:picLocks noChangeAspect="1"/>
          </p:cNvPicPr>
          <p:nvPr/>
        </p:nvPicPr>
        <p:blipFill>
          <a:blip r:embed="rId2"/>
          <a:stretch>
            <a:fillRect/>
          </a:stretch>
        </p:blipFill>
        <p:spPr>
          <a:xfrm>
            <a:off x="2764698" y="714702"/>
            <a:ext cx="6652570" cy="5465381"/>
          </a:xfrm>
          <a:prstGeom prst="rect">
            <a:avLst/>
          </a:prstGeom>
        </p:spPr>
      </p:pic>
    </p:spTree>
    <p:extLst>
      <p:ext uri="{BB962C8B-B14F-4D97-AF65-F5344CB8AC3E}">
        <p14:creationId xmlns:p14="http://schemas.microsoft.com/office/powerpoint/2010/main" val="1369271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35E1EA-8C2F-4FCF-8597-6CF2F5CCA7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585162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B61416-53D2-4435-81BF-414A383D7A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161407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5E24EF-27B8-4188-81E7-E6B8221A19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41917967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5E1F26-34AF-44D5-91DA-85F5C1B30E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731947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DDF58E6-EE7C-42BC-AE1A-52657CAF9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223912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5EAE8A-BA13-473D-9DF5-51A8837E0D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849604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53F1BE-A9AF-4DDC-ABA9-161E46419B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337347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484C8B-A0DC-4C16-B17A-A3F43E03DF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594476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DA1954-73AB-4E02-B1E8-DB8932361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201120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64529E-5EC9-4C06-8DA7-B6E3DAA7DC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7623446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7327EF-95B5-4D63-A7E4-A5C2894B38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9310932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A62858-0229-49E5-AB6C-DBEAE1EFA9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5251376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FDF0F8-D838-4750-BA3E-ABF7D0A602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1482908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1745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FBA505-0A1C-4571-887B-E2147BA111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pic>
        <p:nvPicPr>
          <p:cNvPr id="5" name="Picture 4">
            <a:extLst>
              <a:ext uri="{FF2B5EF4-FFF2-40B4-BE49-F238E27FC236}">
                <a16:creationId xmlns:a16="http://schemas.microsoft.com/office/drawing/2014/main" id="{4C1A08A5-0309-43EF-8BA8-7F6255B6EF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0387720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DC551A-32A5-4DD3-A153-EDFD9203CD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1952108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702</Words>
  <Application>Microsoft Office PowerPoint</Application>
  <PresentationFormat>Widescreen</PresentationFormat>
  <Paragraphs>143</Paragraphs>
  <Slides>36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Calibri Light</vt:lpstr>
      <vt:lpstr>Office Theme</vt:lpstr>
      <vt:lpstr>WCNPO Striped Marlin Rebuilding Scenarios Using 2020 Catch Proportions by Fleet Group</vt:lpstr>
      <vt:lpstr>CMM 2024-06 Revision to CMM 2010-01 for NP MLS</vt:lpstr>
      <vt:lpstr>Scenario 1. CMM 2024-06 Catch Limits</vt:lpstr>
      <vt:lpstr>Scenario 2. CMM 2024-06 Catch Limits with 2025 Carryover</vt:lpstr>
      <vt:lpstr>Scenario 3. CMM 2024-06 Catch Limits and 2025-2026 Carryover</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 Brodziak</dc:creator>
  <cp:lastModifiedBy>Jon Brodziak</cp:lastModifiedBy>
  <cp:revision>45</cp:revision>
  <cp:lastPrinted>2025-04-01T02:04:17Z</cp:lastPrinted>
  <dcterms:created xsi:type="dcterms:W3CDTF">2025-03-12T03:22:33Z</dcterms:created>
  <dcterms:modified xsi:type="dcterms:W3CDTF">2025-04-02T03:16:15Z</dcterms:modified>
</cp:coreProperties>
</file>