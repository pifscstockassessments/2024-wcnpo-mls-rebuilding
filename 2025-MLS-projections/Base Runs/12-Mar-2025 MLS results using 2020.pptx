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318" r:id="rId3"/>
    <p:sldId id="257" r:id="rId4"/>
    <p:sldId id="258" r:id="rId5"/>
    <p:sldId id="259" r:id="rId6"/>
    <p:sldId id="279" r:id="rId7"/>
    <p:sldId id="289" r:id="rId8"/>
    <p:sldId id="290" r:id="rId9"/>
    <p:sldId id="291" r:id="rId10"/>
    <p:sldId id="292" r:id="rId11"/>
    <p:sldId id="293" r:id="rId12"/>
    <p:sldId id="294" r:id="rId13"/>
    <p:sldId id="295" r:id="rId14"/>
    <p:sldId id="296" r:id="rId15"/>
    <p:sldId id="306" r:id="rId16"/>
    <p:sldId id="299" r:id="rId17"/>
    <p:sldId id="298" r:id="rId18"/>
    <p:sldId id="300" r:id="rId19"/>
    <p:sldId id="297" r:id="rId20"/>
    <p:sldId id="305" r:id="rId21"/>
    <p:sldId id="302" r:id="rId22"/>
    <p:sldId id="308" r:id="rId23"/>
    <p:sldId id="309" r:id="rId24"/>
    <p:sldId id="303" r:id="rId25"/>
    <p:sldId id="304" r:id="rId26"/>
    <p:sldId id="310" r:id="rId27"/>
    <p:sldId id="315" r:id="rId28"/>
    <p:sldId id="316" r:id="rId29"/>
    <p:sldId id="311" r:id="rId30"/>
    <p:sldId id="312" r:id="rId31"/>
    <p:sldId id="313" r:id="rId32"/>
    <p:sldId id="317" r:id="rId33"/>
    <p:sldId id="307" r:id="rId34"/>
    <p:sldId id="31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5" autoAdjust="0"/>
    <p:restoredTop sz="94660"/>
  </p:normalViewPr>
  <p:slideViewPr>
    <p:cSldViewPr snapToGrid="0" showGuides="1">
      <p:cViewPr varScale="1">
        <p:scale>
          <a:sx n="52" d="100"/>
          <a:sy n="52" d="100"/>
        </p:scale>
        <p:origin x="751" y="34"/>
      </p:cViewPr>
      <p:guideLst>
        <p:guide orient="horz" pos="2160"/>
        <p:guide pos="3840"/>
      </p:guideLst>
    </p:cSldViewPr>
  </p:slideViewPr>
  <p:notesTextViewPr>
    <p:cViewPr>
      <p:scale>
        <a:sx n="1" d="1"/>
        <a:sy n="1" d="1"/>
      </p:scale>
      <p:origin x="0" y="0"/>
    </p:cViewPr>
  </p:notesTextViewPr>
  <p:sorterViewPr>
    <p:cViewPr>
      <p:scale>
        <a:sx n="42" d="100"/>
        <a:sy n="42"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031577-5721-4099-A8DD-A5FBA8B6DDB0}" type="datetimeFigureOut">
              <a:rPr lang="en-US" smtClean="0"/>
              <a:t>3/17/2025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9054BB-462B-4B97-BD91-75B19DEDED3E}" type="slidenum">
              <a:rPr lang="en-US" smtClean="0"/>
              <a:t>‹#›</a:t>
            </a:fld>
            <a:endParaRPr lang="en-US"/>
          </a:p>
        </p:txBody>
      </p:sp>
    </p:spTree>
    <p:extLst>
      <p:ext uri="{BB962C8B-B14F-4D97-AF65-F5344CB8AC3E}">
        <p14:creationId xmlns:p14="http://schemas.microsoft.com/office/powerpoint/2010/main" val="4046175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24be3cb2ee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24be3cb2ee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24be3cb2ee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24be3cb2ee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24be3cb2ee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24be3cb2ee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B00-7547-4792-A81C-25F15AE8A7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BED56E-61C4-45EE-9C06-0C24E410FC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B5DD01-1CBE-48E7-9ED9-50BDD8781D75}"/>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5" name="Footer Placeholder 4">
            <a:extLst>
              <a:ext uri="{FF2B5EF4-FFF2-40B4-BE49-F238E27FC236}">
                <a16:creationId xmlns:a16="http://schemas.microsoft.com/office/drawing/2014/main" id="{BC72D369-EAC0-4F21-9FF0-654FB290CB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DB676-CE33-4593-9FFC-8C07CF9A817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215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F018-18F0-48EA-AD1A-97675E4767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587D3B-E804-47ED-88BB-092661E2F7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B4206B-8C25-4360-8A85-7540149DAE75}"/>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5" name="Footer Placeholder 4">
            <a:extLst>
              <a:ext uri="{FF2B5EF4-FFF2-40B4-BE49-F238E27FC236}">
                <a16:creationId xmlns:a16="http://schemas.microsoft.com/office/drawing/2014/main" id="{AA159549-6165-46A4-8E57-CD47DB442B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C36106-2642-429E-9D2A-C3084F17328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13159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22011-7EE7-43E0-ABB6-BD75CAD002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D1CF69-B52A-47E0-B418-1DC767AE66E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A99CEC-3358-4B09-AFA6-B7DFD07E7FE9}"/>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5" name="Footer Placeholder 4">
            <a:extLst>
              <a:ext uri="{FF2B5EF4-FFF2-40B4-BE49-F238E27FC236}">
                <a16:creationId xmlns:a16="http://schemas.microsoft.com/office/drawing/2014/main" id="{259970E1-C59E-4CB0-8B28-D0DBB3837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B04582-5D85-40DD-B001-F892B2BF4C6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4803150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E79FF-74E4-416A-872F-E479E90BB2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4CBD2A-4848-464F-BAB4-FDD9092023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6F47ED0-4868-477A-AEC6-293E4B2BAA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2858BD-EF64-469E-BD4F-C0CA14FA5151}"/>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6" name="Footer Placeholder 5">
            <a:extLst>
              <a:ext uri="{FF2B5EF4-FFF2-40B4-BE49-F238E27FC236}">
                <a16:creationId xmlns:a16="http://schemas.microsoft.com/office/drawing/2014/main" id="{7E31C73C-EF22-413E-AB01-D74CF168C2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0ED99F-E47E-43D8-8136-36E1F88C8C0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18518271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2F88D-25DE-4861-8269-BC1AA80804E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2123F79-4F45-4657-8C11-9C841F08DD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93E313-2E2B-4B13-AE00-70A44D1693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A1DCF9-02E0-4506-B296-E20DE9D6F3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309B03-61FC-4A65-AA23-8066A570B4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F01659-2AA1-46ED-BF70-B6F166B133B5}"/>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8" name="Footer Placeholder 7">
            <a:extLst>
              <a:ext uri="{FF2B5EF4-FFF2-40B4-BE49-F238E27FC236}">
                <a16:creationId xmlns:a16="http://schemas.microsoft.com/office/drawing/2014/main" id="{FA688C36-85B9-4ABF-95C4-7DA05DF25A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F7281D-E3E3-4A4E-933B-B61F23B6BDAF}"/>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752455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1DA1F-C216-4059-B3F5-50BFC440F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527C02-2773-4132-9354-607C7B922DAC}"/>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4" name="Footer Placeholder 3">
            <a:extLst>
              <a:ext uri="{FF2B5EF4-FFF2-40B4-BE49-F238E27FC236}">
                <a16:creationId xmlns:a16="http://schemas.microsoft.com/office/drawing/2014/main" id="{EB6DC3A1-EC46-4AF5-BC4C-41FEF999F58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A68303-C715-4516-8C17-A64C9A98C61C}"/>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89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E2E674-63DB-4A81-AAC5-A599E8FD2254}"/>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3" name="Footer Placeholder 2">
            <a:extLst>
              <a:ext uri="{FF2B5EF4-FFF2-40B4-BE49-F238E27FC236}">
                <a16:creationId xmlns:a16="http://schemas.microsoft.com/office/drawing/2014/main" id="{BF477E99-16A7-4C07-9B2D-FE6D34DC4D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8D8D10-8314-418A-8654-0834BE0B3B3B}"/>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00548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55FDA-C129-4C48-B32E-0A930D3BBD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BC12DC-3A64-4397-8711-82DC608FCF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B0F6B9-AB76-4798-BB69-969F32DCE1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A2B619-25C2-471E-983A-7BC75C73A601}"/>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6" name="Footer Placeholder 5">
            <a:extLst>
              <a:ext uri="{FF2B5EF4-FFF2-40B4-BE49-F238E27FC236}">
                <a16:creationId xmlns:a16="http://schemas.microsoft.com/office/drawing/2014/main" id="{B65F96EF-5716-42F8-956A-C69EFEB1F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E34605-7495-44D4-9DE9-1F2DE3D1544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9015071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7345C-3AC3-446F-9A05-71EB8F7B19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59C4F2-8ABE-48F8-BE4C-5C3ECF0691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02AB2E-C870-49AB-B857-D8B585EBD2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0B84E9-12A2-4186-8BBC-6E3B5ACD4DE0}"/>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6" name="Footer Placeholder 5">
            <a:extLst>
              <a:ext uri="{FF2B5EF4-FFF2-40B4-BE49-F238E27FC236}">
                <a16:creationId xmlns:a16="http://schemas.microsoft.com/office/drawing/2014/main" id="{7D6CF9BC-B01F-4ACC-B3A1-D543FBE7E6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3DE915-3C30-4FE0-9B71-A8B16AA9F3A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733434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B3538-2230-4441-AAE3-B9FA1613D7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644754-BFAA-4BDA-B7FE-0329951EDC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04D930-A630-4BD1-8758-69063986E595}"/>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5" name="Footer Placeholder 4">
            <a:extLst>
              <a:ext uri="{FF2B5EF4-FFF2-40B4-BE49-F238E27FC236}">
                <a16:creationId xmlns:a16="http://schemas.microsoft.com/office/drawing/2014/main" id="{A7A3E5D0-E650-4BCC-8DA6-FC652DE3B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56A9B5-7809-4F98-AD87-C04741281926}"/>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887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7A51487-EADC-441E-BE71-59BF59E57A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F626D7-10FE-4F5A-9DB5-975D15AFEA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926DC-5B8F-4DD1-AB13-A86948C2E114}"/>
              </a:ext>
            </a:extLst>
          </p:cNvPr>
          <p:cNvSpPr>
            <a:spLocks noGrp="1"/>
          </p:cNvSpPr>
          <p:nvPr>
            <p:ph type="dt" sz="half" idx="10"/>
          </p:nvPr>
        </p:nvSpPr>
        <p:spPr/>
        <p:txBody>
          <a:bodyPr/>
          <a:lstStyle/>
          <a:p>
            <a:fld id="{2F4D5645-23AA-4DCF-893C-4CB75AE73D5B}" type="datetimeFigureOut">
              <a:rPr lang="en-US" smtClean="0"/>
              <a:t>3/17/2025</a:t>
            </a:fld>
            <a:endParaRPr lang="en-US"/>
          </a:p>
        </p:txBody>
      </p:sp>
      <p:sp>
        <p:nvSpPr>
          <p:cNvPr id="5" name="Footer Placeholder 4">
            <a:extLst>
              <a:ext uri="{FF2B5EF4-FFF2-40B4-BE49-F238E27FC236}">
                <a16:creationId xmlns:a16="http://schemas.microsoft.com/office/drawing/2014/main" id="{5C3FFB2A-C15B-4027-9424-502EE2E51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C29A2-F86C-4BAC-8D3B-436F2ED6098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7606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348029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26195D-2D55-4550-B834-EA3BAEEE9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5B45E7-9B25-4B24-ADEC-430D33F9D5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1B3896-4739-49B7-9E75-53DF501F6B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D5645-23AA-4DCF-893C-4CB75AE73D5B}" type="datetimeFigureOut">
              <a:rPr lang="en-US" smtClean="0"/>
              <a:t>3/17/2025</a:t>
            </a:fld>
            <a:endParaRPr lang="en-US"/>
          </a:p>
        </p:txBody>
      </p:sp>
      <p:sp>
        <p:nvSpPr>
          <p:cNvPr id="5" name="Footer Placeholder 4">
            <a:extLst>
              <a:ext uri="{FF2B5EF4-FFF2-40B4-BE49-F238E27FC236}">
                <a16:creationId xmlns:a16="http://schemas.microsoft.com/office/drawing/2014/main" id="{4FB0AA0A-F9D4-42B4-8028-46DB159B98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1E7C39B-6132-4232-B090-D331833644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E49F46-903B-4DEA-A244-FFDEE93D2D96}" type="slidenum">
              <a:rPr lang="en-US" smtClean="0"/>
              <a:t>‹#›</a:t>
            </a:fld>
            <a:endParaRPr lang="en-US"/>
          </a:p>
        </p:txBody>
      </p:sp>
    </p:spTree>
    <p:extLst>
      <p:ext uri="{BB962C8B-B14F-4D97-AF65-F5344CB8AC3E}">
        <p14:creationId xmlns:p14="http://schemas.microsoft.com/office/powerpoint/2010/main" val="52117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7337B-71E6-4DDF-B454-86FB8D0BC88B}"/>
              </a:ext>
            </a:extLst>
          </p:cNvPr>
          <p:cNvSpPr>
            <a:spLocks noGrp="1"/>
          </p:cNvSpPr>
          <p:nvPr>
            <p:ph type="ctrTitle"/>
          </p:nvPr>
        </p:nvSpPr>
        <p:spPr/>
        <p:txBody>
          <a:bodyPr/>
          <a:lstStyle/>
          <a:p>
            <a:r>
              <a:rPr lang="en-US" dirty="0"/>
              <a:t>WCNPO Striped Marlin Rebuilding Scenarios</a:t>
            </a:r>
          </a:p>
        </p:txBody>
      </p:sp>
      <p:sp>
        <p:nvSpPr>
          <p:cNvPr id="3" name="Subtitle 2">
            <a:extLst>
              <a:ext uri="{FF2B5EF4-FFF2-40B4-BE49-F238E27FC236}">
                <a16:creationId xmlns:a16="http://schemas.microsoft.com/office/drawing/2014/main" id="{1AB8104F-5D59-43ED-BB09-A2350CCBB4C9}"/>
              </a:ext>
            </a:extLst>
          </p:cNvPr>
          <p:cNvSpPr>
            <a:spLocks noGrp="1"/>
          </p:cNvSpPr>
          <p:nvPr>
            <p:ph type="subTitle" idx="1"/>
          </p:nvPr>
        </p:nvSpPr>
        <p:spPr/>
        <p:txBody>
          <a:bodyPr/>
          <a:lstStyle/>
          <a:p>
            <a:r>
              <a:rPr lang="en-US" dirty="0"/>
              <a:t>Jon Brodziak</a:t>
            </a:r>
          </a:p>
          <a:p>
            <a:r>
              <a:rPr lang="en-US" dirty="0"/>
              <a:t>NOAA Fisheries</a:t>
            </a:r>
          </a:p>
          <a:p>
            <a:r>
              <a:rPr lang="en-US" dirty="0"/>
              <a:t>Jon.Brodziak@NOAA.GOV</a:t>
            </a:r>
          </a:p>
        </p:txBody>
      </p:sp>
    </p:spTree>
    <p:extLst>
      <p:ext uri="{BB962C8B-B14F-4D97-AF65-F5344CB8AC3E}">
        <p14:creationId xmlns:p14="http://schemas.microsoft.com/office/powerpoint/2010/main" val="1034456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415600" y="162442"/>
            <a:ext cx="11360800" cy="763600"/>
          </a:xfrm>
          <a:prstGeom prst="rect">
            <a:avLst/>
          </a:prstGeom>
        </p:spPr>
        <p:txBody>
          <a:bodyPr spcFirstLastPara="1" vert="horz" wrap="square" lIns="121900" tIns="121900" rIns="121900" bIns="121900" rtlCol="0" anchor="t" anchorCtr="0">
            <a:normAutofit/>
          </a:bodyPr>
          <a:lstStyle/>
          <a:p>
            <a:pPr algn="ctr"/>
            <a:r>
              <a:rPr lang="en" sz="3200" dirty="0"/>
              <a:t>CMM 2024-06 Revision to CMM 2010-01 for NP MLS</a:t>
            </a:r>
            <a:endParaRPr sz="3200" dirty="0"/>
          </a:p>
        </p:txBody>
      </p:sp>
      <p:sp>
        <p:nvSpPr>
          <p:cNvPr id="55" name="Google Shape;55;p13"/>
          <p:cNvSpPr txBox="1">
            <a:spLocks noGrp="1"/>
          </p:cNvSpPr>
          <p:nvPr>
            <p:ph type="body" idx="1"/>
          </p:nvPr>
        </p:nvSpPr>
        <p:spPr>
          <a:xfrm>
            <a:off x="0" y="1536632"/>
            <a:ext cx="7837715" cy="5321368"/>
          </a:xfrm>
          <a:prstGeom prst="rect">
            <a:avLst/>
          </a:prstGeom>
        </p:spPr>
        <p:txBody>
          <a:bodyPr spcFirstLastPara="1" vert="horz" wrap="square" lIns="121900" tIns="121900" rIns="121900" bIns="121900" rtlCol="0" anchor="t" anchorCtr="0">
            <a:normAutofit fontScale="92500" lnSpcReduction="10000"/>
          </a:bodyPr>
          <a:lstStyle/>
          <a:p>
            <a:pPr indent="-445758">
              <a:buSzPct val="100000"/>
            </a:pPr>
            <a:r>
              <a:rPr lang="en" dirty="0"/>
              <a:t>Maximum catch limit of 2400 mt</a:t>
            </a:r>
            <a:endParaRPr dirty="0"/>
          </a:p>
          <a:p>
            <a:pPr indent="-445758">
              <a:buSzPct val="100000"/>
            </a:pPr>
            <a:r>
              <a:rPr lang="en" dirty="0"/>
              <a:t>In 2025-2027, each country can take up to 165 mt additional to their individual limit if the catch limit in 2023-2025 is not reached</a:t>
            </a:r>
            <a:endParaRPr dirty="0"/>
          </a:p>
          <a:p>
            <a:pPr lvl="1" indent="-414432">
              <a:buSzPct val="100000"/>
            </a:pPr>
            <a:r>
              <a:rPr lang="en" dirty="0"/>
              <a:t>In 2023 there was an underage of 826mt therefore countries are allowed to increase their limit by 165mt in 2025.</a:t>
            </a:r>
            <a:endParaRPr dirty="0"/>
          </a:p>
          <a:p>
            <a:pPr lvl="1" indent="-414432">
              <a:buSzPct val="100000"/>
            </a:pPr>
            <a:r>
              <a:rPr lang="en" dirty="0"/>
              <a:t>Any underage in 2024 can be applied to 2026, and 2025 to 2027.</a:t>
            </a:r>
            <a:endParaRPr dirty="0"/>
          </a:p>
          <a:p>
            <a:pPr indent="-445758">
              <a:buSzPct val="100000"/>
            </a:pPr>
            <a:r>
              <a:rPr lang="en" dirty="0"/>
              <a:t>No country is allowed to increase their catch by more than 165 mt.</a:t>
            </a:r>
            <a:endParaRPr dirty="0"/>
          </a:p>
          <a:p>
            <a:pPr indent="-445758">
              <a:buSzPct val="100000"/>
            </a:pPr>
            <a:r>
              <a:rPr lang="en" dirty="0"/>
              <a:t>If underage is less than 826 mt, then there will be decisions made about who gets that extra catch (not our problem)</a:t>
            </a:r>
            <a:endParaRPr dirty="0"/>
          </a:p>
          <a:p>
            <a:pPr indent="-445758">
              <a:buSzPct val="100000"/>
            </a:pPr>
            <a:r>
              <a:rPr lang="en" dirty="0"/>
              <a:t>Overage for each country is subtracted from their next year’s individual limit</a:t>
            </a:r>
            <a:endParaRPr dirty="0"/>
          </a:p>
        </p:txBody>
      </p:sp>
      <p:graphicFrame>
        <p:nvGraphicFramePr>
          <p:cNvPr id="56" name="Google Shape;56;p13"/>
          <p:cNvGraphicFramePr/>
          <p:nvPr>
            <p:extLst>
              <p:ext uri="{D42A27DB-BD31-4B8C-83A1-F6EECF244321}">
                <p14:modId xmlns:p14="http://schemas.microsoft.com/office/powerpoint/2010/main" val="2579184875"/>
              </p:ext>
            </p:extLst>
          </p:nvPr>
        </p:nvGraphicFramePr>
        <p:xfrm>
          <a:off x="8098400" y="1168771"/>
          <a:ext cx="3678000" cy="5608000"/>
        </p:xfrm>
        <a:graphic>
          <a:graphicData uri="http://schemas.openxmlformats.org/drawingml/2006/table">
            <a:tbl>
              <a:tblPr>
                <a:noFill/>
              </a:tblPr>
              <a:tblGrid>
                <a:gridCol w="1839000">
                  <a:extLst>
                    <a:ext uri="{9D8B030D-6E8A-4147-A177-3AD203B41FA5}">
                      <a16:colId xmlns:a16="http://schemas.microsoft.com/office/drawing/2014/main" val="20000"/>
                    </a:ext>
                  </a:extLst>
                </a:gridCol>
                <a:gridCol w="1839000">
                  <a:extLst>
                    <a:ext uri="{9D8B030D-6E8A-4147-A177-3AD203B41FA5}">
                      <a16:colId xmlns:a16="http://schemas.microsoft.com/office/drawing/2014/main" val="20001"/>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l" rtl="0">
                        <a:spcBef>
                          <a:spcPts val="0"/>
                        </a:spcBef>
                        <a:spcAft>
                          <a:spcPts val="0"/>
                        </a:spcAft>
                        <a:buNone/>
                      </a:pPr>
                      <a:r>
                        <a:rPr lang="en" sz="2400" b="1"/>
                        <a:t>Catch Limit</a:t>
                      </a:r>
                      <a:endParaRPr sz="2400" b="1"/>
                    </a:p>
                  </a:txBody>
                  <a:tcPr marL="121900" marR="121900" marT="121900" marB="121900"/>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l" rtl="0">
                        <a:spcBef>
                          <a:spcPts val="0"/>
                        </a:spcBef>
                        <a:spcAft>
                          <a:spcPts val="0"/>
                        </a:spcAft>
                        <a:buNone/>
                      </a:pPr>
                      <a:r>
                        <a:rPr lang="en" sz="2400"/>
                        <a:t>1454.4mt</a:t>
                      </a:r>
                      <a:endParaRPr sz="2400"/>
                    </a:p>
                  </a:txBody>
                  <a:tcPr marL="121900" marR="121900" marT="121900" marB="121900"/>
                </a:tc>
                <a:extLst>
                  <a:ext uri="{0D108BD9-81ED-4DB2-BD59-A6C34878D82A}">
                    <a16:rowId xmlns:a16="http://schemas.microsoft.com/office/drawing/2014/main" val="10001"/>
                  </a:ext>
                </a:extLst>
              </a:tr>
              <a:tr h="97532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a:t>358.4mt</a:t>
                      </a:r>
                      <a:endParaRPr sz="2400"/>
                    </a:p>
                  </a:txBody>
                  <a:tcPr marL="121900" marR="121900" marT="121900" marB="121900"/>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a:t>214.8mt</a:t>
                      </a:r>
                      <a:endParaRPr sz="2400"/>
                    </a:p>
                  </a:txBody>
                  <a:tcPr marL="121900" marR="121900" marT="121900" marB="121900"/>
                </a:tc>
                <a:extLst>
                  <a:ext uri="{0D108BD9-81ED-4DB2-BD59-A6C34878D82A}">
                    <a16:rowId xmlns:a16="http://schemas.microsoft.com/office/drawing/2014/main" val="10003"/>
                  </a:ext>
                </a:extLst>
              </a:tr>
              <a:tr h="97532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a:t>228.4mt</a:t>
                      </a:r>
                      <a:endParaRPr sz="2400"/>
                    </a:p>
                  </a:txBody>
                  <a:tcPr marL="121900" marR="121900" marT="121900" marB="121900"/>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a:t>
                      </a:r>
                      <a:endParaRPr sz="2400"/>
                    </a:p>
                  </a:txBody>
                  <a:tcPr marL="121900" marR="121900" marT="121900" marB="121900"/>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tc>
                <a:extLst>
                  <a:ext uri="{0D108BD9-81ED-4DB2-BD59-A6C34878D82A}">
                    <a16:rowId xmlns:a16="http://schemas.microsoft.com/office/drawing/2014/main" val="10007"/>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415600" y="0"/>
            <a:ext cx="11360800" cy="763600"/>
          </a:xfrm>
          <a:prstGeom prst="rect">
            <a:avLst/>
          </a:prstGeom>
        </p:spPr>
        <p:txBody>
          <a:bodyPr spcFirstLastPara="1" vert="horz" wrap="square" lIns="121900" tIns="121900" rIns="121900" bIns="121900" rtlCol="0" anchor="t" anchorCtr="0">
            <a:normAutofit/>
          </a:bodyPr>
          <a:lstStyle/>
          <a:p>
            <a:pPr algn="ctr"/>
            <a:r>
              <a:rPr lang="en" sz="3200" dirty="0"/>
              <a:t>Scenario 1. CMM 2024-06 Catch Limits</a:t>
            </a:r>
            <a:endParaRPr sz="3200" dirty="0"/>
          </a:p>
        </p:txBody>
      </p:sp>
      <p:graphicFrame>
        <p:nvGraphicFramePr>
          <p:cNvPr id="62" name="Google Shape;62;p14"/>
          <p:cNvGraphicFramePr/>
          <p:nvPr>
            <p:extLst>
              <p:ext uri="{D42A27DB-BD31-4B8C-83A1-F6EECF244321}">
                <p14:modId xmlns:p14="http://schemas.microsoft.com/office/powerpoint/2010/main" val="1750460927"/>
              </p:ext>
            </p:extLst>
          </p:nvPr>
        </p:nvGraphicFramePr>
        <p:xfrm>
          <a:off x="1665534" y="763600"/>
          <a:ext cx="8860932"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215233">
                  <a:extLst>
                    <a:ext uri="{9D8B030D-6E8A-4147-A177-3AD203B41FA5}">
                      <a16:colId xmlns:a16="http://schemas.microsoft.com/office/drawing/2014/main" val="20001"/>
                    </a:ext>
                  </a:extLst>
                </a:gridCol>
                <a:gridCol w="2215233">
                  <a:extLst>
                    <a:ext uri="{9D8B030D-6E8A-4147-A177-3AD203B41FA5}">
                      <a16:colId xmlns:a16="http://schemas.microsoft.com/office/drawing/2014/main" val="20002"/>
                    </a:ext>
                  </a:extLst>
                </a:gridCol>
                <a:gridCol w="2215233">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l" rtl="0">
                        <a:spcBef>
                          <a:spcPts val="0"/>
                        </a:spcBef>
                        <a:spcAft>
                          <a:spcPts val="0"/>
                        </a:spcAft>
                        <a:buNone/>
                      </a:pPr>
                      <a:r>
                        <a:rPr lang="en" sz="2400" b="1" dirty="0"/>
                        <a:t>2025</a:t>
                      </a:r>
                      <a:endParaRPr sz="2400" b="1" dirty="0"/>
                    </a:p>
                  </a:txBody>
                  <a:tcPr marL="121900" marR="121900" marT="121900" marB="121900"/>
                </a:tc>
                <a:tc>
                  <a:txBody>
                    <a:bodyPr/>
                    <a:lstStyle/>
                    <a:p>
                      <a:pPr marL="0" lvl="0" indent="0" algn="l"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a:t>2027</a:t>
                      </a:r>
                      <a:endParaRPr sz="2400" b="1"/>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l" rtl="0">
                        <a:spcBef>
                          <a:spcPts val="0"/>
                        </a:spcBef>
                        <a:spcAft>
                          <a:spcPts val="0"/>
                        </a:spcAft>
                        <a:buNone/>
                      </a:pPr>
                      <a:r>
                        <a:rPr lang="en" sz="2400" dirty="0"/>
                        <a:t>1454.4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60956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dirty="0"/>
                        <a:t>358.4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dirty="0"/>
                        <a:t>214.8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956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dirty="0"/>
                        <a:t>228.4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a:t>2400 mt</a:t>
                      </a:r>
                      <a:endParaRPr sz="2400" b="1"/>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b="1"/>
                        <a:t>2400 mt</a:t>
                      </a:r>
                      <a:endParaRPr sz="2400" b="1"/>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63" name="Google Shape;63;p14"/>
          <p:cNvSpPr txBox="1"/>
          <p:nvPr/>
        </p:nvSpPr>
        <p:spPr>
          <a:xfrm>
            <a:off x="108401" y="5640080"/>
            <a:ext cx="10418065" cy="1217920"/>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92400" y="0"/>
            <a:ext cx="12284400" cy="763600"/>
          </a:xfrm>
          <a:prstGeom prst="rect">
            <a:avLst/>
          </a:prstGeom>
        </p:spPr>
        <p:txBody>
          <a:bodyPr spcFirstLastPara="1" vert="horz" wrap="square" lIns="121900" tIns="121900" rIns="121900" bIns="121900" rtlCol="0" anchor="t" anchorCtr="0">
            <a:normAutofit/>
          </a:bodyPr>
          <a:lstStyle/>
          <a:p>
            <a:pPr algn="ctr"/>
            <a:r>
              <a:rPr lang="en" sz="3200" dirty="0"/>
              <a:t>Scenario 2. CMM 2024-06 Catch Limits with 2025 Carryover</a:t>
            </a:r>
            <a:endParaRPr sz="3200" dirty="0"/>
          </a:p>
        </p:txBody>
      </p:sp>
      <p:graphicFrame>
        <p:nvGraphicFramePr>
          <p:cNvPr id="69" name="Google Shape;69;p15"/>
          <p:cNvGraphicFramePr/>
          <p:nvPr>
            <p:extLst>
              <p:ext uri="{D42A27DB-BD31-4B8C-83A1-F6EECF244321}">
                <p14:modId xmlns:p14="http://schemas.microsoft.com/office/powerpoint/2010/main" val="1983984145"/>
              </p:ext>
            </p:extLst>
          </p:nvPr>
        </p:nvGraphicFramePr>
        <p:xfrm>
          <a:off x="1508976" y="646774"/>
          <a:ext cx="8860932"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802715">
                  <a:extLst>
                    <a:ext uri="{9D8B030D-6E8A-4147-A177-3AD203B41FA5}">
                      <a16:colId xmlns:a16="http://schemas.microsoft.com/office/drawing/2014/main" val="20001"/>
                    </a:ext>
                  </a:extLst>
                </a:gridCol>
                <a:gridCol w="1627751">
                  <a:extLst>
                    <a:ext uri="{9D8B030D-6E8A-4147-A177-3AD203B41FA5}">
                      <a16:colId xmlns:a16="http://schemas.microsoft.com/office/drawing/2014/main" val="20002"/>
                    </a:ext>
                  </a:extLst>
                </a:gridCol>
                <a:gridCol w="2215233">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l" rtl="0">
                        <a:spcBef>
                          <a:spcPts val="0"/>
                        </a:spcBef>
                        <a:spcAft>
                          <a:spcPts val="0"/>
                        </a:spcAft>
                        <a:buNone/>
                      </a:pPr>
                      <a:r>
                        <a:rPr lang="en" sz="2400" b="1"/>
                        <a:t>2025</a:t>
                      </a:r>
                      <a:endParaRPr sz="2400" b="1"/>
                    </a:p>
                  </a:txBody>
                  <a:tcPr marL="121900" marR="121900" marT="121900" marB="121900"/>
                </a:tc>
                <a:tc>
                  <a:txBody>
                    <a:bodyPr/>
                    <a:lstStyle/>
                    <a:p>
                      <a:pPr marL="0" lvl="0" indent="0" algn="l"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a:t>2027</a:t>
                      </a:r>
                      <a:endParaRPr sz="2400" b="1"/>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582976">
                <a:tc>
                  <a:txBody>
                    <a:bodyPr/>
                    <a:lstStyle/>
                    <a:p>
                      <a:pPr marL="0" lvl="0" indent="0" algn="l" rtl="0">
                        <a:spcBef>
                          <a:spcPts val="0"/>
                        </a:spcBef>
                        <a:spcAft>
                          <a:spcPts val="0"/>
                        </a:spcAft>
                        <a:buNone/>
                      </a:pPr>
                      <a:r>
                        <a:rPr lang="en" sz="2400" dirty="0"/>
                        <a:t>Japan</a:t>
                      </a:r>
                      <a:endParaRPr sz="2400" dirty="0"/>
                    </a:p>
                  </a:txBody>
                  <a:tcPr marL="121900" marR="121900" marT="121900" marB="121900"/>
                </a:tc>
                <a:tc>
                  <a:txBody>
                    <a:bodyPr/>
                    <a:lstStyle/>
                    <a:p>
                      <a:pPr marL="0" lvl="0" indent="0" algn="l"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572506">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a:t>358.4mt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593567">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a:t>214.8mt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4117">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a:t>228.4mt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583136">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a:t>3225 mt</a:t>
                      </a:r>
                      <a:endParaRPr sz="2400" b="1"/>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70" name="Google Shape;70;p15"/>
          <p:cNvSpPr txBox="1"/>
          <p:nvPr/>
        </p:nvSpPr>
        <p:spPr>
          <a:xfrm>
            <a:off x="-280869" y="5542035"/>
            <a:ext cx="11863600" cy="1255986"/>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a:p>
            <a:pPr marL="609585"/>
            <a:r>
              <a:rPr lang="en" sz="2400" dirty="0">
                <a:solidFill>
                  <a:schemeClr val="dk2"/>
                </a:solidFill>
              </a:rPr>
              <a:t>.</a:t>
            </a:r>
            <a:endParaRPr sz="2400" dirty="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0" y="147767"/>
            <a:ext cx="12192000" cy="763600"/>
          </a:xfrm>
          <a:prstGeom prst="rect">
            <a:avLst/>
          </a:prstGeom>
        </p:spPr>
        <p:txBody>
          <a:bodyPr spcFirstLastPara="1" vert="horz" wrap="square" lIns="121900" tIns="121900" rIns="121900" bIns="121900" rtlCol="0" anchor="t" anchorCtr="0">
            <a:noAutofit/>
          </a:bodyPr>
          <a:lstStyle/>
          <a:p>
            <a:pPr algn="ctr">
              <a:buSzPts val="990"/>
            </a:pPr>
            <a:r>
              <a:rPr lang="en" sz="3200" dirty="0"/>
              <a:t>Scenario 3. CMM 2024-06 Catch Limits and 2025-2026 Carryover</a:t>
            </a:r>
            <a:endParaRPr sz="3200" dirty="0"/>
          </a:p>
        </p:txBody>
      </p:sp>
      <p:graphicFrame>
        <p:nvGraphicFramePr>
          <p:cNvPr id="76" name="Google Shape;76;p16"/>
          <p:cNvGraphicFramePr/>
          <p:nvPr>
            <p:extLst>
              <p:ext uri="{D42A27DB-BD31-4B8C-83A1-F6EECF244321}">
                <p14:modId xmlns:p14="http://schemas.microsoft.com/office/powerpoint/2010/main" val="140272135"/>
              </p:ext>
            </p:extLst>
          </p:nvPr>
        </p:nvGraphicFramePr>
        <p:xfrm>
          <a:off x="1248473" y="846554"/>
          <a:ext cx="9695053" cy="4876480"/>
        </p:xfrm>
        <a:graphic>
          <a:graphicData uri="http://schemas.openxmlformats.org/drawingml/2006/table">
            <a:tbl>
              <a:tblPr>
                <a:noFill/>
              </a:tblPr>
              <a:tblGrid>
                <a:gridCol w="2423763">
                  <a:extLst>
                    <a:ext uri="{9D8B030D-6E8A-4147-A177-3AD203B41FA5}">
                      <a16:colId xmlns:a16="http://schemas.microsoft.com/office/drawing/2014/main" val="20000"/>
                    </a:ext>
                  </a:extLst>
                </a:gridCol>
                <a:gridCol w="2678270">
                  <a:extLst>
                    <a:ext uri="{9D8B030D-6E8A-4147-A177-3AD203B41FA5}">
                      <a16:colId xmlns:a16="http://schemas.microsoft.com/office/drawing/2014/main" val="20001"/>
                    </a:ext>
                  </a:extLst>
                </a:gridCol>
                <a:gridCol w="2911365">
                  <a:extLst>
                    <a:ext uri="{9D8B030D-6E8A-4147-A177-3AD203B41FA5}">
                      <a16:colId xmlns:a16="http://schemas.microsoft.com/office/drawing/2014/main" val="20002"/>
                    </a:ext>
                  </a:extLst>
                </a:gridCol>
                <a:gridCol w="1681655">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dirty="0"/>
                        <a:t>Country</a:t>
                      </a:r>
                      <a:endParaRPr sz="2400" b="1" dirty="0"/>
                    </a:p>
                  </a:txBody>
                  <a:tcPr marL="121900" marR="121900" marT="121900" marB="121900"/>
                </a:tc>
                <a:tc>
                  <a:txBody>
                    <a:bodyPr/>
                    <a:lstStyle/>
                    <a:p>
                      <a:pPr marL="0" lvl="0" indent="0" algn="l" rtl="0">
                        <a:spcBef>
                          <a:spcPts val="0"/>
                        </a:spcBef>
                        <a:spcAft>
                          <a:spcPts val="0"/>
                        </a:spcAft>
                        <a:buNone/>
                      </a:pPr>
                      <a:r>
                        <a:rPr lang="en" sz="2400" b="1"/>
                        <a:t>2025</a:t>
                      </a:r>
                      <a:endParaRPr sz="2400" b="1"/>
                    </a:p>
                  </a:txBody>
                  <a:tcPr marL="121900" marR="121900" marT="121900" marB="121900"/>
                </a:tc>
                <a:tc>
                  <a:txBody>
                    <a:bodyPr/>
                    <a:lstStyle/>
                    <a:p>
                      <a:pPr marL="0" lvl="0" indent="0" algn="l"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a:t>2027</a:t>
                      </a:r>
                      <a:endParaRPr sz="2400" b="1"/>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591652">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l"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1454.4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591692">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dirty="0"/>
                        <a:t>358.4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358.4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539181">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dirty="0"/>
                        <a:t>214.8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214.8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539221">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dirty="0"/>
                        <a:t>228.4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228.4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52875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68.8 mt + 165mt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dirty="0"/>
                        <a:t>3225 mt</a:t>
                      </a:r>
                      <a:endParaRPr sz="2400" b="1"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b="1"/>
                        <a:t>3225 mt</a:t>
                      </a:r>
                      <a:endParaRPr sz="2400" b="1"/>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77" name="Google Shape;77;p16"/>
          <p:cNvSpPr txBox="1"/>
          <p:nvPr/>
        </p:nvSpPr>
        <p:spPr>
          <a:xfrm>
            <a:off x="0" y="5658221"/>
            <a:ext cx="11863600" cy="1120951"/>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272FD61-77D9-4A4B-8691-D3A889E04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9662" y="714703"/>
            <a:ext cx="6322882" cy="6143297"/>
          </a:xfrm>
          <a:prstGeom prst="rect">
            <a:avLst/>
          </a:prstGeom>
        </p:spPr>
      </p:pic>
    </p:spTree>
    <p:extLst>
      <p:ext uri="{BB962C8B-B14F-4D97-AF65-F5344CB8AC3E}">
        <p14:creationId xmlns:p14="http://schemas.microsoft.com/office/powerpoint/2010/main" val="3638555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964F877C-5450-4B03-A382-DCF90E17D3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750" y="714703"/>
            <a:ext cx="6758748" cy="6143296"/>
          </a:xfrm>
          <a:prstGeom prst="rect">
            <a:avLst/>
          </a:prstGeom>
        </p:spPr>
      </p:pic>
    </p:spTree>
    <p:extLst>
      <p:ext uri="{BB962C8B-B14F-4D97-AF65-F5344CB8AC3E}">
        <p14:creationId xmlns:p14="http://schemas.microsoft.com/office/powerpoint/2010/main" val="1281724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5F185FD6-077A-4E3E-9C03-4DE1C23068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3875" y="714703"/>
            <a:ext cx="10166923" cy="6150200"/>
          </a:xfrm>
          <a:prstGeom prst="rect">
            <a:avLst/>
          </a:prstGeom>
        </p:spPr>
      </p:pic>
    </p:spTree>
    <p:extLst>
      <p:ext uri="{BB962C8B-B14F-4D97-AF65-F5344CB8AC3E}">
        <p14:creationId xmlns:p14="http://schemas.microsoft.com/office/powerpoint/2010/main" val="33722558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CB327DC8-7700-40E5-A1F5-36A722B751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4806" y="714705"/>
            <a:ext cx="8521153" cy="6143295"/>
          </a:xfrm>
          <a:prstGeom prst="rect">
            <a:avLst/>
          </a:prstGeom>
        </p:spPr>
      </p:pic>
    </p:spTree>
    <p:extLst>
      <p:ext uri="{BB962C8B-B14F-4D97-AF65-F5344CB8AC3E}">
        <p14:creationId xmlns:p14="http://schemas.microsoft.com/office/powerpoint/2010/main" val="11668511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001740E-17D6-4970-8F96-554ECCB121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865" y="714703"/>
            <a:ext cx="6303664" cy="6279189"/>
          </a:xfrm>
          <a:prstGeom prst="rect">
            <a:avLst/>
          </a:prstGeom>
        </p:spPr>
      </p:pic>
    </p:spTree>
    <p:extLst>
      <p:ext uri="{BB962C8B-B14F-4D97-AF65-F5344CB8AC3E}">
        <p14:creationId xmlns:p14="http://schemas.microsoft.com/office/powerpoint/2010/main" val="3078111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DFE642F4-A00F-488B-858F-C68E585A08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4693" y="851630"/>
            <a:ext cx="5100159" cy="6006369"/>
          </a:xfrm>
          <a:prstGeom prst="rect">
            <a:avLst/>
          </a:prstGeom>
        </p:spPr>
      </p:pic>
    </p:spTree>
    <p:extLst>
      <p:ext uri="{BB962C8B-B14F-4D97-AF65-F5344CB8AC3E}">
        <p14:creationId xmlns:p14="http://schemas.microsoft.com/office/powerpoint/2010/main" val="18256213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F4CF1743-6A4F-44AB-AA27-7F8FC70EA8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4158" y="631732"/>
            <a:ext cx="5071022" cy="6226268"/>
          </a:xfrm>
          <a:prstGeom prst="rect">
            <a:avLst/>
          </a:prstGeom>
        </p:spPr>
      </p:pic>
    </p:spTree>
    <p:extLst>
      <p:ext uri="{BB962C8B-B14F-4D97-AF65-F5344CB8AC3E}">
        <p14:creationId xmlns:p14="http://schemas.microsoft.com/office/powerpoint/2010/main" val="42278446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4350813D-D3BF-4403-B46F-5C5FE7FC08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19947" y="714704"/>
            <a:ext cx="4838010" cy="6143296"/>
          </a:xfrm>
          <a:prstGeom prst="rect">
            <a:avLst/>
          </a:prstGeom>
        </p:spPr>
      </p:pic>
    </p:spTree>
    <p:extLst>
      <p:ext uri="{BB962C8B-B14F-4D97-AF65-F5344CB8AC3E}">
        <p14:creationId xmlns:p14="http://schemas.microsoft.com/office/powerpoint/2010/main" val="32737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782A813-8266-453E-8425-4773C076CB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3070" y="714703"/>
            <a:ext cx="5913495" cy="6143297"/>
          </a:xfrm>
          <a:prstGeom prst="rect">
            <a:avLst/>
          </a:prstGeom>
        </p:spPr>
      </p:pic>
    </p:spTree>
    <p:extLst>
      <p:ext uri="{BB962C8B-B14F-4D97-AF65-F5344CB8AC3E}">
        <p14:creationId xmlns:p14="http://schemas.microsoft.com/office/powerpoint/2010/main" val="3955818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6B2DB9-54ED-462C-A1B1-2BD7E37489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703576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C33B37E-7AA2-4F63-892D-46C1E765F2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23275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EAF6C84-C43D-4F27-BB95-DB863F83DA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8936257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FBE467-6AB0-4D7E-AF0F-E46E4F3C30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7D72D1C0-92E5-48F7-A54B-6E1E9E11E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4585429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35E1EA-8C2F-4FCF-8597-6CF2F5CCA7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585162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B61416-53D2-4435-81BF-414A383D7A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614076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5E24EF-27B8-4188-81E7-E6B8221A19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4191796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5E1F26-34AF-44D5-91DA-85F5C1B30E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731947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DDF58E6-EE7C-42BC-AE1A-52657CAF9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2239129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B5EAE8A-BA13-473D-9DF5-51A8837E0D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849604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53F1BE-A9AF-4DDC-ABA9-161E46419B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337347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484C8B-A0DC-4C16-B17A-A3F43E03DF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944760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DA1954-73AB-4E02-B1E8-DB8932361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2011206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64529E-5EC9-4C06-8DA7-B6E3DAA7DC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7623446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7327EF-95B5-4D63-A7E4-A5C2894B3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9310932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FA62858-0229-49E5-AB6C-DBEAE1EFA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251376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DF0F8-D838-4750-BA3E-ABF7D0A602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482908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31745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BA505-0A1C-4571-887B-E2147BA111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4C1A08A5-0309-43EF-8BA8-7F6255B6EF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0387720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DC551A-32A5-4DD3-A153-EDFD9203CD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1952108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TotalTime>
  <Words>694</Words>
  <Application>Microsoft Office PowerPoint</Application>
  <PresentationFormat>Widescreen</PresentationFormat>
  <Paragraphs>143</Paragraphs>
  <Slides>34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Calibri Light</vt:lpstr>
      <vt:lpstr>Office Theme</vt:lpstr>
      <vt:lpstr>WCNPO Striped Marlin Rebuilding Scenarios</vt:lpstr>
      <vt:lpstr>CMM 2024-06 Revision to CMM 2010-01 for NP MLS</vt:lpstr>
      <vt:lpstr>Scenario 1. CMM 2024-06 Catch Limits</vt:lpstr>
      <vt:lpstr>Scenario 2. CMM 2024-06 Catch Limits with 2025 Carryover</vt:lpstr>
      <vt:lpstr>Scenario 3. CMM 2024-06 Catch Limits and 2025-2026 Carryover</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Brodziak</dc:creator>
  <cp:lastModifiedBy>Jon Brodziak</cp:lastModifiedBy>
  <cp:revision>41</cp:revision>
  <dcterms:created xsi:type="dcterms:W3CDTF">2025-03-12T03:22:33Z</dcterms:created>
  <dcterms:modified xsi:type="dcterms:W3CDTF">2025-03-18T03:20:29Z</dcterms:modified>
</cp:coreProperties>
</file>